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20"/>
  </p:notesMasterIdLst>
  <p:handoutMasterIdLst>
    <p:handoutMasterId r:id="rId121"/>
  </p:handoutMasterIdLst>
  <p:sldIdLst>
    <p:sldId id="1361" r:id="rId2"/>
    <p:sldId id="1204" r:id="rId3"/>
    <p:sldId id="904" r:id="rId4"/>
    <p:sldId id="1316" r:id="rId5"/>
    <p:sldId id="1317" r:id="rId6"/>
    <p:sldId id="1116" r:id="rId7"/>
    <p:sldId id="1118" r:id="rId8"/>
    <p:sldId id="1329" r:id="rId9"/>
    <p:sldId id="1318" r:id="rId10"/>
    <p:sldId id="1319" r:id="rId11"/>
    <p:sldId id="1349" r:id="rId12"/>
    <p:sldId id="1351" r:id="rId13"/>
    <p:sldId id="1324" r:id="rId14"/>
    <p:sldId id="1325" r:id="rId15"/>
    <p:sldId id="1321" r:id="rId16"/>
    <p:sldId id="1326" r:id="rId17"/>
    <p:sldId id="1332" r:id="rId18"/>
    <p:sldId id="1327" r:id="rId19"/>
    <p:sldId id="1328" r:id="rId20"/>
    <p:sldId id="912" r:id="rId21"/>
    <p:sldId id="913" r:id="rId22"/>
    <p:sldId id="1337" r:id="rId23"/>
    <p:sldId id="1333" r:id="rId24"/>
    <p:sldId id="1334" r:id="rId25"/>
    <p:sldId id="940" r:id="rId26"/>
    <p:sldId id="703" r:id="rId27"/>
    <p:sldId id="704" r:id="rId28"/>
    <p:sldId id="707" r:id="rId29"/>
    <p:sldId id="712" r:id="rId30"/>
    <p:sldId id="1173" r:id="rId31"/>
    <p:sldId id="660" r:id="rId32"/>
    <p:sldId id="612" r:id="rId33"/>
    <p:sldId id="616" r:id="rId34"/>
    <p:sldId id="617" r:id="rId35"/>
    <p:sldId id="618" r:id="rId36"/>
    <p:sldId id="619" r:id="rId37"/>
    <p:sldId id="620" r:id="rId38"/>
    <p:sldId id="770" r:id="rId39"/>
    <p:sldId id="947" r:id="rId40"/>
    <p:sldId id="624" r:id="rId41"/>
    <p:sldId id="625" r:id="rId42"/>
    <p:sldId id="1305" r:id="rId43"/>
    <p:sldId id="1346" r:id="rId44"/>
    <p:sldId id="1306" r:id="rId45"/>
    <p:sldId id="1310" r:id="rId46"/>
    <p:sldId id="1311" r:id="rId47"/>
    <p:sldId id="1015" r:id="rId48"/>
    <p:sldId id="1312" r:id="rId49"/>
    <p:sldId id="1313" r:id="rId50"/>
    <p:sldId id="1016" r:id="rId51"/>
    <p:sldId id="1314" r:id="rId52"/>
    <p:sldId id="1362" r:id="rId53"/>
    <p:sldId id="648" r:id="rId54"/>
    <p:sldId id="1363" r:id="rId55"/>
    <p:sldId id="1364" r:id="rId56"/>
    <p:sldId id="1365" r:id="rId57"/>
    <p:sldId id="1366" r:id="rId58"/>
    <p:sldId id="1017" r:id="rId59"/>
    <p:sldId id="1320" r:id="rId60"/>
    <p:sldId id="1019" r:id="rId61"/>
    <p:sldId id="1157" r:id="rId62"/>
    <p:sldId id="1158" r:id="rId63"/>
    <p:sldId id="1128" r:id="rId64"/>
    <p:sldId id="798" r:id="rId65"/>
    <p:sldId id="1322" r:id="rId66"/>
    <p:sldId id="1323" r:id="rId67"/>
    <p:sldId id="1037" r:id="rId68"/>
    <p:sldId id="1369" r:id="rId69"/>
    <p:sldId id="1370" r:id="rId70"/>
    <p:sldId id="1371" r:id="rId71"/>
    <p:sldId id="1330" r:id="rId72"/>
    <p:sldId id="1331" r:id="rId73"/>
    <p:sldId id="1376" r:id="rId74"/>
    <p:sldId id="1377" r:id="rId75"/>
    <p:sldId id="1338" r:id="rId76"/>
    <p:sldId id="1302" r:id="rId77"/>
    <p:sldId id="1339" r:id="rId78"/>
    <p:sldId id="1340" r:id="rId79"/>
    <p:sldId id="1341" r:id="rId80"/>
    <p:sldId id="1342" r:id="rId81"/>
    <p:sldId id="1343" r:id="rId82"/>
    <p:sldId id="1042" r:id="rId83"/>
    <p:sldId id="1344" r:id="rId84"/>
    <p:sldId id="1345" r:id="rId85"/>
    <p:sldId id="973" r:id="rId86"/>
    <p:sldId id="1378" r:id="rId87"/>
    <p:sldId id="1286" r:id="rId88"/>
    <p:sldId id="1294" r:id="rId89"/>
    <p:sldId id="1379" r:id="rId90"/>
    <p:sldId id="1380" r:id="rId91"/>
    <p:sldId id="1381" r:id="rId92"/>
    <p:sldId id="1382" r:id="rId93"/>
    <p:sldId id="1383" r:id="rId94"/>
    <p:sldId id="1384" r:id="rId95"/>
    <p:sldId id="1385" r:id="rId96"/>
    <p:sldId id="1291" r:id="rId97"/>
    <p:sldId id="1386" r:id="rId98"/>
    <p:sldId id="1002" r:id="rId99"/>
    <p:sldId id="1387" r:id="rId100"/>
    <p:sldId id="982" r:id="rId101"/>
    <p:sldId id="1388" r:id="rId102"/>
    <p:sldId id="1392" r:id="rId103"/>
    <p:sldId id="1393" r:id="rId104"/>
    <p:sldId id="503" r:id="rId105"/>
    <p:sldId id="504" r:id="rId106"/>
    <p:sldId id="505" r:id="rId107"/>
    <p:sldId id="743" r:id="rId108"/>
    <p:sldId id="744" r:id="rId109"/>
    <p:sldId id="745" r:id="rId110"/>
    <p:sldId id="710" r:id="rId111"/>
    <p:sldId id="813" r:id="rId112"/>
    <p:sldId id="517" r:id="rId113"/>
    <p:sldId id="793" r:id="rId114"/>
    <p:sldId id="795" r:id="rId115"/>
    <p:sldId id="518" r:id="rId116"/>
    <p:sldId id="519" r:id="rId117"/>
    <p:sldId id="521" r:id="rId118"/>
    <p:sldId id="523" r:id="rId119"/>
  </p:sldIdLst>
  <p:sldSz cx="9144000" cy="6858000" type="screen4x3"/>
  <p:notesSz cx="6811963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21" autoAdjust="0"/>
  </p:normalViewPr>
  <p:slideViewPr>
    <p:cSldViewPr>
      <p:cViewPr varScale="1">
        <p:scale>
          <a:sx n="120" d="100"/>
          <a:sy n="120" d="100"/>
        </p:scale>
        <p:origin x="142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1000"/>
    </p:cViewPr>
  </p:sorterViewPr>
  <p:notesViewPr>
    <p:cSldViewPr>
      <p:cViewPr varScale="1">
        <p:scale>
          <a:sx n="46" d="100"/>
          <a:sy n="46" d="100"/>
        </p:scale>
        <p:origin x="280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notesMaster" Target="notesMasters/notesMaster1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5186097-ED1F-5BF5-0AC6-8CD9F55925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2" tIns="45875" rIns="91752" bIns="45875" numCol="1" anchor="t" anchorCtr="0" compatLnSpc="1">
            <a:prstTxWarp prst="textNoShape">
              <a:avLst/>
            </a:prstTxWarp>
          </a:bodyPr>
          <a:lstStyle>
            <a:lvl1pPr defTabSz="917575" eaLnBrk="1" hangingPunct="1">
              <a:defRPr sz="11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5726A0E-CBDA-032B-7E3F-FD2535E0DBF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9213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2" tIns="45875" rIns="91752" bIns="45875" numCol="1" anchor="t" anchorCtr="0" compatLnSpc="1">
            <a:prstTxWarp prst="textNoShape">
              <a:avLst/>
            </a:prstTxWarp>
          </a:bodyPr>
          <a:lstStyle>
            <a:lvl1pPr algn="r" defTabSz="917575" eaLnBrk="1" hangingPunct="1">
              <a:defRPr sz="11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AFB19341-C327-D0D2-A20A-9D42562BC1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5625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2" tIns="45875" rIns="91752" bIns="45875" numCol="1" anchor="b" anchorCtr="0" compatLnSpc="1">
            <a:prstTxWarp prst="textNoShape">
              <a:avLst/>
            </a:prstTxWarp>
          </a:bodyPr>
          <a:lstStyle>
            <a:lvl1pPr defTabSz="917575" eaLnBrk="1" hangingPunct="1">
              <a:defRPr sz="11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2AADF39A-8BA1-0CD0-EF19-638189E125C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9213" y="9445625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2" tIns="45875" rIns="91752" bIns="45875" numCol="1" anchor="b" anchorCtr="0" compatLnSpc="1">
            <a:prstTxWarp prst="textNoShape">
              <a:avLst/>
            </a:prstTxWarp>
          </a:bodyPr>
          <a:lstStyle>
            <a:lvl1pPr algn="r" defTabSz="917575" eaLnBrk="1" hangingPunct="1">
              <a:defRPr sz="11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D3A2F46-43E3-E040-85F4-749ECEC76F4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6B124765-03D6-774F-BA75-A85F3C387B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52931" name="Rectangle 3">
            <a:extLst>
              <a:ext uri="{FF2B5EF4-FFF2-40B4-BE49-F238E27FC236}">
                <a16:creationId xmlns:a16="http://schemas.microsoft.com/office/drawing/2014/main" id="{80823882-E44D-FDE7-CD1A-0594642E6E7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895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7357C50F-EB45-382F-C4CC-BC4DC6898FE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62000"/>
            <a:ext cx="4978400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2933" name="Rectangle 5">
            <a:extLst>
              <a:ext uri="{FF2B5EF4-FFF2-40B4-BE49-F238E27FC236}">
                <a16:creationId xmlns:a16="http://schemas.microsoft.com/office/drawing/2014/main" id="{533F6128-AD07-B258-4BAE-3E02C556C46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3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52934" name="Rectangle 6">
            <a:extLst>
              <a:ext uri="{FF2B5EF4-FFF2-40B4-BE49-F238E27FC236}">
                <a16:creationId xmlns:a16="http://schemas.microsoft.com/office/drawing/2014/main" id="{4E4080BC-DD77-2B0A-421E-B4645CE96CF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52935" name="Rectangle 7">
            <a:extLst>
              <a:ext uri="{FF2B5EF4-FFF2-40B4-BE49-F238E27FC236}">
                <a16:creationId xmlns:a16="http://schemas.microsoft.com/office/drawing/2014/main" id="{5724D137-5100-5BE6-AAE1-8133D22359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8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056BD681-A0F0-C241-9946-9532E7960EB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5269E57A-56AE-F209-66B0-E3A133463B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CAC449B-EC47-2C48-AE75-B43ED8C60C1D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60EC1769-72A5-9E9D-E712-36BFE7FF7A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718D266-8859-6E6D-0660-A87A52C224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55F04C58-29A2-D87C-72D4-0417C2B0CB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A879E6A-9580-D743-8DA2-29024CE6BD2A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B9A7D700-26F2-DD64-DD36-7C8765E545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14E4A91-ED8B-EA90-7D38-BADD6A359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6952F1DC-7140-455B-D32F-6D9160CA65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AF10BB6-84D6-C143-8F0B-D45D4AFF19BF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2B320641-6674-15FA-50DC-91DF8F29F5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DBE6522-5EB6-DC25-DAEB-5C1CBD8A46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366715B4-C116-7486-7B01-9BE54DA3A1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25F3A17-BAA3-D543-AA28-C0050623FF38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AF0615D2-6C14-3398-DAC8-A2B2D2A8DF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5936AC4-AAB6-23B2-8292-E2894E03F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5916F1BA-221E-1148-80F0-4C941F9801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CF01387-2A5C-664B-93DB-ADEA706F8FD1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8AE7DE7A-6F8B-19A1-5A01-796CFAC824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7DCDCBB-2648-D20C-557F-8738F487B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25A8A4B9-66C2-D540-6CFC-11446EDB34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F28907E-30B1-CD40-ABC2-B78BD1A8B86A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78C9231A-C35D-34F8-064B-F8DB0E50FB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26BD7AA-D9E1-A91A-133F-310CCB8D9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E7BD4E7-0E70-6770-F985-4192C254B4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3FA1F9A-2BEB-D14D-8506-D4DB8BF12CE0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B2B5F5DE-8BDB-252B-E9CD-631BADADD5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61B91A43-8F15-89CB-A4C5-DB468FBF49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7F288C27-ABB6-D645-6362-4F1BF57F58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C0684C8-2DA8-204A-A819-0BAA3B3F3481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10243" name="Rectangle 1026">
            <a:extLst>
              <a:ext uri="{FF2B5EF4-FFF2-40B4-BE49-F238E27FC236}">
                <a16:creationId xmlns:a16="http://schemas.microsoft.com/office/drawing/2014/main" id="{F57F2182-72B6-1620-21D3-6D5EFE929B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10244" name="Rectangle 1027">
            <a:extLst>
              <a:ext uri="{FF2B5EF4-FFF2-40B4-BE49-F238E27FC236}">
                <a16:creationId xmlns:a16="http://schemas.microsoft.com/office/drawing/2014/main" id="{EA80461A-CF50-E4CD-8BE8-5AA69E588A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5868AAF6-F123-E4AD-87D5-93C282F142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7DA7E35-D9D0-8440-AE22-0E32E28A3A18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12291" name="Rectangle 2050">
            <a:extLst>
              <a:ext uri="{FF2B5EF4-FFF2-40B4-BE49-F238E27FC236}">
                <a16:creationId xmlns:a16="http://schemas.microsoft.com/office/drawing/2014/main" id="{28547AC1-554D-DF03-140E-50E1354537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12292" name="Rectangle 2051">
            <a:extLst>
              <a:ext uri="{FF2B5EF4-FFF2-40B4-BE49-F238E27FC236}">
                <a16:creationId xmlns:a16="http://schemas.microsoft.com/office/drawing/2014/main" id="{F7B95DF6-7E7C-26E2-5191-EC12D1736C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AE5DC129-6B77-B549-FC88-1D827380E7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8255529-FF7B-364F-A129-E979C02057A8}" type="slidenum">
              <a:rPr lang="en-US" altLang="en-US" smtClean="0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E981AC1-A140-91FA-E9C9-31890B5BAF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EA47AE7-39CD-401F-821E-3ACD517DC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40BC1336-B64E-4B05-187A-617865C614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7EC7BEF-CDC5-6449-BC7B-D597755F1D28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CCAD0A9F-A932-AE2C-6A23-08F16CF3AB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8928193E-CF4C-3805-29DF-21D24C1A9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048E7723-F97F-88F6-1B62-87E56F83A6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245896-E497-424D-90CE-DAF96D98523E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B4EEBF2-299B-D56B-9A6A-6E80C2F3E9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B1A756F7-5233-9207-1135-6F26D0C36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1496953B-6F91-FA14-9FDD-5CC71FAE73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7CA9411-28B3-644C-B8B3-9687BABBD89E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383606BC-6C7B-6F6B-11EE-EFAE6CA84A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4135404-66E2-B621-5F07-8569DFBB4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C92BD8E8-448C-E370-EEC6-2B3333505F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7FB6559-C663-5B4A-B03B-20ED01EC61EF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5DF50FB2-EADA-3CC5-3E09-7FF9C22B71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4FD90298-C2DA-51FB-A74E-976ED604D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53C82D7B-7B3E-4E44-CAD2-B7D59F540F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81976BE-0682-B84D-ABC5-8B5CCA885D46}" type="slidenum">
              <a:rPr lang="en-US" altLang="en-US" smtClean="0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EC758579-84A9-3759-3950-B1D35CB85B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A25361F-92E8-5A01-C6FA-10E166F33B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1EF00150-0903-D573-2DF9-367F3CEB29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D0ABE97-EC82-0542-A50C-52D5FA88C3DD}" type="slidenum">
              <a:rPr lang="en-US" altLang="en-US" smtClean="0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F46C21E4-C5D3-287A-9C4B-D5A4E2FFC9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1837A50-793F-8F91-7FF0-D7BC920BB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5FD5E6C2-142A-3777-E3BE-633B09D560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BD36DC0-2903-7946-A956-DB3D7E40465D}" type="slidenum">
              <a:rPr lang="en-US" altLang="en-US" smtClean="0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1FE4D596-56E6-82FA-C8D5-1877FA6C4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065B3158-E9C6-3620-7235-982BA1BE3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2845AD7E-C774-5527-6890-9205657B55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0498F9C-568E-6447-B5FA-BCEA019C1E12}" type="slidenum">
              <a:rPr lang="en-US" altLang="en-US" smtClean="0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82A0359-2B17-2FEF-E84F-9190096F90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FBA29018-04F3-81FE-35F2-10AAFA3172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C3DECBAA-B9A0-C632-DAB6-0340BB4E2B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B23337A-11E1-C14E-AD3D-25757C87DBD1}" type="slidenum">
              <a:rPr lang="en-US" altLang="en-US" smtClean="0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EAB7C4A1-B353-7A62-1217-3DE7FB543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85DC91BB-F69A-E18F-94C7-D26EF1F278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EF59F052-6337-72FF-9590-31B814854F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ABD977D-B5F2-BC41-B15D-0B588564D1A7}" type="slidenum">
              <a:rPr lang="en-US" altLang="en-US" smtClean="0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451E16AA-236E-73CF-E259-17B9C00B58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1CBEC788-7659-6FF1-EC9B-E0063F871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9291C8E-6D0B-B2E5-53C7-A526762CA4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4A6C5C9-D77F-884D-BDE0-361DA9463E53}" type="slidenum">
              <a:rPr lang="en-US" altLang="en-US" smtClean="0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8D452CE9-CB11-2D0A-D7F2-81E505A9F4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5ACCC383-5605-650D-F8C8-83A54F5B66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08D79E12-AB71-A8AB-C35C-BB370F2665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32AFADA-8F4E-2C48-8169-310523110302}" type="slidenum">
              <a:rPr lang="en-US" altLang="en-US" smtClean="0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68C10318-6FFA-7AFC-BF28-4E77F7AF2E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3550" y="4849813"/>
            <a:ext cx="5464175" cy="3863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altLang="en-US">
              <a:solidFill>
                <a:srgbClr val="6666FF"/>
              </a:solidFill>
            </a:endParaRP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4D802DDD-F31B-51BE-5F3D-6D3B4BF036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69863"/>
            <a:ext cx="6038850" cy="4529137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F2F78B9D-E6A7-C96E-92AE-12A64A9E01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840F965-F4C4-4E4E-8202-D6AC1F9A4440}" type="slidenum">
              <a:rPr lang="en-US" altLang="en-US" smtClean="0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8830CAC-0521-3B17-0528-14D15D5F4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176707CC-0D83-A79B-E132-5646F084FF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527D2BDD-AB9B-2D24-B93B-F9E830DE0B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D61249E-063A-2047-957C-972CD3FAE0A0}" type="slidenum">
              <a:rPr lang="en-US" altLang="en-US" smtClean="0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56D811B4-B3CF-48B9-4733-96A1918E53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FA90F36A-43B5-52E3-8A5D-02C4B5DC8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B8EACE9E-CD47-BCB4-94ED-7615143133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4D6501C-5154-BD44-BF25-E9D4FF77008B}" type="slidenum">
              <a:rPr lang="en-US" altLang="en-US" smtClean="0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5F906ED7-F3DE-F2D0-7258-0AD60CFF40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F4D28BA-006D-A8A4-6811-7AD46BD097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D34F9A45-B196-2A83-BECA-292C84A957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211D17C-6102-F54D-B5BC-10747EC86FC7}" type="slidenum">
              <a:rPr lang="en-US" altLang="en-US" smtClean="0"/>
              <a:pPr>
                <a:spcBef>
                  <a:spcPct val="0"/>
                </a:spcBef>
              </a:pPr>
              <a:t>52</a:t>
            </a:fld>
            <a:endParaRPr lang="en-US" altLang="en-US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0F2DDDF8-165F-4DA6-0F2B-3ADEDFA802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6F45B5F7-7CAC-A2B5-F9A0-C1501B4667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E4F06246-5252-A965-D164-1B32D2DAF5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44C441A-7D46-3241-8D76-50B6352BF75B}" type="slidenum">
              <a:rPr lang="en-US" altLang="en-US" smtClean="0"/>
              <a:pPr>
                <a:spcBef>
                  <a:spcPct val="0"/>
                </a:spcBef>
              </a:pPr>
              <a:t>53</a:t>
            </a:fld>
            <a:endParaRPr lang="en-US" altLang="en-US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5EFF5FDD-DD00-AEFD-B61B-7CD8001E10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A12AFFE6-0BB0-197D-51F6-F0E5372FE9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DA338225-DA6B-3CA9-DF82-2023C371A2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DBEEF36-1DC1-754E-877E-8081E8799430}" type="slidenum">
              <a:rPr lang="en-US" altLang="en-US" smtClean="0"/>
              <a:pPr>
                <a:spcBef>
                  <a:spcPct val="0"/>
                </a:spcBef>
              </a:pPr>
              <a:t>54</a:t>
            </a:fld>
            <a:endParaRPr lang="en-US" altLang="en-US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A64ABC2B-F7A1-2973-0ED0-E2ED742570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18C593FC-B544-5399-4AC6-E957C408C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F8421275-2502-E3AD-F9EC-89305B59C0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77EC74A-5D23-3349-A985-D46FEB180233}" type="slidenum">
              <a:rPr lang="en-US" altLang="en-US" smtClean="0"/>
              <a:pPr>
                <a:spcBef>
                  <a:spcPct val="0"/>
                </a:spcBef>
              </a:pPr>
              <a:t>63</a:t>
            </a:fld>
            <a:endParaRPr lang="en-US" altLang="en-US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564182BF-9627-D0D9-F7DD-86C4051137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EDC7A630-DB66-DFBB-65FF-34AA987E1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0814F2B0-851F-C79A-7385-B8E6D36C1F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122F4B8-1A9B-4B47-A985-B15E45C4BFBB}" type="slidenum">
              <a:rPr lang="en-US" altLang="en-US" smtClean="0"/>
              <a:pPr>
                <a:spcBef>
                  <a:spcPct val="0"/>
                </a:spcBef>
              </a:pPr>
              <a:t>65</a:t>
            </a:fld>
            <a:endParaRPr lang="en-US" altLang="en-US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91964912-DC78-F0A8-185E-E73DADF74D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A3657ABF-A958-1FD2-D676-2607FF885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3F09B9EC-42DD-CEF0-C6A3-EE252E7B84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ECF71C3-5350-3A42-A329-91A4DB4A09AF}" type="slidenum">
              <a:rPr lang="en-US" altLang="en-US" smtClean="0"/>
              <a:pPr>
                <a:spcBef>
                  <a:spcPct val="0"/>
                </a:spcBef>
              </a:pPr>
              <a:t>85</a:t>
            </a:fld>
            <a:endParaRPr lang="en-US" altLang="en-US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86D4BAE7-1306-8D4B-3BFF-A265DBEAAD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FD7EC1D-2A36-1389-2F28-E1206E7A5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729ADA5E-2D85-D2E5-9EC0-3E5A454C99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4FA64EF-41E0-D04F-89A0-2E98E8D4FF07}" type="slidenum">
              <a:rPr lang="en-US" altLang="en-US" smtClean="0"/>
              <a:pPr>
                <a:spcBef>
                  <a:spcPct val="0"/>
                </a:spcBef>
              </a:pPr>
              <a:t>104</a:t>
            </a:fld>
            <a:endParaRPr lang="en-US" altLang="en-US"/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01B292B6-73B4-019B-9F76-EEC2BB3048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FC9551A4-BEB8-EE88-F9DB-6F139BB5D1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FB7E3F2F-94FB-6B9F-42BE-3B8C82B617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C67557-0A6C-C944-98B3-BF914F6E5B9B}" type="slidenum">
              <a:rPr lang="en-US" altLang="en-US" smtClean="0"/>
              <a:pPr>
                <a:spcBef>
                  <a:spcPct val="0"/>
                </a:spcBef>
              </a:pPr>
              <a:t>106</a:t>
            </a:fld>
            <a:endParaRPr lang="en-US" altLang="en-US"/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6E2FE640-8BC8-885E-549C-A855434E01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66D80822-E7AF-F950-6356-4317C2850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28827AC5-9F96-9E38-16AA-9826BBF96A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5A7E0DD-D6B8-5B43-8B23-7A66D74FEE0F}" type="slidenum">
              <a:rPr lang="en-US" altLang="en-US" smtClean="0"/>
              <a:pPr>
                <a:spcBef>
                  <a:spcPct val="0"/>
                </a:spcBef>
              </a:pPr>
              <a:t>110</a:t>
            </a:fld>
            <a:endParaRPr lang="en-US" altLang="en-US"/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085281EF-DE66-8095-2DCD-C361FA5FA0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975FA56A-8E4D-47D5-1A3C-604429D844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6D185E3F-3B72-E754-92B4-D190BC32E5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89EC628-663E-064C-B1B1-CBF39140AA85}" type="slidenum">
              <a:rPr lang="en-US" altLang="en-US" smtClean="0"/>
              <a:pPr>
                <a:spcBef>
                  <a:spcPct val="0"/>
                </a:spcBef>
              </a:pPr>
              <a:t>113</a:t>
            </a:fld>
            <a:endParaRPr lang="en-US" altLang="en-US"/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7058D4E0-9CAF-748A-E336-49EF93C972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D8702BAC-92FA-6BAF-2BF7-50A9F1587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CEA7D071-6549-A208-26DA-66BF126FC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1488804-D033-6746-9564-6F91E98A876A}" type="slidenum">
              <a:rPr lang="en-US" altLang="en-US" smtClean="0"/>
              <a:pPr>
                <a:spcBef>
                  <a:spcPct val="0"/>
                </a:spcBef>
              </a:pPr>
              <a:t>114</a:t>
            </a:fld>
            <a:endParaRPr lang="en-US" altLang="en-US"/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6B92A5ED-FE04-36FC-1BE5-9CA66F7B57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D4EFE372-DC58-09FF-1068-CB6BEB8529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>
              <a:buFontTx/>
              <a:buAutoNum type="arabicPeriod"/>
            </a:pPr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4761E94C-0218-070C-4D1E-98040112B1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4F16BF4-B4DB-6C44-B508-C95E50478874}" type="slidenum">
              <a:rPr lang="en-US" altLang="en-US" smtClean="0"/>
              <a:pPr>
                <a:spcBef>
                  <a:spcPct val="0"/>
                </a:spcBef>
              </a:pPr>
              <a:t>116</a:t>
            </a:fld>
            <a:endParaRPr lang="en-US" altLang="en-US"/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6BE2E843-EEA7-E3E7-BA78-E2C03F7366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F9AE0C20-F8EC-56BB-3ABB-556ED64445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243D28-2141-CD60-40AF-1723AC9D76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F257B9-8E87-B628-1B1C-E131C70CF3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57DF48-022D-D4E0-A8B9-5A9DD6D54F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03FD1-730C-C04F-90ED-937C41D0AC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4038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 baseline="0">
                <a:latin typeface="Arial" pitchFamily="34" charset="0"/>
              </a:defRPr>
            </a:lvl1pPr>
            <a:lvl2pPr>
              <a:defRPr sz="1700" baseline="0">
                <a:latin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C7EAF1-E875-AAC1-B258-7005F9AF00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1E52AB-4CF6-4ACA-676D-8323E5521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EB8564-4166-0D72-B521-FAFCFE5943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A55BAA-39E3-294D-867C-07F524C317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2294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A34CB-EA2B-68F5-D200-F9600B0240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CCAD7C-C82C-66DB-579B-4E8203FDE4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FF3DCE-FB16-1C87-6EC8-F9750C50C0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AA271-850D-3045-BC6C-6B4DB0665C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5953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81075"/>
            <a:ext cx="4038600" cy="5145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038600" cy="5145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81F486-D941-075E-AE9F-C72068DAB7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23171-4115-1F4C-19C7-4464067D26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3F9188-0626-E105-5642-BE6D5BCCF0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7AE620-EB4C-A24A-BA7E-087E33D3A7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3014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4A3384C-71C1-4813-F8D1-A3B13775CC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0AA17E9-3659-9F15-EA48-5F9EB01514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3DE4609-297A-BB80-B3EA-FFEA6E3FAF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C3EA18-89D9-9746-8C67-7804CDD13A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237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628B794-BE63-B473-000C-5454FC426B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7D978AE-290A-6BDE-7AF6-CBDD74B8EC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AB3B7A-33B8-E6D0-2F48-6C0528CDBC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2CE12-74AA-B248-9842-AA52777221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6493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1F3F341-178B-93FD-01D0-1E670736B1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F1141EF-13CF-7F22-359D-6B763D9E6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6ABACD1-5FE8-BDB4-457E-88B3928C6E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4E8AF-6C55-B342-B43A-E99B64606D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54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9A9CE7-F1C9-73A4-5F57-F5C081D309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1BD1B5-FF0A-DBB9-DF6F-7F275A99DA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38936A-9FCF-8233-4374-A3F0510821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475E5F-B68D-8744-91A3-B4FFF0ADB9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685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A9E383-B524-2EDC-EEA1-7381DC16BB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C904B5-312B-F862-ACC9-5A37612236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D82247-2F84-1FAE-AF3F-BAC920DF5C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86FE1-5B6C-4845-BEE4-C5B58C0F0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40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1EFD97-1148-53DF-CB52-78247D603A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374933-38D7-39AD-5B53-1D6CE69DC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0224AA-FD9B-3BB6-4AA8-27987A74FA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0B2F8A-77E3-574D-9F14-8A0227ECCA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177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3EB775-2083-9592-D7A0-94CB700E92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FDE3C1-0E39-1108-DEA7-C7226EFDEC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690008-7ED7-E4AE-79B6-B13286C868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54B416-9E96-AA4E-94EB-A6066202C5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600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D9730-E454-90D8-CEA6-6EF675E7A6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 Design - Sudarsun 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18A6B-CB2F-D4A1-4284-DE687BE79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10F1C1-F802-9742-AF10-2725172784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5BCFA-ED68-CB7F-5187-352614D6E8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0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9A0ED19-5681-F013-7050-A9268E01C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DFC1CCE-DBC5-7F26-C023-5C0EC6A195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81075"/>
            <a:ext cx="8229600" cy="514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752644" name="Rectangle 4">
            <a:extLst>
              <a:ext uri="{FF2B5EF4-FFF2-40B4-BE49-F238E27FC236}">
                <a16:creationId xmlns:a16="http://schemas.microsoft.com/office/drawing/2014/main" id="{31744176-EAFC-4319-2BFD-D160E0B84C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2645" name="Rectangle 5">
            <a:extLst>
              <a:ext uri="{FF2B5EF4-FFF2-40B4-BE49-F238E27FC236}">
                <a16:creationId xmlns:a16="http://schemas.microsoft.com/office/drawing/2014/main" id="{418B53B0-87DD-B824-D0EC-DE0DB10554C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2646" name="Rectangle 6">
            <a:extLst>
              <a:ext uri="{FF2B5EF4-FFF2-40B4-BE49-F238E27FC236}">
                <a16:creationId xmlns:a16="http://schemas.microsoft.com/office/drawing/2014/main" id="{528F7E98-B0D0-2892-EF0B-7327E6D71DF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9836EDFE-847A-2849-85C9-7685C2DFBF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  <p:sldLayoutId id="214748409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AE984981-5CC6-8D12-54CA-646819E7AAA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Java Programming</a:t>
            </a:r>
            <a:endParaRPr lang="en-IN" altLang="en-US"/>
          </a:p>
        </p:txBody>
      </p:sp>
      <p:sp>
        <p:nvSpPr>
          <p:cNvPr id="16386" name="Subtitle 2">
            <a:extLst>
              <a:ext uri="{FF2B5EF4-FFF2-40B4-BE49-F238E27FC236}">
                <a16:creationId xmlns:a16="http://schemas.microsoft.com/office/drawing/2014/main" id="{624DAB1E-AD0B-EADD-8D14-4DB0C28521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FEEF505E-810F-3932-C971-DD04952A8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557213"/>
          </a:xfrm>
        </p:spPr>
        <p:txBody>
          <a:bodyPr/>
          <a:lstStyle/>
          <a:p>
            <a:br>
              <a:rPr lang="en-US" altLang="en-US"/>
            </a:br>
            <a:r>
              <a:rPr lang="en-US" altLang="en-US"/>
              <a:t>K.Srivatsan  - vatsank@gmail.com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894E28F-744E-0502-1BF2-03A9FF6FD2B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612775" y="785813"/>
            <a:ext cx="8153400" cy="5429250"/>
          </a:xfrm>
        </p:spPr>
        <p:txBody>
          <a:bodyPr/>
          <a:lstStyle/>
          <a:p>
            <a:r>
              <a:rPr lang="en-US" altLang="en-US" sz="1800"/>
              <a:t>IT Trainer Since 1991</a:t>
            </a:r>
          </a:p>
          <a:p>
            <a:r>
              <a:rPr lang="en-US" altLang="en-US" sz="1800"/>
              <a:t>Java Training Since 2004 </a:t>
            </a:r>
          </a:p>
          <a:p>
            <a:r>
              <a:rPr lang="en-US" altLang="en-US" sz="1800"/>
              <a:t>About 60+ Corporate Clients </a:t>
            </a:r>
          </a:p>
          <a:p>
            <a:endParaRPr lang="en-US" altLang="en-US"/>
          </a:p>
          <a:p>
            <a:endParaRPr lang="en-US" altLang="en-US"/>
          </a:p>
        </p:txBody>
      </p:sp>
      <p:graphicFrame>
        <p:nvGraphicFramePr>
          <p:cNvPr id="18435" name="Object 2">
            <a:extLst>
              <a:ext uri="{FF2B5EF4-FFF2-40B4-BE49-F238E27FC236}">
                <a16:creationId xmlns:a16="http://schemas.microsoft.com/office/drawing/2014/main" id="{44EA2AE3-E057-FB97-E850-0F3A3C72C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9013" y="2051050"/>
          <a:ext cx="7116762" cy="427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540500" imgH="4356100" progId="Word.Document.8">
                  <p:embed/>
                </p:oleObj>
              </mc:Choice>
              <mc:Fallback>
                <p:oleObj name="Document" r:id="rId2" imgW="6540500" imgH="43561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2051050"/>
                        <a:ext cx="7116762" cy="42735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5">
            <a:extLst>
              <a:ext uri="{FF2B5EF4-FFF2-40B4-BE49-F238E27FC236}">
                <a16:creationId xmlns:a16="http://schemas.microsoft.com/office/drawing/2014/main" id="{9E1A3E6C-D371-F998-44BC-B1003D826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2DAB27-2EFA-CC43-BAB6-9721D3C8C3C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61B4046A-65A9-7D9A-5A11-8D4F74219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History of Java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805654AC-E5DB-EC36-E2E8-2AD9DCB36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153400" cy="4876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444444"/>
                </a:solidFill>
              </a:rPr>
              <a:t>A </a:t>
            </a:r>
            <a:r>
              <a:rPr lang="en-US" altLang="en-US" i="1" dirty="0">
                <a:solidFill>
                  <a:srgbClr val="3333FF"/>
                </a:solidFill>
              </a:rPr>
              <a:t>General-purpose</a:t>
            </a:r>
            <a:r>
              <a:rPr lang="en-US" altLang="en-US" dirty="0">
                <a:solidFill>
                  <a:srgbClr val="444444"/>
                </a:solidFill>
              </a:rPr>
              <a:t> and </a:t>
            </a:r>
            <a:r>
              <a:rPr lang="en-US" altLang="en-US" i="1" dirty="0">
                <a:solidFill>
                  <a:srgbClr val="C00000"/>
                </a:solidFill>
              </a:rPr>
              <a:t>Object-Oriented Programming </a:t>
            </a:r>
            <a:r>
              <a:rPr lang="en-US" altLang="en-US" dirty="0">
                <a:solidFill>
                  <a:srgbClr val="444444"/>
                </a:solidFill>
              </a:rPr>
              <a:t>language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rgbClr val="202122"/>
                </a:solidFill>
              </a:rPr>
              <a:t>Originally designed for interactive television,</a:t>
            </a:r>
            <a:endParaRPr lang="en-US" dirty="0">
              <a:solidFill>
                <a:srgbClr val="202122"/>
              </a:solidFill>
            </a:endParaRP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202122"/>
                </a:solidFill>
              </a:rPr>
              <a:t>Developed in the year 1991 at Sun Microsystems</a:t>
            </a:r>
          </a:p>
          <a:p>
            <a:pPr lvl="1" eaLnBrk="1" hangingPunct="1">
              <a:defRPr/>
            </a:pPr>
            <a:r>
              <a:rPr lang="en-US" altLang="en-US" sz="2000" dirty="0"/>
              <a:t>Initially called as </a:t>
            </a:r>
            <a:r>
              <a:rPr lang="en-US" altLang="en-US" sz="2000" b="1" dirty="0">
                <a:solidFill>
                  <a:srgbClr val="7030A0"/>
                </a:solidFill>
              </a:rPr>
              <a:t>Oak</a:t>
            </a:r>
          </a:p>
          <a:p>
            <a:pPr lvl="1" eaLnBrk="1" hangingPunct="1">
              <a:defRPr/>
            </a:pPr>
            <a:endParaRPr lang="en-US" altLang="en-US" sz="2000" dirty="0">
              <a:solidFill>
                <a:srgbClr val="202122"/>
              </a:solidFill>
            </a:endParaRPr>
          </a:p>
          <a:p>
            <a:pPr lvl="2" eaLnBrk="1" hangingPunct="1">
              <a:defRPr/>
            </a:pPr>
            <a:endParaRPr lang="en-US" altLang="en-US" dirty="0">
              <a:solidFill>
                <a:srgbClr val="444444"/>
              </a:solidFill>
            </a:endParaRPr>
          </a:p>
          <a:p>
            <a:pPr>
              <a:defRPr/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Platform-independent language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2000" dirty="0">
                <a:solidFill>
                  <a:srgbClr val="444444"/>
                </a:solidFill>
              </a:rPr>
              <a:t>No limitation to any hardware or operating system. 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2000" dirty="0">
                <a:solidFill>
                  <a:srgbClr val="444444"/>
                </a:solidFill>
              </a:rPr>
              <a:t>It provides users the facility to ‘</a:t>
            </a:r>
            <a:r>
              <a:rPr lang="en-US" altLang="en-US" sz="2000" b="1" dirty="0">
                <a:solidFill>
                  <a:schemeClr val="bg1">
                    <a:lumMod val="90000"/>
                  </a:schemeClr>
                </a:solidFill>
              </a:rPr>
              <a:t>write once, run anywhere</a:t>
            </a:r>
            <a:r>
              <a:rPr lang="en-US" altLang="en-US" sz="2000" dirty="0">
                <a:solidFill>
                  <a:srgbClr val="444444"/>
                </a:solidFill>
              </a:rPr>
              <a:t>’.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lvl="1" eaLnBrk="1" hangingPunct="1">
              <a:buSzPct val="70000"/>
              <a:defRPr/>
            </a:pPr>
            <a:endParaRPr lang="en-US" altLang="en-US" sz="20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>
            <a:extLst>
              <a:ext uri="{FF2B5EF4-FFF2-40B4-BE49-F238E27FC236}">
                <a16:creationId xmlns:a16="http://schemas.microsoft.com/office/drawing/2014/main" id="{D31B2FE9-6711-1BE9-BB37-92BFA7542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EB3E94-7ED3-C74B-9D8E-FB37F61BC3A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AA48BD4C-02BF-A810-D669-9D9485809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 structure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27C26D7-DA4F-10C4-FF49-28781475E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4267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1800" dirty="0"/>
              <a:t>A program in Java consists of </a:t>
            </a:r>
            <a:r>
              <a:rPr lang="en-US" altLang="en-US" sz="1800" b="1" dirty="0">
                <a:solidFill>
                  <a:srgbClr val="C00000"/>
                </a:solidFill>
              </a:rPr>
              <a:t>one or more class</a:t>
            </a:r>
            <a:r>
              <a:rPr lang="en-US" altLang="en-US" sz="1800" dirty="0"/>
              <a:t> definitions</a:t>
            </a:r>
          </a:p>
          <a:p>
            <a:pPr lvl="1" eaLnBrk="1" hangingPunct="1">
              <a:defRPr/>
            </a:pPr>
            <a:r>
              <a:rPr lang="en-US" altLang="en-US" sz="1500" dirty="0"/>
              <a:t>Java Compiler strictly requires source file with the </a:t>
            </a:r>
            <a:r>
              <a:rPr lang="en-US" altLang="en-US" sz="1500" b="1" dirty="0">
                <a:solidFill>
                  <a:srgbClr val="C00000"/>
                </a:solidFill>
              </a:rPr>
              <a:t>.java</a:t>
            </a:r>
            <a:r>
              <a:rPr lang="en-US" altLang="en-US" sz="1500" dirty="0"/>
              <a:t> extension.</a:t>
            </a:r>
          </a:p>
          <a:p>
            <a:pPr lvl="1" eaLnBrk="1" hangingPunct="1">
              <a:defRPr/>
            </a:pPr>
            <a:r>
              <a:rPr lang="en-US" altLang="en-US" sz="1500" dirty="0"/>
              <a:t>Can also have other file type and execution methods</a:t>
            </a:r>
          </a:p>
          <a:p>
            <a:pPr marL="0" indent="0" eaLnBrk="1" hangingPunct="1">
              <a:buFontTx/>
              <a:buNone/>
              <a:defRPr/>
            </a:pPr>
            <a:endParaRPr lang="en-US" altLang="en-US" sz="1800" dirty="0"/>
          </a:p>
          <a:p>
            <a:pPr eaLnBrk="1" hangingPunct="1">
              <a:defRPr/>
            </a:pPr>
            <a:r>
              <a:rPr lang="en-US" altLang="en-US" sz="1800" dirty="0"/>
              <a:t>One of these classes must define a method </a:t>
            </a:r>
            <a:r>
              <a:rPr lang="en-US" altLang="en-US" sz="1800" i="1" dirty="0"/>
              <a:t>main()</a:t>
            </a:r>
          </a:p>
          <a:p>
            <a:pPr lvl="1" eaLnBrk="1" hangingPunct="1">
              <a:defRPr/>
            </a:pPr>
            <a:r>
              <a:rPr lang="en-US" altLang="en-US" sz="1500" dirty="0"/>
              <a:t>Program execution begin from here </a:t>
            </a:r>
          </a:p>
          <a:p>
            <a:pPr marL="0" indent="0" eaLnBrk="1" hangingPunct="1">
              <a:buFontTx/>
              <a:buNone/>
              <a:defRPr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en-US" sz="1800" dirty="0"/>
              <a:t>There can be More than one Class Definition in a class 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en-US" sz="1500" dirty="0"/>
              <a:t>But </a:t>
            </a:r>
            <a:r>
              <a:rPr lang="en-US" altLang="en-US" sz="1500" b="1" dirty="0">
                <a:solidFill>
                  <a:srgbClr val="C00000"/>
                </a:solidFill>
              </a:rPr>
              <a:t>Only One</a:t>
            </a:r>
            <a:r>
              <a:rPr lang="en-US" altLang="en-US" sz="1500" dirty="0"/>
              <a:t> </a:t>
            </a:r>
            <a:r>
              <a:rPr lang="en-US" altLang="en-US" sz="1500" b="1" dirty="0">
                <a:solidFill>
                  <a:srgbClr val="002060"/>
                </a:solidFill>
              </a:rPr>
              <a:t>Public</a:t>
            </a:r>
            <a:r>
              <a:rPr lang="en-US" altLang="en-US" sz="1500" dirty="0"/>
              <a:t> class 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en-US" sz="1800" dirty="0"/>
              <a:t>Source Filenames should match the name of the  public class. 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en-US" sz="1500" dirty="0"/>
              <a:t>Compiler Efficiency, Organization and Readability, JVM Entry Point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endParaRPr lang="en-US" altLang="en-US" sz="1800" dirty="0"/>
          </a:p>
          <a:p>
            <a:pPr eaLnBrk="1" hangingPunct="1">
              <a:defRPr/>
            </a:pPr>
            <a:endParaRPr lang="en-US" altLang="en-US" sz="1800" dirty="0"/>
          </a:p>
          <a:p>
            <a:pPr lvl="2" eaLnBrk="1" hangingPunct="1">
              <a:defRPr/>
            </a:pPr>
            <a:endParaRPr lang="en-US" altLang="en-US" sz="1800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i="1" dirty="0">
              <a:latin typeface="Times New Roman;Times New Roman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64CDBC52-1685-20A8-E872-C373E22DF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sz="4000">
                <a:solidFill>
                  <a:schemeClr val="tx1"/>
                </a:solidFill>
              </a:rPr>
            </a:br>
            <a:r>
              <a:rPr lang="en-US" altLang="en-US" sz="3600">
                <a:solidFill>
                  <a:schemeClr val="tx1"/>
                </a:solidFill>
              </a:rPr>
              <a:t>Source File Layout</a:t>
            </a:r>
            <a:br>
              <a:rPr lang="en-US" altLang="en-US" sz="3600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000B978D-28DC-2DD4-2BE5-D636190415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altLang="en-US"/>
              <a:t>Basic syntax of a Java source file is:</a:t>
            </a:r>
          </a:p>
          <a:p>
            <a:endParaRPr lang="en-US" altLang="en-US"/>
          </a:p>
          <a:p>
            <a:pPr marL="457200" lvl="1" indent="0">
              <a:buFontTx/>
              <a:buNone/>
            </a:pPr>
            <a:r>
              <a:rPr lang="en-US" altLang="en-US" sz="1800" b="1" i="1"/>
              <a:t>[&lt;package_declaration&gt;]</a:t>
            </a:r>
          </a:p>
          <a:p>
            <a:pPr marL="457200" lvl="1" indent="0">
              <a:buFontTx/>
              <a:buNone/>
            </a:pPr>
            <a:endParaRPr lang="en-US" altLang="en-US" sz="1800" b="1" i="1"/>
          </a:p>
          <a:p>
            <a:pPr marL="457200" lvl="1" indent="0">
              <a:buFontTx/>
              <a:buNone/>
            </a:pPr>
            <a:r>
              <a:rPr lang="en-US" altLang="en-US" sz="1800" b="1" i="1"/>
              <a:t>&lt;import_declaration&gt;</a:t>
            </a:r>
            <a:r>
              <a:rPr lang="en-US" altLang="en-US" sz="1800" b="1" i="1">
                <a:solidFill>
                  <a:srgbClr val="FF0000"/>
                </a:solidFill>
              </a:rPr>
              <a:t>*</a:t>
            </a:r>
          </a:p>
          <a:p>
            <a:pPr marL="457200" lvl="1" indent="0">
              <a:buFontTx/>
              <a:buNone/>
            </a:pPr>
            <a:endParaRPr lang="en-US" altLang="en-US" sz="1800" b="1" i="1"/>
          </a:p>
          <a:p>
            <a:pPr marL="457200" lvl="1" indent="0">
              <a:buFontTx/>
              <a:buNone/>
            </a:pPr>
            <a:r>
              <a:rPr lang="en-US" altLang="en-US" sz="1800" b="1" i="1"/>
              <a:t>&lt;class_declaration&gt;</a:t>
            </a:r>
            <a:r>
              <a:rPr lang="en-US" altLang="en-US" sz="1800" b="1" i="1">
                <a:solidFill>
                  <a:srgbClr val="C00000"/>
                </a:solidFill>
              </a:rPr>
              <a:t>+</a:t>
            </a:r>
          </a:p>
          <a:p>
            <a:endParaRPr lang="en-US" altLang="en-US" b="1" i="1"/>
          </a:p>
          <a:p>
            <a:endParaRPr lang="en-US" altLang="en-US" b="1" i="1"/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C224BC38-1F5D-A12E-B60F-FBF94E5D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6FDBDB-199B-F941-825D-C1983766172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AEC06FF0-AFD2-3796-1AB3-8FAFA0066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>
                <a:solidFill>
                  <a:schemeClr val="tx1"/>
                </a:solidFill>
              </a:rPr>
            </a:br>
            <a:r>
              <a:rPr lang="en-US" altLang="en-US">
                <a:solidFill>
                  <a:schemeClr val="tx1"/>
                </a:solidFill>
              </a:rPr>
              <a:t>Software Packages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 sz="2400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6CB1D410-6CE4-7EF7-004B-E7518E2D18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endParaRPr lang="en-US" altLang="en-US"/>
          </a:p>
          <a:p>
            <a:r>
              <a:rPr lang="en-US" altLang="en-US"/>
              <a:t>Help manage large software systems.</a:t>
            </a:r>
          </a:p>
          <a:p>
            <a:r>
              <a:rPr lang="en-US" altLang="en-US"/>
              <a:t>Contain classes and sub-packages.</a:t>
            </a:r>
          </a:p>
          <a:p>
            <a:endParaRPr lang="en-US" altLang="en-US" b="1"/>
          </a:p>
          <a:p>
            <a:r>
              <a:rPr lang="en-US" altLang="en-US" b="1"/>
              <a:t>package </a:t>
            </a:r>
            <a:r>
              <a:rPr lang="en-US" altLang="en-US" b="1" i="1"/>
              <a:t>&lt;top_pkg_name&gt;[.&lt;sub_pkg_name&gt;]*;</a:t>
            </a:r>
          </a:p>
          <a:p>
            <a:endParaRPr lang="en-US" altLang="en-US"/>
          </a:p>
          <a:p>
            <a:pPr lvl="1"/>
            <a:r>
              <a:rPr lang="en-US" altLang="en-US"/>
              <a:t>Specify the package </a:t>
            </a:r>
            <a:r>
              <a:rPr lang="en-US" altLang="en-US" b="1">
                <a:solidFill>
                  <a:srgbClr val="C00000"/>
                </a:solidFill>
              </a:rPr>
              <a:t>declaration at the beginning</a:t>
            </a:r>
            <a:r>
              <a:rPr lang="en-US" altLang="en-US"/>
              <a:t> of the source file.</a:t>
            </a:r>
          </a:p>
          <a:p>
            <a:endParaRPr lang="en-US" altLang="en-US"/>
          </a:p>
          <a:p>
            <a:pPr lvl="1"/>
            <a:r>
              <a:rPr lang="en-US" altLang="en-US"/>
              <a:t>Only one package declaration per source file.</a:t>
            </a:r>
          </a:p>
          <a:p>
            <a:endParaRPr lang="en-US" altLang="en-US"/>
          </a:p>
          <a:p>
            <a:pPr lvl="1"/>
            <a:r>
              <a:rPr lang="en-US" altLang="en-US"/>
              <a:t>If no package is declared, it is placed into the </a:t>
            </a:r>
            <a:r>
              <a:rPr lang="en-US" altLang="en-US" b="1">
                <a:solidFill>
                  <a:srgbClr val="C00000"/>
                </a:solidFill>
              </a:rPr>
              <a:t>default package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pPr lvl="1"/>
            <a:r>
              <a:rPr lang="en-US" altLang="en-US"/>
              <a:t>Names must be hierarchical and </a:t>
            </a:r>
            <a:r>
              <a:rPr lang="en-US" altLang="en-US" b="1">
                <a:solidFill>
                  <a:srgbClr val="C00000"/>
                </a:solidFill>
              </a:rPr>
              <a:t>separated by dots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93E11BF6-9F94-6ACA-C074-1623DC41E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ADA65A-F420-8C4A-B7FF-4C8E380BFE3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06AE760D-EC42-CAF4-2C71-7587B2025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>
                <a:solidFill>
                  <a:schemeClr val="tx1"/>
                </a:solidFill>
              </a:rPr>
            </a:br>
            <a:r>
              <a:rPr lang="en-US" altLang="en-US">
                <a:solidFill>
                  <a:schemeClr val="tx1"/>
                </a:solidFill>
              </a:rPr>
              <a:t>The import Statement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 sz="2400"/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DDCC4DA3-828A-FDD9-130E-5545CEECEC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endParaRPr lang="en-US" altLang="en-US" b="1"/>
          </a:p>
          <a:p>
            <a:r>
              <a:rPr lang="en-US" altLang="en-US" b="1"/>
              <a:t>import </a:t>
            </a:r>
            <a:r>
              <a:rPr lang="en-US" altLang="en-US" b="1" i="1"/>
              <a:t>&lt;pkg_name&gt;[.&lt;sub_pkg_name&gt;]*.&lt;class_name&gt;;</a:t>
            </a:r>
          </a:p>
          <a:p>
            <a:endParaRPr lang="en-US" altLang="en-US" b="1"/>
          </a:p>
          <a:p>
            <a:r>
              <a:rPr lang="en-US" altLang="en-US" b="1"/>
              <a:t>import </a:t>
            </a:r>
            <a:r>
              <a:rPr lang="en-US" altLang="en-US" b="1" i="1"/>
              <a:t>&lt;pkg_name&gt;[.&lt;sub_pkg_name&gt;]*.*;</a:t>
            </a:r>
          </a:p>
          <a:p>
            <a:endParaRPr lang="en-US" altLang="en-US"/>
          </a:p>
          <a:p>
            <a:r>
              <a:rPr lang="en-US" altLang="en-US" b="1">
                <a:solidFill>
                  <a:srgbClr val="FF0000"/>
                </a:solidFill>
              </a:rPr>
              <a:t>import java.util.List;</a:t>
            </a:r>
          </a:p>
          <a:p>
            <a:r>
              <a:rPr lang="en-US" altLang="en-US" b="1">
                <a:solidFill>
                  <a:srgbClr val="FF0000"/>
                </a:solidFill>
              </a:rPr>
              <a:t>import java.io.*;</a:t>
            </a:r>
          </a:p>
          <a:p>
            <a:r>
              <a:rPr lang="en-US" altLang="en-US" b="1">
                <a:solidFill>
                  <a:srgbClr val="FF0000"/>
                </a:solidFill>
              </a:rPr>
              <a:t>import shipping.gui.reportscreens.*;</a:t>
            </a:r>
          </a:p>
          <a:p>
            <a:endParaRPr lang="en-US" altLang="en-US"/>
          </a:p>
          <a:p>
            <a:r>
              <a:rPr lang="en-US" altLang="en-US"/>
              <a:t>The import statement does the following:</a:t>
            </a:r>
          </a:p>
          <a:p>
            <a:pPr lvl="1"/>
            <a:r>
              <a:rPr lang="en-US" altLang="en-US"/>
              <a:t>Precedes all class declarations</a:t>
            </a:r>
          </a:p>
          <a:p>
            <a:pPr lvl="1"/>
            <a:r>
              <a:rPr lang="en-US" altLang="en-US"/>
              <a:t>Tells the compiler where to find classes</a:t>
            </a:r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F27625AF-67B2-4C0A-C396-FF710F4C6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1654D8-D265-554C-9AD2-E718971961A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Number Placeholder 5">
            <a:extLst>
              <a:ext uri="{FF2B5EF4-FFF2-40B4-BE49-F238E27FC236}">
                <a16:creationId xmlns:a16="http://schemas.microsoft.com/office/drawing/2014/main" id="{5A65F331-3C13-E460-2997-9CCFA3F8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B8988C-74AC-9B4B-BFB5-3CA20F290E3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1C865884-531D-838F-B67F-AA699193E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Comments 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C5B0C9B8-B998-EB2E-9D7E-B246C120CD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4191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Java supports three forms of comments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Times New Roman;Courier"/>
              </a:rPr>
              <a:t>// single line comments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>
              <a:latin typeface="Times New Roman;Courier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Times New Roman;Courier"/>
              </a:rPr>
              <a:t>/* multi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line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comment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*/</a:t>
            </a:r>
            <a:endParaRPr lang="en-US" altLang="en-US" sz="1800">
              <a:latin typeface="Times New Roman;Courier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>
              <a:latin typeface="Times New Roman;Courier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Times New Roman;Courier"/>
              </a:rPr>
              <a:t>/** a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* Javadoc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* comment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*/</a:t>
            </a:r>
          </a:p>
          <a:p>
            <a:pPr eaLnBrk="1" hangingPunct="1">
              <a:lnSpc>
                <a:spcPct val="90000"/>
              </a:lnSpc>
            </a:pPr>
            <a:endParaRPr lang="en-US" altLang="en-US" i="1">
              <a:latin typeface="Times New Roman;Times New Roman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5">
            <a:extLst>
              <a:ext uri="{FF2B5EF4-FFF2-40B4-BE49-F238E27FC236}">
                <a16:creationId xmlns:a16="http://schemas.microsoft.com/office/drawing/2014/main" id="{2B9D3F98-72DE-B0DD-BF31-2C336657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3A27D0-93B5-D24D-B717-002539E4F8C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F55BAC56-2972-DDAE-D4F3-AC7CC521B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39070D0-E229-B5B1-2B49-BC91A755FE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 b="1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package </a:t>
            </a:r>
            <a:r>
              <a:rPr lang="en-US" altLang="en-US" sz="1800"/>
              <a:t>com.training;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public class</a:t>
            </a:r>
            <a:r>
              <a:rPr lang="en-US" altLang="en-US" sz="1800"/>
              <a:t> Greeting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</a:t>
            </a:r>
            <a:r>
              <a:rPr lang="en-US" altLang="en-US" sz="1800" b="1"/>
              <a:t>public String</a:t>
            </a:r>
            <a:r>
              <a:rPr lang="en-US" altLang="en-US" sz="1800"/>
              <a:t> getMessage()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	</a:t>
            </a:r>
            <a:r>
              <a:rPr lang="en-US" altLang="en-US" sz="1800" b="1"/>
              <a:t>return</a:t>
            </a:r>
            <a:r>
              <a:rPr lang="en-US" altLang="en-US" sz="1800"/>
              <a:t> "Welcome to Java  Programming";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	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}</a:t>
            </a:r>
          </a:p>
          <a:p>
            <a:pPr eaLnBrk="1" hangingPunct="1">
              <a:lnSpc>
                <a:spcPct val="8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Number Placeholder 5">
            <a:extLst>
              <a:ext uri="{FF2B5EF4-FFF2-40B4-BE49-F238E27FC236}">
                <a16:creationId xmlns:a16="http://schemas.microsoft.com/office/drawing/2014/main" id="{47A63F75-68B0-27C0-F23B-7382CEE1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46D49D-39AB-5C4E-9F36-D8C4BB80943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32106364-C9E7-37ED-2AC1-8C55CDEBF6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EF4C686-2FA2-B7C1-64E1-4EF78D932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package</a:t>
            </a:r>
            <a:r>
              <a:rPr lang="en-US" altLang="en-US"/>
              <a:t> com.training;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public class</a:t>
            </a:r>
            <a:r>
              <a:rPr lang="en-US" altLang="en-US"/>
              <a:t> Application{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</a:t>
            </a:r>
            <a:r>
              <a:rPr lang="en-US" altLang="en-US" b="1"/>
              <a:t>public static void main</a:t>
            </a:r>
            <a:r>
              <a:rPr lang="en-US" altLang="en-US"/>
              <a:t>(String[] args) {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Greeting </a:t>
            </a:r>
            <a:r>
              <a:rPr lang="en-US" altLang="en-US" b="1">
                <a:solidFill>
                  <a:srgbClr val="C00000"/>
                </a:solidFill>
              </a:rPr>
              <a:t>grtObj</a:t>
            </a:r>
            <a:r>
              <a:rPr lang="en-US" altLang="en-US"/>
              <a:t> = </a:t>
            </a:r>
            <a:r>
              <a:rPr lang="en-US" altLang="en-US" b="1"/>
              <a:t>new</a:t>
            </a:r>
            <a:r>
              <a:rPr lang="en-US" altLang="en-US"/>
              <a:t> Greeting();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</a:t>
            </a:r>
            <a:r>
              <a:rPr lang="en-US" altLang="en-US" b="1"/>
              <a:t>System.out.println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C00000"/>
                </a:solidFill>
              </a:rPr>
              <a:t>grtObj</a:t>
            </a:r>
            <a:r>
              <a:rPr lang="en-US" altLang="en-US"/>
              <a:t>.getMessage());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F0034752-8A0A-636F-452B-6B60C4D8A2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OOPS Concepts</a:t>
            </a:r>
            <a:endParaRPr lang="en-IN" altLang="en-US"/>
          </a:p>
        </p:txBody>
      </p:sp>
      <p:pic>
        <p:nvPicPr>
          <p:cNvPr id="48130" name="Picture 2" descr="OOPs concept with java">
            <a:extLst>
              <a:ext uri="{FF2B5EF4-FFF2-40B4-BE49-F238E27FC236}">
                <a16:creationId xmlns:a16="http://schemas.microsoft.com/office/drawing/2014/main" id="{B08F0DFD-E55E-7C4A-98D3-10F46769DF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24013" y="1412875"/>
            <a:ext cx="5895975" cy="3570288"/>
          </a:xfr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80D5FDB2-3C27-82E4-3308-9FF1E2FEDB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Encapsulation</a:t>
            </a:r>
            <a:endParaRPr lang="en-IN" altLang="en-US"/>
          </a:p>
        </p:txBody>
      </p:sp>
      <p:sp>
        <p:nvSpPr>
          <p:cNvPr id="49154" name="Content Placeholder 2">
            <a:extLst>
              <a:ext uri="{FF2B5EF4-FFF2-40B4-BE49-F238E27FC236}">
                <a16:creationId xmlns:a16="http://schemas.microsoft.com/office/drawing/2014/main" id="{D26EB930-927D-4C88-30F2-DD48E3867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Encapsulation - </a:t>
            </a:r>
            <a:r>
              <a:rPr lang="en-US" altLang="en-US" sz="1800" i="1" u="sng"/>
              <a:t>Enforces Modularity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/>
              <a:t>Encapsulating the data and behavior into a single object is of primary importance in OO development.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/>
              <a:t>A single object contains both its data and behaviors and can hide what it wants from other objects. </a:t>
            </a:r>
          </a:p>
        </p:txBody>
      </p:sp>
      <p:pic>
        <p:nvPicPr>
          <p:cNvPr id="49155" name="Picture 4" descr="Diagram&#10;&#10;Description automatically generated">
            <a:extLst>
              <a:ext uri="{FF2B5EF4-FFF2-40B4-BE49-F238E27FC236}">
                <a16:creationId xmlns:a16="http://schemas.microsoft.com/office/drawing/2014/main" id="{2BEB02ED-0F5A-5A3F-6640-90C6D829D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3" y="3343275"/>
            <a:ext cx="7115175" cy="278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5934C611-3DD1-AE8C-D8BE-EC982EA79F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457200"/>
          </a:xfrm>
        </p:spPr>
        <p:txBody>
          <a:bodyPr/>
          <a:lstStyle/>
          <a:p>
            <a:br>
              <a:rPr lang="en-US" altLang="en-US" sz="4000">
                <a:solidFill>
                  <a:schemeClr val="tx1"/>
                </a:solidFill>
              </a:rPr>
            </a:br>
            <a:r>
              <a:rPr lang="en-US" altLang="en-US">
                <a:solidFill>
                  <a:schemeClr val="tx1"/>
                </a:solidFill>
              </a:rPr>
              <a:t>Information Hiding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3F27581B-E2AF-2432-38E3-A7E6BDFC69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Client code has direct access to internal data </a:t>
            </a:r>
          </a:p>
          <a:p>
            <a:r>
              <a:rPr lang="en-US" altLang="en-US"/>
              <a:t>   (d refers to a MyDate object):</a:t>
            </a:r>
          </a:p>
          <a:p>
            <a:endParaRPr lang="en-US" altLang="en-US"/>
          </a:p>
          <a:p>
            <a:r>
              <a:rPr lang="en-US" altLang="en-US"/>
              <a:t>d.day = 32;       // invalid day</a:t>
            </a:r>
          </a:p>
          <a:p>
            <a:r>
              <a:rPr lang="en-US" altLang="en-US"/>
              <a:t>d.month = 2; d.day = 30;   // plausible but wrong</a:t>
            </a:r>
          </a:p>
          <a:p>
            <a:r>
              <a:rPr lang="en-US" altLang="en-US"/>
              <a:t>d.day = d.day + 1;    // no check for wrap around</a:t>
            </a:r>
          </a:p>
        </p:txBody>
      </p:sp>
      <p:sp>
        <p:nvSpPr>
          <p:cNvPr id="50179" name="Slide Number Placeholder 3">
            <a:extLst>
              <a:ext uri="{FF2B5EF4-FFF2-40B4-BE49-F238E27FC236}">
                <a16:creationId xmlns:a16="http://schemas.microsoft.com/office/drawing/2014/main" id="{39DE36F0-A995-C75C-0888-419EEB02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C69040-B19C-6446-9809-08E6031EFB4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  <p:pic>
        <p:nvPicPr>
          <p:cNvPr id="50180" name="Picture 2">
            <a:extLst>
              <a:ext uri="{FF2B5EF4-FFF2-40B4-BE49-F238E27FC236}">
                <a16:creationId xmlns:a16="http://schemas.microsoft.com/office/drawing/2014/main" id="{95EE9577-D2BF-D9D1-B5E1-8FEFEF964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114800"/>
            <a:ext cx="3581400" cy="200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8DC55F22-8B9E-E485-B704-88C117765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Encapsulation</a:t>
            </a:r>
          </a:p>
        </p:txBody>
      </p:sp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6CF5440D-9699-F66D-2F5A-CE86A8031F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Hides the implementation details of a class</a:t>
            </a:r>
          </a:p>
          <a:p>
            <a:r>
              <a:rPr lang="en-US" altLang="en-US"/>
              <a:t>Forces the user to use an interface to access data</a:t>
            </a:r>
          </a:p>
          <a:p>
            <a:r>
              <a:rPr lang="en-US" altLang="en-US"/>
              <a:t>Makes the code more maintainable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51203" name="Slide Number Placeholder 3">
            <a:extLst>
              <a:ext uri="{FF2B5EF4-FFF2-40B4-BE49-F238E27FC236}">
                <a16:creationId xmlns:a16="http://schemas.microsoft.com/office/drawing/2014/main" id="{C4CA9D79-2C45-2BD0-827F-5FD1CEB5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2B83E7-349D-F346-BA3E-3FF9FDF8C22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  <p:pic>
        <p:nvPicPr>
          <p:cNvPr id="51204" name="Picture 2">
            <a:extLst>
              <a:ext uri="{FF2B5EF4-FFF2-40B4-BE49-F238E27FC236}">
                <a16:creationId xmlns:a16="http://schemas.microsoft.com/office/drawing/2014/main" id="{355674B6-E31A-DB4E-2A76-F658C0391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743200"/>
            <a:ext cx="6248400" cy="325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9F697E1E-50A6-CFF6-FCAE-0E3AB38CF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Declaring Java Technology Classes</a:t>
            </a:r>
            <a:br>
              <a:rPr lang="en-US" altLang="en-US" sz="4000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52226" name="Content Placeholder 2">
            <a:extLst>
              <a:ext uri="{FF2B5EF4-FFF2-40B4-BE49-F238E27FC236}">
                <a16:creationId xmlns:a16="http://schemas.microsoft.com/office/drawing/2014/main" id="{2B3B4DC8-82FB-E16C-9F94-1FB165BBD6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altLang="en-US"/>
              <a:t>Basic syntax of a Java class:</a:t>
            </a:r>
          </a:p>
          <a:p>
            <a:endParaRPr lang="en-US" altLang="en-US" b="1" i="1"/>
          </a:p>
          <a:p>
            <a:pPr lvl="1">
              <a:buFontTx/>
              <a:buNone/>
            </a:pPr>
            <a:r>
              <a:rPr lang="en-US" altLang="en-US" b="1" i="1"/>
              <a:t>&lt;modifier&gt;* class &lt;class_name&gt; {</a:t>
            </a:r>
          </a:p>
          <a:p>
            <a:pPr lvl="1">
              <a:buFontTx/>
              <a:buNone/>
            </a:pPr>
            <a:r>
              <a:rPr lang="en-US" altLang="en-US" b="1" i="1"/>
              <a:t>&lt;attribute_declaration&gt;*</a:t>
            </a:r>
          </a:p>
          <a:p>
            <a:pPr lvl="1">
              <a:buFontTx/>
              <a:buNone/>
            </a:pPr>
            <a:r>
              <a:rPr lang="en-US" altLang="en-US" b="1" i="1"/>
              <a:t>&lt;constructor_declaration&gt;*</a:t>
            </a:r>
          </a:p>
          <a:p>
            <a:pPr lvl="1">
              <a:buFontTx/>
              <a:buNone/>
            </a:pPr>
            <a:r>
              <a:rPr lang="en-US" altLang="en-US" b="1" i="1"/>
              <a:t>&lt;method_declaration&gt;*</a:t>
            </a:r>
          </a:p>
          <a:p>
            <a:pPr lvl="1">
              <a:buFontTx/>
              <a:buNone/>
            </a:pPr>
            <a:r>
              <a:rPr lang="en-US" altLang="en-US" b="1"/>
              <a:t>}</a:t>
            </a:r>
          </a:p>
          <a:p>
            <a:pPr lvl="1">
              <a:buFontTx/>
              <a:buNone/>
            </a:pPr>
            <a:endParaRPr lang="en-US" altLang="en-US" b="1"/>
          </a:p>
          <a:p>
            <a:r>
              <a:rPr lang="en-US" altLang="en-US"/>
              <a:t>Define an attribute:</a:t>
            </a:r>
          </a:p>
          <a:p>
            <a:endParaRPr lang="en-US" altLang="en-US" b="1" i="1"/>
          </a:p>
          <a:p>
            <a:r>
              <a:rPr lang="en-US" altLang="en-US" b="1" i="1"/>
              <a:t>&lt;modifier&gt;* &lt;type&gt; &lt;name&gt; [ = &lt;initial_value&gt;];</a:t>
            </a:r>
          </a:p>
          <a:p>
            <a:pPr lvl="1">
              <a:buFontTx/>
              <a:buNone/>
            </a:pPr>
            <a:endParaRPr lang="en-US" altLang="en-US" b="1"/>
          </a:p>
        </p:txBody>
      </p:sp>
      <p:sp>
        <p:nvSpPr>
          <p:cNvPr id="52227" name="Slide Number Placeholder 3">
            <a:extLst>
              <a:ext uri="{FF2B5EF4-FFF2-40B4-BE49-F238E27FC236}">
                <a16:creationId xmlns:a16="http://schemas.microsoft.com/office/drawing/2014/main" id="{1CBB041F-3339-A4D8-BB76-34DF822F5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F4CA4D-DCF6-7D4A-8213-51996007467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5">
            <a:extLst>
              <a:ext uri="{FF2B5EF4-FFF2-40B4-BE49-F238E27FC236}">
                <a16:creationId xmlns:a16="http://schemas.microsoft.com/office/drawing/2014/main" id="{4922A4F8-076E-3B9C-9B2C-113E1BF0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AB6F69-9C37-6942-A34B-31C88FD959F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0BC6D89F-364C-62F4-5E4B-0B6E384D97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Classes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655976F9-613A-28F6-8416-E671C412A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772400" cy="441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800"/>
              <a:t>Top-level classes can be declared as</a:t>
            </a:r>
          </a:p>
          <a:p>
            <a:pPr lvl="1" eaLnBrk="1" hangingPunct="1"/>
            <a:r>
              <a:rPr lang="en-US" altLang="en-US" sz="1800"/>
              <a:t>public</a:t>
            </a:r>
          </a:p>
          <a:p>
            <a:pPr lvl="2" eaLnBrk="1" hangingPunct="1"/>
            <a:r>
              <a:rPr lang="en-US" altLang="en-US" sz="1800"/>
              <a:t>a public class is globally accessible. </a:t>
            </a:r>
          </a:p>
          <a:p>
            <a:pPr lvl="2" eaLnBrk="1" hangingPunct="1"/>
            <a:r>
              <a:rPr lang="en-US" altLang="en-US" sz="1800"/>
              <a:t>a single source file can have only </a:t>
            </a:r>
            <a:r>
              <a:rPr lang="en-US" altLang="en-US" sz="1800" i="1">
                <a:latin typeface="Times New Roman;Times New Roman"/>
              </a:rPr>
              <a:t>one </a:t>
            </a:r>
            <a:r>
              <a:rPr lang="en-US" altLang="en-US" sz="1800"/>
              <a:t>public class or  interface</a:t>
            </a:r>
          </a:p>
          <a:p>
            <a:pPr lvl="1" eaLnBrk="1" hangingPunct="1"/>
            <a:r>
              <a:rPr lang="en-US" altLang="en-US" sz="1800"/>
              <a:t>abstract</a:t>
            </a:r>
          </a:p>
          <a:p>
            <a:pPr lvl="2" eaLnBrk="1" hangingPunct="1"/>
            <a:r>
              <a:rPr lang="en-US" altLang="en-US" sz="1800"/>
              <a:t>an abstract class cannot be instantiated</a:t>
            </a:r>
          </a:p>
          <a:p>
            <a:pPr lvl="1" eaLnBrk="1" hangingPunct="1"/>
            <a:r>
              <a:rPr lang="en-US" altLang="en-US" sz="1800"/>
              <a:t>final</a:t>
            </a:r>
          </a:p>
          <a:p>
            <a:pPr lvl="2" eaLnBrk="1" hangingPunct="1"/>
            <a:r>
              <a:rPr lang="en-US" altLang="en-US" sz="1800"/>
              <a:t> a final class cannot be subclassed</a:t>
            </a:r>
          </a:p>
          <a:p>
            <a:pPr lvl="1" eaLnBrk="1" hangingPunct="1"/>
            <a:r>
              <a:rPr lang="en-US" altLang="en-US" sz="1800"/>
              <a:t>Default</a:t>
            </a:r>
          </a:p>
          <a:p>
            <a:pPr lvl="2" eaLnBrk="1" hangingPunct="1"/>
            <a:r>
              <a:rPr lang="en-US" altLang="en-US" sz="1800"/>
              <a:t>With any Modifier </a:t>
            </a:r>
          </a:p>
          <a:p>
            <a:pPr eaLnBrk="1" hangingPunct="1"/>
            <a:r>
              <a:rPr lang="en-US" altLang="en-US" sz="1800"/>
              <a:t>They can’t be declared as protected and private</a:t>
            </a:r>
          </a:p>
          <a:p>
            <a:pPr lvl="1" eaLnBrk="1" hangingPunct="1"/>
            <a:endParaRPr lang="en-US" altLang="en-US" sz="180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Number Placeholder 5">
            <a:extLst>
              <a:ext uri="{FF2B5EF4-FFF2-40B4-BE49-F238E27FC236}">
                <a16:creationId xmlns:a16="http://schemas.microsoft.com/office/drawing/2014/main" id="{37E82575-C6AF-6459-FC05-7F451C46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F75B0D-C0F8-B04A-8889-E8FC04563E8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D2669510-3836-D199-02CE-DC8057377D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4 Access Levels and 3 Modifiers 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D477A44-BBBD-A644-6258-684619C0F4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4572000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graphicFrame>
        <p:nvGraphicFramePr>
          <p:cNvPr id="57348" name="Object 4">
            <a:extLst>
              <a:ext uri="{FF2B5EF4-FFF2-40B4-BE49-F238E27FC236}">
                <a16:creationId xmlns:a16="http://schemas.microsoft.com/office/drawing/2014/main" id="{EE1E4D28-981E-F25A-DD31-3393BC1206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590800"/>
          <a:ext cx="72390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2146200" imgH="37033200" progId="Word.Document.8">
                  <p:embed/>
                </p:oleObj>
              </mc:Choice>
              <mc:Fallback>
                <p:oleObj name="Document" r:id="rId3" imgW="52146200" imgH="370332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90800"/>
                        <a:ext cx="7239000" cy="373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7349" name="Picture 5">
            <a:extLst>
              <a:ext uri="{FF2B5EF4-FFF2-40B4-BE49-F238E27FC236}">
                <a16:creationId xmlns:a16="http://schemas.microsoft.com/office/drawing/2014/main" id="{DAC46FD6-98AA-037F-42F3-E3D398C04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990600"/>
            <a:ext cx="6324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Number Placeholder 5">
            <a:extLst>
              <a:ext uri="{FF2B5EF4-FFF2-40B4-BE49-F238E27FC236}">
                <a16:creationId xmlns:a16="http://schemas.microsoft.com/office/drawing/2014/main" id="{7AC9CE9E-3BA4-D231-49AC-A05C8C6C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8D5B62-C421-A843-960F-C53EB73824F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41D50897-127E-F7C2-EC10-F94BFA427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Constructors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A582CF8-4C06-3A19-18ED-E37574A4B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7772400" cy="5029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1600"/>
              <a:t>Have no return type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Have the same name as the class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If we don't’ put a constructor the compiler puts a default one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 default constructor has the </a:t>
            </a:r>
            <a:r>
              <a:rPr lang="en-US" altLang="en-US" sz="1600" i="1"/>
              <a:t>same access modifier as the class</a:t>
            </a:r>
            <a:r>
              <a:rPr lang="en-US" altLang="en-US" sz="1600"/>
              <a:t>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 default constructor has </a:t>
            </a:r>
            <a:r>
              <a:rPr lang="en-US" altLang="en-US" sz="1600" i="1"/>
              <a:t>no arguments</a:t>
            </a:r>
            <a:r>
              <a:rPr lang="en-US" altLang="en-US" sz="1600"/>
              <a:t>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 default constructor is </a:t>
            </a:r>
            <a:r>
              <a:rPr lang="en-US" altLang="en-US" sz="1600" i="1"/>
              <a:t>always </a:t>
            </a:r>
            <a:r>
              <a:rPr lang="en-US" altLang="en-US" sz="1600"/>
              <a:t>a no-arg </a:t>
            </a:r>
            <a:r>
              <a:rPr lang="en-US" altLang="ko-KR" sz="1600">
                <a:ea typeface="Gulim" panose="020B0600000101010101" pitchFamily="34" charset="-127"/>
              </a:rPr>
              <a:t>constructor, but a</a:t>
            </a:r>
            <a:r>
              <a:rPr lang="en-US" altLang="en-US" sz="1600"/>
              <a:t> no-arg constructor is not necessarily the </a:t>
            </a:r>
            <a:r>
              <a:rPr lang="en-US" altLang="en-US" sz="1600" i="1"/>
              <a:t>default </a:t>
            </a:r>
            <a:r>
              <a:rPr lang="en-US" altLang="en-US" sz="1600"/>
              <a:t>constructor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 default constructor includes a </a:t>
            </a:r>
            <a:r>
              <a:rPr lang="en-US" altLang="en-US" sz="1600" i="1"/>
              <a:t>no-arg call to the super constructor </a:t>
            </a:r>
            <a:r>
              <a:rPr lang="en-US" altLang="en-US" sz="1600"/>
              <a:t>(super()).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They are not inherited and hence they are not overridden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It can be Overloaded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It can have any of  the Four Access Modifies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It cannot be synchronized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It can have throws clause</a:t>
            </a:r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Number Placeholder 5">
            <a:extLst>
              <a:ext uri="{FF2B5EF4-FFF2-40B4-BE49-F238E27FC236}">
                <a16:creationId xmlns:a16="http://schemas.microsoft.com/office/drawing/2014/main" id="{71D97296-C6C8-8188-D8F9-2B9AE946C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2E6146-BADE-2B47-9A1F-84A214FE9B4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78DD168F-601E-DE8A-CA3E-3F0C4B8B4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Instantiation with new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48B98450-814C-DD80-D161-CBC6616236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eaLnBrk="1" hangingPunct="1"/>
            <a:r>
              <a:rPr lang="en-US" altLang="en-US" sz="1800"/>
              <a:t>It is the process by which individual objects are created.</a:t>
            </a:r>
          </a:p>
          <a:p>
            <a:pPr eaLnBrk="1" hangingPunct="1"/>
            <a:endParaRPr lang="en-US" altLang="en-US" sz="1800" b="1"/>
          </a:p>
          <a:p>
            <a:pPr lvl="1" eaLnBrk="1" hangingPunct="1"/>
            <a:r>
              <a:rPr lang="en-US" altLang="en-US" sz="1600" b="1"/>
              <a:t>Class objectReference = new Constructor();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Declaration</a:t>
            </a:r>
          </a:p>
          <a:p>
            <a:pPr lvl="1" eaLnBrk="1" hangingPunct="1"/>
            <a:r>
              <a:rPr lang="en-US" altLang="en-US" sz="1600"/>
              <a:t>Employee empObj;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Instantiation</a:t>
            </a:r>
          </a:p>
          <a:p>
            <a:pPr lvl="1" eaLnBrk="1" hangingPunct="1"/>
            <a:r>
              <a:rPr lang="en-US" altLang="en-US" sz="1600">
                <a:latin typeface="Courier New" panose="02070309020205020404" pitchFamily="49" charset="0"/>
              </a:rPr>
              <a:t>empObj = new Employee()</a:t>
            </a:r>
          </a:p>
          <a:p>
            <a:pPr eaLnBrk="1" hangingPunct="1"/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sz="1800" u="sng"/>
              <a:t>Declaration and Instantiation</a:t>
            </a:r>
          </a:p>
          <a:p>
            <a:pPr lvl="1" eaLnBrk="1" hangingPunct="1"/>
            <a:endParaRPr lang="en-US" altLang="en-US" sz="1600" u="sng"/>
          </a:p>
          <a:p>
            <a:pPr lvl="1" eaLnBrk="1" hangingPunct="1"/>
            <a:r>
              <a:rPr lang="en-US" altLang="en-US" sz="1600">
                <a:latin typeface="Courier New" panose="02070309020205020404" pitchFamily="49" charset="0"/>
              </a:rPr>
              <a:t>Employee empObj = new Employee()</a:t>
            </a:r>
          </a:p>
          <a:p>
            <a:pPr lvl="1" eaLnBrk="1" hangingPunct="1"/>
            <a:endParaRPr lang="en-US" altLang="en-US" sz="1600"/>
          </a:p>
          <a:p>
            <a:pPr lvl="1" eaLnBrk="1" hangingPunct="1"/>
            <a:r>
              <a:rPr lang="en-US" altLang="en-US" sz="1600"/>
              <a:t> </a:t>
            </a:r>
            <a:r>
              <a:rPr lang="en-US" altLang="en-US" sz="1600" b="1"/>
              <a:t>new</a:t>
            </a:r>
            <a:r>
              <a:rPr lang="en-US" altLang="en-US" sz="1600"/>
              <a:t> operator allocates memory for an object.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Number Placeholder 5">
            <a:extLst>
              <a:ext uri="{FF2B5EF4-FFF2-40B4-BE49-F238E27FC236}">
                <a16:creationId xmlns:a16="http://schemas.microsoft.com/office/drawing/2014/main" id="{BCD15F99-E3A1-53A9-57A2-6F25AF341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7866-8E75-3D43-A6A7-B9AB112DFAE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91767BE6-37A1-E2DB-7E19-DE0802F9A3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Variables and Methods</a:t>
            </a:r>
            <a:br>
              <a:rPr lang="en-US" altLang="en-US" sz="2800" b="1"/>
            </a:br>
            <a:endParaRPr lang="en-US" altLang="en-US" sz="2800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14123E4C-CCB2-88E8-E0FE-30D088E180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 </a:t>
            </a:r>
            <a:r>
              <a:rPr lang="en-US" altLang="en-US" sz="1800" b="1"/>
              <a:t>variable</a:t>
            </a:r>
            <a:r>
              <a:rPr lang="en-US" altLang="en-US" sz="1800"/>
              <a:t>, which corresponds to an attribute, is a named memory location that can store a certain type of value.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Variable is a kind of  special container that can only hold objects of a certain type.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/>
              <a:t>Primitive type Variable</a:t>
            </a:r>
          </a:p>
          <a:p>
            <a:pPr lvl="2" eaLnBrk="1" hangingPunct="1"/>
            <a:r>
              <a:rPr lang="en-US" altLang="en-US" sz="1800"/>
              <a:t>Basic, built-in types that are part of the Java language</a:t>
            </a:r>
          </a:p>
          <a:p>
            <a:pPr lvl="2" eaLnBrk="1" hangingPunct="1"/>
            <a:r>
              <a:rPr lang="en-US" altLang="en-US" sz="1800"/>
              <a:t>Two basic categories</a:t>
            </a:r>
          </a:p>
          <a:p>
            <a:pPr lvl="3" eaLnBrk="1" hangingPunct="1"/>
            <a:r>
              <a:rPr lang="en-US" altLang="en-US" sz="1800"/>
              <a:t>boolean </a:t>
            </a:r>
          </a:p>
          <a:p>
            <a:pPr lvl="3" eaLnBrk="1" hangingPunct="1"/>
            <a:r>
              <a:rPr lang="en-US" altLang="en-US" sz="1800"/>
              <a:t>Numeric</a:t>
            </a:r>
          </a:p>
          <a:p>
            <a:pPr lvl="4" eaLnBrk="1" hangingPunct="1"/>
            <a:r>
              <a:rPr lang="en-US" altLang="en-US" sz="1800"/>
              <a:t>Integral - byte, short, int, long, char</a:t>
            </a:r>
          </a:p>
          <a:p>
            <a:pPr lvl="4" eaLnBrk="1" hangingPunct="1"/>
            <a:r>
              <a:rPr lang="en-US" altLang="en-US" sz="1800"/>
              <a:t>Floating point - float, double</a:t>
            </a: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Number Placeholder 5">
            <a:extLst>
              <a:ext uri="{FF2B5EF4-FFF2-40B4-BE49-F238E27FC236}">
                <a16:creationId xmlns:a16="http://schemas.microsoft.com/office/drawing/2014/main" id="{E9D2BEA3-6FCF-F500-6D11-3C3F659A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57973E-2CE1-3846-95C2-CD179EB4A41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9549F4E8-1E39-E8FF-F81F-9DC1A81CD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Instance Variables and Methods 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DB22F600-039E-5C97-04F5-B6A9F82D4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Variables and methods can be associated either with objects or their classes</a:t>
            </a:r>
          </a:p>
          <a:p>
            <a:pPr lvl="1"/>
            <a:r>
              <a:rPr lang="en-US" altLang="en-US" sz="2000">
                <a:solidFill>
                  <a:srgbClr val="000000"/>
                </a:solidFill>
              </a:rPr>
              <a:t>An object that is created using a class is said to be an </a:t>
            </a:r>
            <a:r>
              <a:rPr lang="en-US" altLang="en-US" sz="2000">
                <a:solidFill>
                  <a:srgbClr val="CC0000"/>
                </a:solidFill>
              </a:rPr>
              <a:t>instance</a:t>
            </a:r>
            <a:r>
              <a:rPr lang="en-US" altLang="en-US" sz="2000">
                <a:solidFill>
                  <a:srgbClr val="000000"/>
                </a:solidFill>
              </a:rPr>
              <a:t> of that class. </a:t>
            </a:r>
          </a:p>
          <a:p>
            <a:pPr lvl="1"/>
            <a:r>
              <a:rPr lang="en-US" altLang="en-US" sz="2000">
                <a:solidFill>
                  <a:srgbClr val="000000"/>
                </a:solidFill>
              </a:rPr>
              <a:t>The variables that the object contains are called </a:t>
            </a:r>
            <a:r>
              <a:rPr lang="en-US" altLang="en-US" sz="2000">
                <a:solidFill>
                  <a:srgbClr val="CC0000"/>
                </a:solidFill>
              </a:rPr>
              <a:t>instance variables</a:t>
            </a:r>
            <a:r>
              <a:rPr lang="en-US" altLang="en-US" sz="2000">
                <a:solidFill>
                  <a:srgbClr val="000000"/>
                </a:solidFill>
              </a:rPr>
              <a:t>. </a:t>
            </a:r>
          </a:p>
          <a:p>
            <a:pPr lvl="1"/>
            <a:r>
              <a:rPr lang="en-US" altLang="en-US" sz="2000">
                <a:solidFill>
                  <a:srgbClr val="000000"/>
                </a:solidFill>
              </a:rPr>
              <a:t>The methods that the object contains are called </a:t>
            </a:r>
            <a:r>
              <a:rPr lang="en-US" altLang="en-US" sz="2000">
                <a:solidFill>
                  <a:srgbClr val="CC0000"/>
                </a:solidFill>
              </a:rPr>
              <a:t>instance methods</a:t>
            </a:r>
            <a:r>
              <a:rPr lang="en-US" altLang="en-US" sz="2000">
                <a:solidFill>
                  <a:srgbClr val="000000"/>
                </a:solidFill>
              </a:rPr>
              <a:t>.</a:t>
            </a:r>
            <a:endParaRPr lang="en-IN" altLang="en-US" sz="2000"/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 Instance  Variable can have one of the four access levels 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Three access modifies – private, public , protected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They have a default value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 b="1"/>
              <a:t>A class variable</a:t>
            </a:r>
            <a:r>
              <a:rPr lang="en-US" altLang="en-US" sz="1800"/>
              <a:t> (or </a:t>
            </a:r>
            <a:r>
              <a:rPr lang="en-US" altLang="en-US" sz="1800" b="1"/>
              <a:t>class method</a:t>
            </a:r>
            <a:r>
              <a:rPr lang="en-US" altLang="en-US" sz="1800"/>
              <a:t>) is a variable (or method) that is associated with the class itself. 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>
            <a:extLst>
              <a:ext uri="{FF2B5EF4-FFF2-40B4-BE49-F238E27FC236}">
                <a16:creationId xmlns:a16="http://schemas.microsoft.com/office/drawing/2014/main" id="{04D6DD34-6CF4-1756-1B11-E72B85FB5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89090" name="Picture 2" descr="Java Method Overloading and Overriding - What really differentiates them? -  TechVidvan">
            <a:extLst>
              <a:ext uri="{FF2B5EF4-FFF2-40B4-BE49-F238E27FC236}">
                <a16:creationId xmlns:a16="http://schemas.microsoft.com/office/drawing/2014/main" id="{0E3DEE0D-C4E2-4517-271C-797814AFA3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74638"/>
            <a:ext cx="8229600" cy="5891212"/>
          </a:xfr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Number Placeholder 5">
            <a:extLst>
              <a:ext uri="{FF2B5EF4-FFF2-40B4-BE49-F238E27FC236}">
                <a16:creationId xmlns:a16="http://schemas.microsoft.com/office/drawing/2014/main" id="{B785C355-2DF1-FAAB-4C72-EFA0F187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0E4C12-C8BE-3641-BC27-5F831B33703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3110FAD8-8221-8507-C50C-42B7E5E4B7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Method  Overloading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EA5CE4B2-15A0-8D06-9E85-8FE5866DC5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Methods of a class  have the same name but different signatures</a:t>
            </a:r>
          </a:p>
          <a:p>
            <a:pPr lvl="1" eaLnBrk="1" hangingPunct="1"/>
            <a:r>
              <a:rPr lang="en-US" altLang="en-US" sz="2000"/>
              <a:t>Similar behavior but for different data types.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 b="1"/>
              <a:t>Signature </a:t>
            </a:r>
          </a:p>
          <a:p>
            <a:pPr lvl="1" eaLnBrk="1" hangingPunct="1"/>
            <a:r>
              <a:rPr lang="en-US" altLang="en-US" sz="1500"/>
              <a:t>Name of the method and the number and types of formal parameters in particular order.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They are independent methods of a class </a:t>
            </a:r>
          </a:p>
          <a:p>
            <a:pPr lvl="1" eaLnBrk="1" hangingPunct="1"/>
            <a:r>
              <a:rPr lang="en-US" altLang="en-US" sz="1500"/>
              <a:t>Can call each other just like any other method.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ko-KR" sz="1800">
                <a:ea typeface="Gulim" panose="020B0600000101010101" pitchFamily="34" charset="-127"/>
              </a:rPr>
              <a:t>A method </a:t>
            </a:r>
            <a:r>
              <a:rPr lang="en-US" altLang="ko-KR" sz="1800" i="1">
                <a:ea typeface="Gulim" panose="020B0600000101010101" pitchFamily="34" charset="-127"/>
              </a:rPr>
              <a:t>can </a:t>
            </a:r>
            <a:r>
              <a:rPr lang="en-US" altLang="ko-KR" sz="1800">
                <a:ea typeface="Gulim" panose="020B0600000101010101" pitchFamily="34" charset="-127"/>
              </a:rPr>
              <a:t>be overloaded in the same class or in a subclass</a:t>
            </a:r>
            <a:r>
              <a:rPr lang="en-US" altLang="ko-KR">
                <a:ea typeface="Gulim" panose="020B0600000101010101" pitchFamily="34" charset="-127"/>
              </a:rPr>
              <a:t>. </a:t>
            </a: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4CEDDEC6-D520-9D62-09FD-D481EAF1D8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Overloading Methods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75CA5701-6B8C-CC16-18E7-917D44F068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Overloaded methods MUST change the argument list.</a:t>
            </a:r>
          </a:p>
          <a:p>
            <a:endParaRPr lang="en-US" altLang="en-US"/>
          </a:p>
          <a:p>
            <a:r>
              <a:rPr lang="en-US" altLang="en-US"/>
              <a:t> Overloaded methods CAN change the return type.</a:t>
            </a:r>
          </a:p>
          <a:p>
            <a:endParaRPr lang="en-US" altLang="en-US"/>
          </a:p>
          <a:p>
            <a:r>
              <a:rPr lang="en-US" altLang="en-US"/>
              <a:t> Overloaded methods CAN change the access modifier.</a:t>
            </a:r>
          </a:p>
          <a:p>
            <a:endParaRPr lang="en-US" altLang="en-US"/>
          </a:p>
          <a:p>
            <a:r>
              <a:rPr lang="en-US" altLang="en-US"/>
              <a:t> Overloaded methods CAN declare new or broader checked exceptions.</a:t>
            </a:r>
          </a:p>
        </p:txBody>
      </p:sp>
      <p:sp>
        <p:nvSpPr>
          <p:cNvPr id="91139" name="Slide Number Placeholder 3">
            <a:extLst>
              <a:ext uri="{FF2B5EF4-FFF2-40B4-BE49-F238E27FC236}">
                <a16:creationId xmlns:a16="http://schemas.microsoft.com/office/drawing/2014/main" id="{0DF63D66-4F78-4349-82C9-207E2491E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E0619F-E810-1348-8EA8-E1B913FEBF0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1CE7226C-B0D9-47E4-1D23-B56DC45865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Flow Control</a:t>
            </a: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EF70043E-8337-0C4C-FF31-0F809F77558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C8BB6D55-A46E-8650-3D7B-3D7E04EE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20A795-D645-914F-984E-4ABFDAF2D3D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B629B153-BCE6-0697-12BD-B37EA4FBC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Control Structures</a:t>
            </a:r>
            <a:br>
              <a:rPr lang="en-US" altLang="en-US" sz="2800" b="1"/>
            </a:br>
            <a:endParaRPr lang="en-US" altLang="en-US" sz="2800" b="1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EF046AE3-03B0-04BC-436B-EBECCE72B7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600"/>
              <a:t>To  change the ordering of  the statements in a  program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/>
          </a:p>
          <a:p>
            <a:pPr eaLnBrk="1" hangingPunct="1">
              <a:lnSpc>
                <a:spcPct val="80000"/>
              </a:lnSpc>
            </a:pPr>
            <a:r>
              <a:rPr lang="en-US" altLang="en-US" sz="1600"/>
              <a:t> Two types of Control Structures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/>
          </a:p>
          <a:p>
            <a:pPr eaLnBrk="1" hangingPunct="1">
              <a:lnSpc>
                <a:spcPct val="80000"/>
              </a:lnSpc>
            </a:pPr>
            <a:r>
              <a:rPr lang="en-US" altLang="en-US" sz="1600">
                <a:solidFill>
                  <a:srgbClr val="000099"/>
                </a:solidFill>
              </a:rPr>
              <a:t> decision control structures ,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>
              <a:solidFill>
                <a:srgbClr val="000099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/>
              <a:t>allows us to select specific sections of code to be executed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600">
              <a:latin typeface="Times New Roman;Courier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b="1">
                <a:latin typeface="Times New Roman;Courier"/>
              </a:rPr>
              <a:t>if -- else , if – else if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b="1">
                <a:latin typeface="Times New Roman;Courier"/>
              </a:rPr>
              <a:t>switch -- case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 sz="1600"/>
              <a:t> </a:t>
            </a:r>
            <a:r>
              <a:rPr lang="en-US" altLang="en-US" sz="1600">
                <a:solidFill>
                  <a:srgbClr val="000099"/>
                </a:solidFill>
              </a:rPr>
              <a:t>repetition control structures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400"/>
          </a:p>
          <a:p>
            <a:pPr lvl="1" eaLnBrk="1" hangingPunct="1">
              <a:lnSpc>
                <a:spcPct val="80000"/>
              </a:lnSpc>
            </a:pPr>
            <a:r>
              <a:rPr lang="en-US" altLang="en-US" sz="1600"/>
              <a:t>allows us to execute specific sections of the code a number of times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600">
              <a:latin typeface="Times New Roman;Courier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 b="1">
                <a:latin typeface="Times New Roman;Courier"/>
              </a:rPr>
              <a:t>while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 b="1">
                <a:latin typeface="Times New Roman;Courier"/>
              </a:rPr>
              <a:t>do -- while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 b="1">
                <a:latin typeface="Times New Roman;Courier"/>
              </a:rPr>
              <a:t>for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800" b="1"/>
          </a:p>
          <a:p>
            <a:pPr eaLnBrk="1" hangingPunct="1">
              <a:lnSpc>
                <a:spcPct val="80000"/>
              </a:lnSpc>
            </a:pPr>
            <a:endParaRPr lang="en-US" altLang="en-US" sz="16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4D48C5EE-34A3-3859-A849-30693366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706205-919F-3A42-8B7B-079AE85372D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9219" name="Rectangle 4">
            <a:extLst>
              <a:ext uri="{FF2B5EF4-FFF2-40B4-BE49-F238E27FC236}">
                <a16:creationId xmlns:a16="http://schemas.microsoft.com/office/drawing/2014/main" id="{2C046B8D-366F-A830-7F5B-867717BFF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352800"/>
            <a:ext cx="4114800" cy="762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423F7C31-174A-F4DF-08B6-913D316B1B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Decision Control Structures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A7B56EFD-9E24-712E-CAC4-E0F01DA1D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Types: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 if-statement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 if-else-statement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 If-else if-statement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If Specifies that a statement or block of code  will be executed if and only if a certain </a:t>
            </a:r>
            <a:r>
              <a:rPr lang="en-US" altLang="en-US" sz="2000" b="1"/>
              <a:t>boolean</a:t>
            </a:r>
            <a:r>
              <a:rPr lang="en-US" altLang="en-US" sz="2000"/>
              <a:t> statement is true.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if( boolean_expression )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statement;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or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if( boolean_expression ){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statement1;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statement2;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b="1"/>
              <a:t>boolean_expression</a:t>
            </a:r>
            <a:r>
              <a:rPr lang="en-US" altLang="en-US" sz="2000"/>
              <a:t> : can be an expression or variable.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D4765851-A9CC-BDCE-7612-2041F764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7371EA-722B-A343-99ED-B1499E21D872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52942EB-C2CF-F1F0-E983-DC9032ECC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if-else statement</a:t>
            </a:r>
            <a:br>
              <a:rPr lang="en-US" altLang="en-US" sz="2800" b="1"/>
            </a:br>
            <a:endParaRPr lang="en-US" altLang="en-US" sz="2800" b="1"/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C7D904C5-AEC7-2387-DBE5-551AB51EFB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46125"/>
            <a:ext cx="8229600" cy="53641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AFA344C6-6029-5BBE-A6DB-211B5927B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14400"/>
            <a:ext cx="3886200" cy="20367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</a:t>
            </a:r>
            <a:r>
              <a:rPr lang="en-US" altLang="en-US" sz="1800" b="0">
                <a:latin typeface="Courier New" panose="02070309020205020404" pitchFamily="49" charset="0"/>
              </a:rPr>
              <a:t>(age</a:t>
            </a:r>
            <a:r>
              <a:rPr lang="en-US" altLang="en-US" sz="1800">
                <a:solidFill>
                  <a:srgbClr val="FF0000"/>
                </a:solidFill>
                <a:latin typeface="Courier New" panose="02070309020205020404" pitchFamily="49" charset="0"/>
              </a:rPr>
              <a:t>==</a:t>
            </a:r>
            <a:r>
              <a:rPr lang="en-US" altLang="en-US" sz="1800" b="0">
                <a:latin typeface="Courier New" panose="02070309020205020404" pitchFamily="49" charset="0"/>
              </a:rPr>
              <a:t>12)</a:t>
            </a: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 else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id="{AE57F83B-7AF6-E752-3F6D-82F94AA09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914400"/>
            <a:ext cx="3962400" cy="1905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</a:t>
            </a:r>
            <a:r>
              <a:rPr lang="en-US" altLang="en-US" sz="1800" b="0">
                <a:latin typeface="Courier New" panose="02070309020205020404" pitchFamily="49" charset="0"/>
              </a:rPr>
              <a:t>(</a:t>
            </a:r>
            <a:r>
              <a:rPr lang="en-US" altLang="en-US" sz="1800">
                <a:latin typeface="Courier New" panose="02070309020205020404" pitchFamily="49" charset="0"/>
              </a:rPr>
              <a:t>boolean_exp1</a:t>
            </a:r>
            <a:r>
              <a:rPr lang="en-US" altLang="en-US" sz="1800" b="0">
                <a:latin typeface="Courier New" panose="02070309020205020404" pitchFamily="49" charset="0"/>
              </a:rPr>
              <a:t> </a:t>
            </a:r>
            <a:r>
              <a:rPr lang="en-US" altLang="en-US" sz="1800">
                <a:latin typeface="Courier New" panose="02070309020205020404" pitchFamily="49" charset="0"/>
              </a:rPr>
              <a:t>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statement1;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 if</a:t>
            </a:r>
            <a:r>
              <a:rPr lang="en-US" altLang="en-US" sz="1800" b="0">
                <a:latin typeface="Courier New" panose="02070309020205020404" pitchFamily="49" charset="0"/>
              </a:rPr>
              <a:t>(</a:t>
            </a:r>
            <a:r>
              <a:rPr lang="en-US" altLang="en-US" sz="1800">
                <a:latin typeface="Courier New" panose="02070309020205020404" pitchFamily="49" charset="0"/>
              </a:rPr>
              <a:t>boolean_exp2</a:t>
            </a:r>
            <a:r>
              <a:rPr lang="en-US" altLang="en-US" sz="1800" b="0">
                <a:latin typeface="Courier New" panose="02070309020205020404" pitchFamily="49" charset="0"/>
              </a:rPr>
              <a:t>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statement2;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statement3</a:t>
            </a:r>
            <a:r>
              <a:rPr lang="en-US" altLang="en-US" sz="1800" b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1271" name="Rectangle 6">
            <a:extLst>
              <a:ext uri="{FF2B5EF4-FFF2-40B4-BE49-F238E27FC236}">
                <a16:creationId xmlns:a16="http://schemas.microsoft.com/office/drawing/2014/main" id="{307DD760-192E-FA2B-EC15-4ECA418CF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2100" y="5024438"/>
            <a:ext cx="6324600" cy="122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itchFamily="2" charset="2"/>
              <a:buChar char="v"/>
            </a:pPr>
            <a:r>
              <a:rPr lang="en-US" altLang="en-US" sz="1800" b="0"/>
              <a:t> For Comparison</a:t>
            </a:r>
            <a:r>
              <a:rPr lang="en-US" altLang="en-US" sz="1800"/>
              <a:t> </a:t>
            </a:r>
            <a:r>
              <a:rPr lang="en-US" altLang="en-US" sz="2000"/>
              <a:t>==</a:t>
            </a:r>
            <a:r>
              <a:rPr lang="en-US" altLang="en-US" sz="1800"/>
              <a:t> </a:t>
            </a:r>
            <a:r>
              <a:rPr lang="en-US" altLang="en-US" sz="1800" b="0"/>
              <a:t>used instead</a:t>
            </a:r>
            <a:r>
              <a:rPr lang="en-US" altLang="en-US" sz="1800"/>
              <a:t> </a:t>
            </a:r>
            <a:r>
              <a:rPr lang="en-US" altLang="en-US" sz="2000" b="0"/>
              <a:t>=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Char char="v"/>
            </a:pPr>
            <a:r>
              <a:rPr lang="en-US" altLang="en-US" sz="1800"/>
              <a:t> = </a:t>
            </a:r>
            <a:r>
              <a:rPr lang="en-US" altLang="en-US" sz="1800" b="0"/>
              <a:t>being an assignment operator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Char char="v"/>
            </a:pPr>
            <a:r>
              <a:rPr lang="en-US" altLang="en-US" sz="1800"/>
              <a:t> equals</a:t>
            </a:r>
            <a:r>
              <a:rPr lang="en-US" altLang="en-US" sz="1800" b="0"/>
              <a:t> Method Should Be Used for </a:t>
            </a:r>
            <a:r>
              <a:rPr lang="en-US" altLang="en-US" sz="1800"/>
              <a:t>Objects</a:t>
            </a:r>
            <a:r>
              <a:rPr lang="en-US" altLang="en-US" sz="1800" b="0"/>
              <a:t> comparison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11272" name="Rectangle 4">
            <a:extLst>
              <a:ext uri="{FF2B5EF4-FFF2-40B4-BE49-F238E27FC236}">
                <a16:creationId xmlns:a16="http://schemas.microsoft.com/office/drawing/2014/main" id="{EB1500E0-4D5C-67D2-B76A-9B41989B9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1300" y="3200400"/>
            <a:ext cx="3886200" cy="15033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</a:t>
            </a:r>
            <a:r>
              <a:rPr lang="en-US" altLang="en-US" sz="1800" b="0">
                <a:latin typeface="Courier New" panose="02070309020205020404" pitchFamily="49" charset="0"/>
              </a:rPr>
              <a:t>(str.</a:t>
            </a:r>
            <a:r>
              <a:rPr lang="en-US" altLang="en-US" sz="1800">
                <a:solidFill>
                  <a:srgbClr val="FF0000"/>
                </a:solidFill>
                <a:latin typeface="Courier New" panose="02070309020205020404" pitchFamily="49" charset="0"/>
              </a:rPr>
              <a:t>equals</a:t>
            </a:r>
            <a:r>
              <a:rPr lang="en-US" altLang="en-US" sz="1800" b="0">
                <a:latin typeface="Courier New" panose="02070309020205020404" pitchFamily="49" charset="0"/>
              </a:rPr>
              <a:t>(“ok”))</a:t>
            </a: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 else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EF0A0C44-440F-E62E-45F0-3ADAADB2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61EDB3-5A86-964B-98B3-BB5813CDB50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13315" name="Rectangle 1026">
            <a:extLst>
              <a:ext uri="{FF2B5EF4-FFF2-40B4-BE49-F238E27FC236}">
                <a16:creationId xmlns:a16="http://schemas.microsoft.com/office/drawing/2014/main" id="{3DDCA2E7-0BA7-1F21-9B49-462B7FB6AC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switch-statement</a:t>
            </a:r>
            <a:br>
              <a:rPr lang="en-US" altLang="en-US" sz="2800" b="1"/>
            </a:br>
            <a:endParaRPr lang="en-US" altLang="en-US" sz="2800" b="1"/>
          </a:p>
        </p:txBody>
      </p:sp>
      <p:sp>
        <p:nvSpPr>
          <p:cNvPr id="13316" name="Rectangle 1027">
            <a:extLst>
              <a:ext uri="{FF2B5EF4-FFF2-40B4-BE49-F238E27FC236}">
                <a16:creationId xmlns:a16="http://schemas.microsoft.com/office/drawing/2014/main" id="{B2C51EB4-D32E-167A-6FF0-2654FDC8A4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491413" cy="51720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1800"/>
              <a:t>Allows branching on multiple outcomes.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800"/>
              <a:t>switch expression  is an integer ,character expression or variable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800"/>
              <a:t>case_selector1, case_selector2 and unique integer or character constants.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800"/>
              <a:t>If none of the cases are satisfied, the optional default block if present  is executed</a:t>
            </a:r>
            <a:r>
              <a:rPr lang="en-US" altLang="en-US" sz="2000"/>
              <a:t>.</a:t>
            </a:r>
            <a:endParaRPr lang="en-US" altLang="en-US"/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3317" name="Rectangle 1028">
            <a:extLst>
              <a:ext uri="{FF2B5EF4-FFF2-40B4-BE49-F238E27FC236}">
                <a16:creationId xmlns:a16="http://schemas.microsoft.com/office/drawing/2014/main" id="{C405B899-E5DA-9BE8-1AAD-C1C601141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657600"/>
            <a:ext cx="5410200" cy="2667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2"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latin typeface="Courier New" panose="02070309020205020404" pitchFamily="49" charset="0"/>
            </a:endParaRP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switch</a:t>
            </a:r>
            <a:r>
              <a:rPr lang="en-US" altLang="en-US" sz="1800" b="0">
                <a:latin typeface="Courier New" panose="02070309020205020404" pitchFamily="49" charset="0"/>
              </a:rPr>
              <a:t>( switch_expression ){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case</a:t>
            </a:r>
            <a:r>
              <a:rPr lang="en-US" altLang="en-US" sz="1800" b="0">
                <a:latin typeface="Courier New" panose="02070309020205020404" pitchFamily="49" charset="0"/>
              </a:rPr>
              <a:t> case_selector1: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break</a:t>
            </a:r>
            <a:r>
              <a:rPr lang="en-US" altLang="en-US" sz="1800" b="0">
                <a:latin typeface="Courier New" panose="02070309020205020404" pitchFamily="49" charset="0"/>
              </a:rPr>
              <a:t>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case</a:t>
            </a:r>
            <a:r>
              <a:rPr lang="en-US" altLang="en-US" sz="1800" b="0">
                <a:latin typeface="Courier New" panose="02070309020205020404" pitchFamily="49" charset="0"/>
              </a:rPr>
              <a:t> case_selector2: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break</a:t>
            </a:r>
            <a:r>
              <a:rPr lang="en-US" altLang="en-US" sz="1800" b="0">
                <a:latin typeface="Courier New" panose="02070309020205020404" pitchFamily="49" charset="0"/>
              </a:rPr>
              <a:t>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default</a:t>
            </a:r>
            <a:r>
              <a:rPr lang="en-US" altLang="en-US" sz="1800" b="0">
                <a:latin typeface="Courier New" panose="02070309020205020404" pitchFamily="49" charset="0"/>
              </a:rPr>
              <a:t>: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statement1;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1A9E91FA-51BA-F28B-8EDF-0DFE47D08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Switch-Case Java 7.0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CB467-DDC4-0C2A-81DD-8E18E0535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From In Java SE 7 and later, can use a String object in the switch statement's expression. </a:t>
            </a:r>
          </a:p>
          <a:p>
            <a:pPr>
              <a:defRPr/>
            </a:pPr>
            <a:r>
              <a:rPr lang="en-US" sz="2000" dirty="0"/>
              <a:t>The String in the switch expression is compared with the expressions associated with each case label as if the String.equals method were being used. </a:t>
            </a:r>
          </a:p>
          <a:p>
            <a:pPr>
              <a:defRPr/>
            </a:pPr>
            <a:r>
              <a:rPr lang="en-US" sz="2000" dirty="0"/>
              <a:t>Will Throw a Null pointer Expression  if the expression is NULL</a:t>
            </a:r>
          </a:p>
          <a:p>
            <a:pPr>
              <a:defRPr/>
            </a:pPr>
            <a:endParaRPr lang="en-US" sz="2000" dirty="0"/>
          </a:p>
          <a:p>
            <a:pPr lvl="1">
              <a:buFontTx/>
              <a:buNone/>
              <a:defRPr/>
            </a:pPr>
            <a:r>
              <a:rPr lang="en-US" sz="1600" dirty="0"/>
              <a:t>String color = "red"; </a:t>
            </a:r>
          </a:p>
          <a:p>
            <a:pPr lvl="1">
              <a:buFontTx/>
              <a:buNone/>
              <a:defRPr/>
            </a:pPr>
            <a:r>
              <a:rPr lang="en-US" sz="1600" dirty="0"/>
              <a:t>switch (</a:t>
            </a:r>
            <a:r>
              <a:rPr lang="en-US" sz="1600" b="1" dirty="0"/>
              <a:t>color</a:t>
            </a:r>
            <a:r>
              <a:rPr lang="en-US" sz="1600" dirty="0"/>
              <a:t>) { </a:t>
            </a:r>
          </a:p>
          <a:p>
            <a:pPr lvl="1">
              <a:buFontTx/>
              <a:buNone/>
              <a:defRPr/>
            </a:pPr>
            <a:r>
              <a:rPr lang="en-US" sz="1600" b="1" dirty="0"/>
              <a:t>case "red": </a:t>
            </a:r>
          </a:p>
          <a:p>
            <a:pPr lvl="1">
              <a:buFontTx/>
              <a:buNone/>
              <a:defRPr/>
            </a:pPr>
            <a:r>
              <a:rPr lang="en-US" sz="1600" dirty="0" err="1"/>
              <a:t>System.out.println</a:t>
            </a:r>
            <a:r>
              <a:rPr lang="en-US" sz="1600" dirty="0"/>
              <a:t>("Color is Red");</a:t>
            </a:r>
          </a:p>
          <a:p>
            <a:pPr lvl="1">
              <a:buFontTx/>
              <a:buNone/>
              <a:defRPr/>
            </a:pPr>
            <a:r>
              <a:rPr lang="en-US" sz="1600" dirty="0"/>
              <a:t> break; </a:t>
            </a:r>
          </a:p>
          <a:p>
            <a:pPr lvl="1">
              <a:buFontTx/>
              <a:buNone/>
              <a:defRPr/>
            </a:pPr>
            <a:r>
              <a:rPr lang="en-US" sz="1600" dirty="0"/>
              <a:t>default: </a:t>
            </a:r>
          </a:p>
          <a:p>
            <a:pPr lvl="1">
              <a:buFontTx/>
              <a:buNone/>
              <a:defRPr/>
            </a:pPr>
            <a:r>
              <a:rPr lang="en-US" sz="1600" dirty="0" err="1"/>
              <a:t>System.out.println</a:t>
            </a:r>
            <a:r>
              <a:rPr lang="en-US" sz="1600" dirty="0"/>
              <a:t>("Color not found"); </a:t>
            </a:r>
          </a:p>
          <a:p>
            <a:pPr lvl="1">
              <a:buFontTx/>
              <a:buNone/>
              <a:defRPr/>
            </a:pPr>
            <a:r>
              <a:rPr lang="en-US" sz="1600" dirty="0"/>
              <a:t>} </a:t>
            </a:r>
            <a:endParaRPr lang="en-US" sz="1600" dirty="0">
              <a:ea typeface="+mn-ea"/>
              <a:cs typeface="+mn-cs"/>
            </a:endParaRP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A29EF099-17F3-9F45-56C2-AF7AD831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49EF82-9157-E848-BED7-3554D45AE7D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5F2C52E-2562-473B-5D8D-02BAF3C3666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INHERITANCE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F79F221-32B5-AA01-BBC6-5B8D7D3882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20794345-5C10-1540-5DC3-53CDB6A3C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761546-0B7A-814B-84E3-B832E948591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35843" name="Rectangle 1026">
            <a:extLst>
              <a:ext uri="{FF2B5EF4-FFF2-40B4-BE49-F238E27FC236}">
                <a16:creationId xmlns:a16="http://schemas.microsoft.com/office/drawing/2014/main" id="{0B75C957-2F70-68D1-C555-44E3B9E59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914400"/>
            <a:ext cx="7788275" cy="1495425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A class can inherit from another class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800"/>
              <a:t>Original class is the “superclass”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800"/>
              <a:t>New class is called the “subclass”</a:t>
            </a:r>
          </a:p>
          <a:p>
            <a:pPr marL="0" indent="0" defTabSz="346075" eaLnBrk="1" hangingPunct="1">
              <a:tabLst>
                <a:tab pos="571500" algn="l"/>
              </a:tabLst>
            </a:pPr>
            <a:r>
              <a:rPr lang="en-US" altLang="en-US"/>
              <a:t>Inheritance is a fundamental OO concept</a:t>
            </a:r>
          </a:p>
        </p:txBody>
      </p:sp>
      <p:sp>
        <p:nvSpPr>
          <p:cNvPr id="35844" name="Rectangle 1027">
            <a:extLst>
              <a:ext uri="{FF2B5EF4-FFF2-40B4-BE49-F238E27FC236}">
                <a16:creationId xmlns:a16="http://schemas.microsoft.com/office/drawing/2014/main" id="{58562D8F-091C-FEE2-6B4C-3660AB0D6E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Overview</a:t>
            </a:r>
          </a:p>
        </p:txBody>
      </p:sp>
      <p:grpSp>
        <p:nvGrpSpPr>
          <p:cNvPr id="35845" name="Group 1028">
            <a:extLst>
              <a:ext uri="{FF2B5EF4-FFF2-40B4-BE49-F238E27FC236}">
                <a16:creationId xmlns:a16="http://schemas.microsoft.com/office/drawing/2014/main" id="{8ABF2F72-79F1-A1CE-AE3D-038EDCF156D9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657600"/>
            <a:ext cx="7258050" cy="1765300"/>
            <a:chOff x="480" y="2160"/>
            <a:chExt cx="4572" cy="1112"/>
          </a:xfrm>
        </p:grpSpPr>
        <p:sp>
          <p:nvSpPr>
            <p:cNvPr id="35846" name="Line 1029">
              <a:extLst>
                <a:ext uri="{FF2B5EF4-FFF2-40B4-BE49-F238E27FC236}">
                  <a16:creationId xmlns:a16="http://schemas.microsoft.com/office/drawing/2014/main" id="{C3371A21-0E4E-3099-6E9E-7A400C89ED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4" y="2628"/>
              <a:ext cx="0" cy="372"/>
            </a:xfrm>
            <a:prstGeom prst="line">
              <a:avLst/>
            </a:prstGeom>
            <a:noFill/>
            <a:ln w="50800">
              <a:solidFill>
                <a:srgbClr val="7BEAEA"/>
              </a:solidFill>
              <a:round/>
              <a:headEnd type="none" w="sm" len="sm"/>
              <a:tailEnd type="stealth" w="med" len="lg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7" name="Line 1030">
              <a:extLst>
                <a:ext uri="{FF2B5EF4-FFF2-40B4-BE49-F238E27FC236}">
                  <a16:creationId xmlns:a16="http://schemas.microsoft.com/office/drawing/2014/main" id="{403C8125-27A6-1EBB-00B0-E5CD1D26BB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4" y="2664"/>
              <a:ext cx="600" cy="408"/>
            </a:xfrm>
            <a:prstGeom prst="line">
              <a:avLst/>
            </a:prstGeom>
            <a:noFill/>
            <a:ln w="50800">
              <a:solidFill>
                <a:srgbClr val="7BEAEA"/>
              </a:solidFill>
              <a:round/>
              <a:headEnd type="none" w="sm" len="sm"/>
              <a:tailEnd type="stealth" w="med" len="lg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8" name="Line 1031">
              <a:extLst>
                <a:ext uri="{FF2B5EF4-FFF2-40B4-BE49-F238E27FC236}">
                  <a16:creationId xmlns:a16="http://schemas.microsoft.com/office/drawing/2014/main" id="{D9C8A420-47F7-8F7A-D33D-3F2B5CA5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64" y="2664"/>
              <a:ext cx="600" cy="408"/>
            </a:xfrm>
            <a:prstGeom prst="line">
              <a:avLst/>
            </a:prstGeom>
            <a:noFill/>
            <a:ln w="50800">
              <a:solidFill>
                <a:srgbClr val="7BEAEA"/>
              </a:solidFill>
              <a:round/>
              <a:headEnd type="none" w="sm" len="sm"/>
              <a:tailEnd type="stealth" w="med" len="lg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9" name="Rectangle 1032">
              <a:extLst>
                <a:ext uri="{FF2B5EF4-FFF2-40B4-BE49-F238E27FC236}">
                  <a16:creationId xmlns:a16="http://schemas.microsoft.com/office/drawing/2014/main" id="{176BBBF4-C0FE-D4EE-FC69-863F500FC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2380"/>
              <a:ext cx="1194" cy="280"/>
            </a:xfrm>
            <a:prstGeom prst="rect">
              <a:avLst/>
            </a:prstGeom>
            <a:gradFill rotWithShape="0">
              <a:gsLst>
                <a:gs pos="0">
                  <a:srgbClr val="C6C6C6"/>
                </a:gs>
                <a:gs pos="50000">
                  <a:srgbClr val="DDDDDD"/>
                </a:gs>
                <a:gs pos="100000">
                  <a:srgbClr val="C6C6C6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en-US">
                  <a:solidFill>
                    <a:schemeClr val="bg2"/>
                  </a:solidFill>
                  <a:latin typeface="Courier New" panose="02070309020205020404" pitchFamily="49" charset="0"/>
                </a:rPr>
                <a:t>Car</a:t>
              </a:r>
            </a:p>
          </p:txBody>
        </p:sp>
        <p:sp>
          <p:nvSpPr>
            <p:cNvPr id="35850" name="Rectangle 1033">
              <a:extLst>
                <a:ext uri="{FF2B5EF4-FFF2-40B4-BE49-F238E27FC236}">
                  <a16:creationId xmlns:a16="http://schemas.microsoft.com/office/drawing/2014/main" id="{E3128678-8C46-BEC5-AB4F-A4036B350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" y="2992"/>
              <a:ext cx="1194" cy="280"/>
            </a:xfrm>
            <a:prstGeom prst="rect">
              <a:avLst/>
            </a:prstGeom>
            <a:gradFill rotWithShape="0">
              <a:gsLst>
                <a:gs pos="0">
                  <a:srgbClr val="C6C6C6"/>
                </a:gs>
                <a:gs pos="50000">
                  <a:srgbClr val="DDDDDD"/>
                </a:gs>
                <a:gs pos="100000">
                  <a:srgbClr val="C6C6C6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en-US">
                  <a:solidFill>
                    <a:schemeClr val="bg2"/>
                  </a:solidFill>
                  <a:latin typeface="Courier New" panose="02070309020205020404" pitchFamily="49" charset="0"/>
                </a:rPr>
                <a:t>SportsCar</a:t>
              </a:r>
            </a:p>
          </p:txBody>
        </p:sp>
        <p:sp>
          <p:nvSpPr>
            <p:cNvPr id="35851" name="Rectangle 1034">
              <a:extLst>
                <a:ext uri="{FF2B5EF4-FFF2-40B4-BE49-F238E27FC236}">
                  <a16:creationId xmlns:a16="http://schemas.microsoft.com/office/drawing/2014/main" id="{91715267-C5A7-51A1-1597-DE06950EE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2992"/>
              <a:ext cx="1194" cy="280"/>
            </a:xfrm>
            <a:prstGeom prst="rect">
              <a:avLst/>
            </a:prstGeom>
            <a:gradFill rotWithShape="0">
              <a:gsLst>
                <a:gs pos="0">
                  <a:srgbClr val="C6C6C6"/>
                </a:gs>
                <a:gs pos="50000">
                  <a:srgbClr val="DDDDDD"/>
                </a:gs>
                <a:gs pos="100000">
                  <a:srgbClr val="C6C6C6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en-US">
                  <a:solidFill>
                    <a:schemeClr val="bg2"/>
                  </a:solidFill>
                  <a:latin typeface="Courier New" panose="02070309020205020404" pitchFamily="49" charset="0"/>
                </a:rPr>
                <a:t>Taxi</a:t>
              </a:r>
            </a:p>
          </p:txBody>
        </p:sp>
        <p:sp>
          <p:nvSpPr>
            <p:cNvPr id="35852" name="Rectangle 1035">
              <a:extLst>
                <a:ext uri="{FF2B5EF4-FFF2-40B4-BE49-F238E27FC236}">
                  <a16:creationId xmlns:a16="http://schemas.microsoft.com/office/drawing/2014/main" id="{1A9AE99B-E27D-CA0D-E779-547B312EB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8" y="2992"/>
              <a:ext cx="1194" cy="280"/>
            </a:xfrm>
            <a:prstGeom prst="rect">
              <a:avLst/>
            </a:prstGeom>
            <a:gradFill rotWithShape="0">
              <a:gsLst>
                <a:gs pos="0">
                  <a:srgbClr val="C6C6C6"/>
                </a:gs>
                <a:gs pos="50000">
                  <a:srgbClr val="DDDDDD"/>
                </a:gs>
                <a:gs pos="100000">
                  <a:srgbClr val="C6C6C6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en-US">
                  <a:solidFill>
                    <a:schemeClr val="bg2"/>
                  </a:solidFill>
                  <a:latin typeface="Courier New" panose="02070309020205020404" pitchFamily="49" charset="0"/>
                </a:rPr>
                <a:t>PoliceCar</a:t>
              </a:r>
            </a:p>
          </p:txBody>
        </p:sp>
        <p:sp>
          <p:nvSpPr>
            <p:cNvPr id="35853" name="Rectangle 1036">
              <a:extLst>
                <a:ext uri="{FF2B5EF4-FFF2-40B4-BE49-F238E27FC236}">
                  <a16:creationId xmlns:a16="http://schemas.microsoft.com/office/drawing/2014/main" id="{27F10DB8-8277-CB42-7B4E-91067CCC2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" y="2160"/>
              <a:ext cx="99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46075">
                <a:spcBef>
                  <a:spcPct val="20000"/>
                </a:spcBef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35000"/>
                </a:spcBef>
                <a:buFontTx/>
                <a:buNone/>
              </a:pPr>
              <a:r>
                <a:rPr kumimoji="1" lang="en-US" altLang="en-US" sz="2000" b="0" i="1"/>
                <a:t>Superclass</a:t>
              </a:r>
            </a:p>
          </p:txBody>
        </p:sp>
        <p:sp>
          <p:nvSpPr>
            <p:cNvPr id="35854" name="Rectangle 1037">
              <a:extLst>
                <a:ext uri="{FF2B5EF4-FFF2-40B4-BE49-F238E27FC236}">
                  <a16:creationId xmlns:a16="http://schemas.microsoft.com/office/drawing/2014/main" id="{EDFD50BD-EF89-CE56-DE6E-7F8C182AF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779"/>
              <a:ext cx="107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46075">
                <a:spcBef>
                  <a:spcPct val="20000"/>
                </a:spcBef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35000"/>
                </a:spcBef>
                <a:buFontTx/>
                <a:buNone/>
              </a:pPr>
              <a:r>
                <a:rPr kumimoji="1" lang="en-US" altLang="en-US" sz="2000" b="0" i="1"/>
                <a:t>Subclasses</a:t>
              </a:r>
            </a:p>
          </p:txBody>
        </p:sp>
      </p:grp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811CAAE2-71C7-63E4-00CF-C9767DBA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617CD2-CC68-5F48-81B0-9BFDE6EDBB5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48BC1C9A-073A-353A-7A6F-388CCE207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What Does an Object Look Like?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7857C2C8-9859-9FE5-3CBE-2121BB8698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9125" y="1066800"/>
            <a:ext cx="7975600" cy="822325"/>
          </a:xfrm>
          <a:noFill/>
        </p:spPr>
        <p:txBody>
          <a:bodyPr lIns="92075" tIns="46038" rIns="92075" bIns="46038">
            <a:spAutoFit/>
          </a:bodyPr>
          <a:lstStyle/>
          <a:p>
            <a:pPr marL="0" indent="0" defTabSz="346075" eaLnBrk="1" hangingPunct="1">
              <a:buFontTx/>
              <a:buNone/>
              <a:tabLst>
                <a:tab pos="571500" algn="l"/>
              </a:tabLst>
            </a:pPr>
            <a:r>
              <a:rPr lang="en-US" altLang="en-US"/>
              <a:t>A subclass inherits all the instance variables of its superclass</a:t>
            </a:r>
          </a:p>
        </p:txBody>
      </p:sp>
      <p:sp>
        <p:nvSpPr>
          <p:cNvPr id="41989" name="Rectangle 4">
            <a:extLst>
              <a:ext uri="{FF2B5EF4-FFF2-40B4-BE49-F238E27FC236}">
                <a16:creationId xmlns:a16="http://schemas.microsoft.com/office/drawing/2014/main" id="{339179C3-FA6D-B566-E7DD-53BB828BE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2746375"/>
            <a:ext cx="4570412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String regNum;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int engineSize; 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1990" name="Rectangle 5">
            <a:extLst>
              <a:ext uri="{FF2B5EF4-FFF2-40B4-BE49-F238E27FC236}">
                <a16:creationId xmlns:a16="http://schemas.microsoft.com/office/drawing/2014/main" id="{46122F7D-EC55-4B63-77DE-F0D464F59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4783138"/>
            <a:ext cx="4570412" cy="11303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private int cabNum; 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1991" name="AutoShape 6">
            <a:extLst>
              <a:ext uri="{FF2B5EF4-FFF2-40B4-BE49-F238E27FC236}">
                <a16:creationId xmlns:a16="http://schemas.microsoft.com/office/drawing/2014/main" id="{07E40136-6255-BDDA-927F-81FDA9900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25" y="2755900"/>
            <a:ext cx="2009775" cy="958850"/>
          </a:xfrm>
          <a:prstGeom prst="cube">
            <a:avLst>
              <a:gd name="adj" fmla="val 20894"/>
            </a:avLst>
          </a:prstGeom>
          <a:gradFill rotWithShape="0">
            <a:gsLst>
              <a:gs pos="0">
                <a:srgbClr val="BDD2DF"/>
              </a:gs>
              <a:gs pos="50000">
                <a:srgbClr val="D3EAF8"/>
              </a:gs>
              <a:gs pos="100000">
                <a:srgbClr val="BDD2DF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2" name="Rectangle 7">
            <a:extLst>
              <a:ext uri="{FF2B5EF4-FFF2-40B4-BE49-F238E27FC236}">
                <a16:creationId xmlns:a16="http://schemas.microsoft.com/office/drawing/2014/main" id="{643DC25A-F196-C9AE-50AE-F6FE125D0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2994025"/>
            <a:ext cx="159385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regNum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engineSize</a:t>
            </a:r>
          </a:p>
        </p:txBody>
      </p:sp>
      <p:sp>
        <p:nvSpPr>
          <p:cNvPr id="41993" name="AutoShape 8">
            <a:extLst>
              <a:ext uri="{FF2B5EF4-FFF2-40B4-BE49-F238E27FC236}">
                <a16:creationId xmlns:a16="http://schemas.microsoft.com/office/drawing/2014/main" id="{CB384F2C-5108-B875-FEE9-8A310274D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5172075"/>
            <a:ext cx="2027238" cy="942975"/>
          </a:xfrm>
          <a:prstGeom prst="cube">
            <a:avLst>
              <a:gd name="adj" fmla="val 24995"/>
            </a:avLst>
          </a:prstGeom>
          <a:gradFill rotWithShape="0">
            <a:gsLst>
              <a:gs pos="0">
                <a:srgbClr val="D8B796"/>
              </a:gs>
              <a:gs pos="50000">
                <a:srgbClr val="F1CCA7"/>
              </a:gs>
              <a:gs pos="100000">
                <a:srgbClr val="D8B796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chemeClr val="bg2"/>
                </a:solidFill>
              </a:rPr>
              <a:t>cabNum</a:t>
            </a:r>
          </a:p>
        </p:txBody>
      </p:sp>
      <p:sp>
        <p:nvSpPr>
          <p:cNvPr id="41994" name="AutoShape 9">
            <a:extLst>
              <a:ext uri="{FF2B5EF4-FFF2-40B4-BE49-F238E27FC236}">
                <a16:creationId xmlns:a16="http://schemas.microsoft.com/office/drawing/2014/main" id="{91C604E9-1F4C-3DC2-9E7F-97F9EB819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4427538"/>
            <a:ext cx="2006600" cy="963612"/>
          </a:xfrm>
          <a:prstGeom prst="cube">
            <a:avLst>
              <a:gd name="adj" fmla="val 21995"/>
            </a:avLst>
          </a:prstGeom>
          <a:gradFill rotWithShape="0">
            <a:gsLst>
              <a:gs pos="0">
                <a:srgbClr val="BDD2DF"/>
              </a:gs>
              <a:gs pos="50000">
                <a:srgbClr val="D3EAF8"/>
              </a:gs>
              <a:gs pos="100000">
                <a:srgbClr val="BDD2DF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5" name="Rectangle 10">
            <a:extLst>
              <a:ext uri="{FF2B5EF4-FFF2-40B4-BE49-F238E27FC236}">
                <a16:creationId xmlns:a16="http://schemas.microsoft.com/office/drawing/2014/main" id="{D99CADE6-E685-DAE6-B7A3-8922C4CFF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313" y="4672013"/>
            <a:ext cx="159385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regNum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engineSize</a:t>
            </a:r>
          </a:p>
        </p:txBody>
      </p:sp>
      <p:sp>
        <p:nvSpPr>
          <p:cNvPr id="41996" name="Rectangle 11">
            <a:extLst>
              <a:ext uri="{FF2B5EF4-FFF2-40B4-BE49-F238E27FC236}">
                <a16:creationId xmlns:a16="http://schemas.microsoft.com/office/drawing/2014/main" id="{7E4300F7-7F86-C6CA-2494-20C25A61F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7263" y="2379663"/>
            <a:ext cx="15763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46075">
              <a:spcBef>
                <a:spcPct val="20000"/>
              </a:spcBef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kumimoji="1" lang="en-US" altLang="en-US" sz="2000" i="1">
                <a:latin typeface="Courier New" panose="02070309020205020404" pitchFamily="49" charset="0"/>
              </a:rPr>
              <a:t>Car</a:t>
            </a:r>
            <a:r>
              <a:rPr kumimoji="1" lang="en-US" altLang="en-US" sz="2000" i="1"/>
              <a:t> object</a:t>
            </a:r>
          </a:p>
        </p:txBody>
      </p:sp>
      <p:sp>
        <p:nvSpPr>
          <p:cNvPr id="41997" name="Rectangle 12">
            <a:extLst>
              <a:ext uri="{FF2B5EF4-FFF2-40B4-BE49-F238E27FC236}">
                <a16:creationId xmlns:a16="http://schemas.microsoft.com/office/drawing/2014/main" id="{6CA8D73B-8E3F-373A-2FE5-AF6935918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038600"/>
            <a:ext cx="18621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46075">
              <a:spcBef>
                <a:spcPct val="20000"/>
              </a:spcBef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kumimoji="1" lang="en-US" altLang="en-US" sz="2000" i="1">
                <a:latin typeface="Courier New" panose="02070309020205020404" pitchFamily="49" charset="0"/>
              </a:rPr>
              <a:t>Taxi</a:t>
            </a:r>
            <a:r>
              <a:rPr kumimoji="1" lang="en-US" altLang="en-US" sz="2000" i="1"/>
              <a:t> object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5B7B33A7-A5C3-AE18-DD0F-A43A81BF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DE8C0C-A4D3-244C-A2EF-0EBFC5A7974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4E29CD7C-6CB3-DE19-07EA-71E101D1B5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Default Initialization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AF12C0F7-1FBA-F22F-FE85-A94740E8C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539038" cy="3284538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What happens when a subclass object is created?</a:t>
            </a:r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 sz="2800"/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/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/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/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If no constructors are defined: 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No-arg constructor is called in superclass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800"/>
              <a:t>No-arg constructor called in subclass</a:t>
            </a:r>
          </a:p>
        </p:txBody>
      </p:sp>
      <p:sp>
        <p:nvSpPr>
          <p:cNvPr id="44037" name="AutoShape 4">
            <a:extLst>
              <a:ext uri="{FF2B5EF4-FFF2-40B4-BE49-F238E27FC236}">
                <a16:creationId xmlns:a16="http://schemas.microsoft.com/office/drawing/2014/main" id="{71140D06-85E5-0FC7-54C6-108F5EE78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3178175"/>
            <a:ext cx="2036763" cy="942975"/>
          </a:xfrm>
          <a:prstGeom prst="cube">
            <a:avLst>
              <a:gd name="adj" fmla="val 24995"/>
            </a:avLst>
          </a:prstGeom>
          <a:gradFill rotWithShape="0">
            <a:gsLst>
              <a:gs pos="0">
                <a:srgbClr val="D8B796"/>
              </a:gs>
              <a:gs pos="50000">
                <a:srgbClr val="F1CCA7"/>
              </a:gs>
              <a:gs pos="100000">
                <a:srgbClr val="D8B796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chemeClr val="bg2"/>
                </a:solidFill>
              </a:rPr>
              <a:t>cabNum</a:t>
            </a:r>
          </a:p>
        </p:txBody>
      </p:sp>
      <p:sp>
        <p:nvSpPr>
          <p:cNvPr id="44038" name="AutoShape 5">
            <a:extLst>
              <a:ext uri="{FF2B5EF4-FFF2-40B4-BE49-F238E27FC236}">
                <a16:creationId xmlns:a16="http://schemas.microsoft.com/office/drawing/2014/main" id="{FAC1CBFC-1C79-1D73-DFB6-A1E65FBD9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2438400"/>
            <a:ext cx="2036763" cy="958850"/>
          </a:xfrm>
          <a:prstGeom prst="cube">
            <a:avLst>
              <a:gd name="adj" fmla="val 24495"/>
            </a:avLst>
          </a:prstGeom>
          <a:gradFill rotWithShape="0">
            <a:gsLst>
              <a:gs pos="0">
                <a:srgbClr val="BDD2DF"/>
              </a:gs>
              <a:gs pos="50000">
                <a:srgbClr val="D3EAF8"/>
              </a:gs>
              <a:gs pos="100000">
                <a:srgbClr val="BDD2DF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39" name="Rectangle 6">
            <a:extLst>
              <a:ext uri="{FF2B5EF4-FFF2-40B4-BE49-F238E27FC236}">
                <a16:creationId xmlns:a16="http://schemas.microsoft.com/office/drawing/2014/main" id="{B19AD686-E733-C1CA-3EB6-B26164F50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213" y="2678113"/>
            <a:ext cx="159385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regNum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engineSize</a:t>
            </a:r>
          </a:p>
        </p:txBody>
      </p:sp>
      <p:sp>
        <p:nvSpPr>
          <p:cNvPr id="44040" name="Rectangle 7">
            <a:extLst>
              <a:ext uri="{FF2B5EF4-FFF2-40B4-BE49-F238E27FC236}">
                <a16:creationId xmlns:a16="http://schemas.microsoft.com/office/drawing/2014/main" id="{1056035D-F443-8524-1B56-2DA9BEF70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163" y="2062163"/>
            <a:ext cx="186213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46075">
              <a:spcBef>
                <a:spcPct val="20000"/>
              </a:spcBef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kumimoji="1" lang="en-US" altLang="en-US" sz="2000" i="1">
                <a:latin typeface="Courier New" panose="02070309020205020404" pitchFamily="49" charset="0"/>
              </a:rPr>
              <a:t>Taxi</a:t>
            </a:r>
            <a:r>
              <a:rPr kumimoji="1" lang="en-US" altLang="en-US" sz="2000" i="1"/>
              <a:t> object</a:t>
            </a:r>
          </a:p>
        </p:txBody>
      </p:sp>
      <p:sp>
        <p:nvSpPr>
          <p:cNvPr id="44041" name="Rectangle 8">
            <a:extLst>
              <a:ext uri="{FF2B5EF4-FFF2-40B4-BE49-F238E27FC236}">
                <a16:creationId xmlns:a16="http://schemas.microsoft.com/office/drawing/2014/main" id="{3232A0B0-A7C7-82D6-B15D-4D2278783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2927350"/>
            <a:ext cx="3544887" cy="4445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Taxi taxi1 = new Taxi();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>
            <a:extLst>
              <a:ext uri="{FF2B5EF4-FFF2-40B4-BE49-F238E27FC236}">
                <a16:creationId xmlns:a16="http://schemas.microsoft.com/office/drawing/2014/main" id="{07690CEE-82EF-19B4-4E55-8A0C8496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F590F4-CA83-8549-AC8B-3FF9C9E76D9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F6AAC9CF-F436-A70A-460D-D4DCA24CE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Nondefault Initialization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C52CFD8F-5B84-E879-5511-A1B563667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532688" cy="457200"/>
          </a:xfrm>
          <a:noFill/>
        </p:spPr>
        <p:txBody>
          <a:bodyPr lIns="92075" tIns="46038" rIns="92075" bIns="46038">
            <a:spAutoFit/>
          </a:bodyPr>
          <a:lstStyle/>
          <a:p>
            <a:pPr marL="0" indent="0" defTabSz="346075" eaLnBrk="1" hangingPunct="1">
              <a:buFontTx/>
              <a:buNone/>
              <a:tabLst>
                <a:tab pos="571500" algn="l"/>
              </a:tabLst>
            </a:pPr>
            <a:r>
              <a:rPr lang="en-US" altLang="en-US"/>
              <a:t>Specific initialization can be performed as follows:</a:t>
            </a:r>
          </a:p>
        </p:txBody>
      </p:sp>
      <p:sp>
        <p:nvSpPr>
          <p:cNvPr id="46085" name="Rectangle 4">
            <a:extLst>
              <a:ext uri="{FF2B5EF4-FFF2-40B4-BE49-F238E27FC236}">
                <a16:creationId xmlns:a16="http://schemas.microsoft.com/office/drawing/2014/main" id="{E31B6292-CD3C-82BA-C05F-39AF6934E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2117725"/>
            <a:ext cx="4616450" cy="18161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Car(String r, int e)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regNum = r;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engineSize = e;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 … </a:t>
            </a:r>
          </a:p>
        </p:txBody>
      </p:sp>
      <p:sp>
        <p:nvSpPr>
          <p:cNvPr id="46086" name="Rectangle 5">
            <a:extLst>
              <a:ext uri="{FF2B5EF4-FFF2-40B4-BE49-F238E27FC236}">
                <a16:creationId xmlns:a16="http://schemas.microsoft.com/office/drawing/2014/main" id="{D3CDD3F7-4368-650E-0024-BA2B7C126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4154488"/>
            <a:ext cx="4616450" cy="18161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Taxi(String r, int e, int c)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super(r, e);        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cabNum = c;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 … </a:t>
            </a:r>
          </a:p>
        </p:txBody>
      </p:sp>
      <p:sp>
        <p:nvSpPr>
          <p:cNvPr id="46087" name="Freeform 6">
            <a:extLst>
              <a:ext uri="{FF2B5EF4-FFF2-40B4-BE49-F238E27FC236}">
                <a16:creationId xmlns:a16="http://schemas.microsoft.com/office/drawing/2014/main" id="{112A3736-2D98-8D71-F3FE-B6603097D898}"/>
              </a:ext>
            </a:extLst>
          </p:cNvPr>
          <p:cNvSpPr>
            <a:spLocks/>
          </p:cNvSpPr>
          <p:nvPr/>
        </p:nvSpPr>
        <p:spPr bwMode="auto">
          <a:xfrm>
            <a:off x="3276600" y="2667000"/>
            <a:ext cx="877888" cy="2420938"/>
          </a:xfrm>
          <a:custGeom>
            <a:avLst/>
            <a:gdLst>
              <a:gd name="T0" fmla="*/ 2147483646 w 553"/>
              <a:gd name="T1" fmla="*/ 2147483646 h 1525"/>
              <a:gd name="T2" fmla="*/ 0 w 553"/>
              <a:gd name="T3" fmla="*/ 2147483646 h 1525"/>
              <a:gd name="T4" fmla="*/ 0 w 553"/>
              <a:gd name="T5" fmla="*/ 0 h 1525"/>
              <a:gd name="T6" fmla="*/ 2147483646 w 553"/>
              <a:gd name="T7" fmla="*/ 0 h 152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53" h="1525">
                <a:moveTo>
                  <a:pt x="552" y="1524"/>
                </a:moveTo>
                <a:lnTo>
                  <a:pt x="0" y="1524"/>
                </a:lnTo>
                <a:lnTo>
                  <a:pt x="0" y="0"/>
                </a:lnTo>
                <a:lnTo>
                  <a:pt x="391" y="0"/>
                </a:lnTo>
              </a:path>
            </a:pathLst>
          </a:custGeom>
          <a:noFill/>
          <a:ln w="50800" cap="rnd" cmpd="sng">
            <a:solidFill>
              <a:schemeClr val="hlink"/>
            </a:solidFill>
            <a:prstDash val="solid"/>
            <a:round/>
            <a:headEnd type="none" w="sm" len="sm"/>
            <a:tailEnd type="stealth" w="med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8" name="Rectangle 7">
            <a:extLst>
              <a:ext uri="{FF2B5EF4-FFF2-40B4-BE49-F238E27FC236}">
                <a16:creationId xmlns:a16="http://schemas.microsoft.com/office/drawing/2014/main" id="{938E4F64-297B-C0C2-BF6C-72B4F119E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4386263"/>
            <a:ext cx="2701925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46075">
              <a:spcBef>
                <a:spcPct val="20000"/>
              </a:spcBef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kumimoji="1" lang="en-US" altLang="en-US" sz="2800" b="0"/>
              <a:t>Use </a:t>
            </a:r>
            <a:r>
              <a:rPr kumimoji="1" lang="en-US" altLang="en-US" sz="2800" b="0">
                <a:latin typeface="Courier New" panose="02070309020205020404" pitchFamily="49" charset="0"/>
              </a:rPr>
              <a:t>super()</a:t>
            </a:r>
            <a:r>
              <a:rPr kumimoji="1" lang="en-US" altLang="en-US" sz="2800" b="0"/>
              <a:t> to call superclass constructor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>
            <a:extLst>
              <a:ext uri="{FF2B5EF4-FFF2-40B4-BE49-F238E27FC236}">
                <a16:creationId xmlns:a16="http://schemas.microsoft.com/office/drawing/2014/main" id="{BE08AF1A-3704-6942-B0C3-050A6EEA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EA659F-5399-254C-899C-4064377E932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F34063C-DFFE-30B6-725A-61094F3B4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Specifying Additional Methods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8ECF8BF6-5530-C455-5226-132C2766B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7532688" cy="1371600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The superclass defines methods that are applicable for all kinds of Car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The subclass can specify additional methods that are specific to Taxis</a:t>
            </a:r>
          </a:p>
        </p:txBody>
      </p:sp>
      <p:sp>
        <p:nvSpPr>
          <p:cNvPr id="48133" name="Rectangle 4">
            <a:extLst>
              <a:ext uri="{FF2B5EF4-FFF2-40B4-BE49-F238E27FC236}">
                <a16:creationId xmlns:a16="http://schemas.microsoft.com/office/drawing/2014/main" id="{673D3D3A-B79C-AAEB-4175-D5A483744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" y="3503613"/>
            <a:ext cx="4473575" cy="147320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int getReg()…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void changeOwner()…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… </a:t>
            </a:r>
          </a:p>
        </p:txBody>
      </p:sp>
      <p:sp>
        <p:nvSpPr>
          <p:cNvPr id="48134" name="Rectangle 5">
            <a:extLst>
              <a:ext uri="{FF2B5EF4-FFF2-40B4-BE49-F238E27FC236}">
                <a16:creationId xmlns:a16="http://schemas.microsoft.com/office/drawing/2014/main" id="{1A3E3275-99B0-D16C-A630-6E338A00D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725" y="4633913"/>
            <a:ext cx="519747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void renewCabLicense()…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boolean isBooked()…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… 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>
            <a:extLst>
              <a:ext uri="{FF2B5EF4-FFF2-40B4-BE49-F238E27FC236}">
                <a16:creationId xmlns:a16="http://schemas.microsoft.com/office/drawing/2014/main" id="{0409A8C0-04D6-ED77-23D9-3FCC4D61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76E645-4949-7D40-827B-6E4D59011C7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60C396F4-8B1B-EB4E-437D-0CFFEC954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Overriding Superclass Methods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E48E1B3D-DAF4-7217-9286-F250643F8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532688" cy="1066800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A subclass inherits all the methods of its superclass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The subclass can override a method with a specialized version, if it needs to:</a:t>
            </a:r>
          </a:p>
        </p:txBody>
      </p:sp>
      <p:sp>
        <p:nvSpPr>
          <p:cNvPr id="50181" name="Rectangle 4">
            <a:extLst>
              <a:ext uri="{FF2B5EF4-FFF2-40B4-BE49-F238E27FC236}">
                <a16:creationId xmlns:a16="http://schemas.microsoft.com/office/drawing/2014/main" id="{D7A49D21-8375-19C0-950F-B43275A4F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3554413"/>
            <a:ext cx="447357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details()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return "Reg:" + getReg();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</p:txBody>
      </p:sp>
      <p:sp>
        <p:nvSpPr>
          <p:cNvPr id="50182" name="Rectangle 5">
            <a:extLst>
              <a:ext uri="{FF2B5EF4-FFF2-40B4-BE49-F238E27FC236}">
                <a16:creationId xmlns:a16="http://schemas.microsoft.com/office/drawing/2014/main" id="{0E4F1DC2-3A34-0990-6DFC-5612BFD4D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724400"/>
            <a:ext cx="544512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details()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return "Reg:" + getReg() + cabNum;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>
            <a:extLst>
              <a:ext uri="{FF2B5EF4-FFF2-40B4-BE49-F238E27FC236}">
                <a16:creationId xmlns:a16="http://schemas.microsoft.com/office/drawing/2014/main" id="{FB0C37B8-47A5-EB47-0239-F054E3833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6F0C7B-837A-B44C-B715-959605CCF69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BB3A0E54-61CD-A7B8-6A19-D3F063BB9B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Overriding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6E169E0F-AED1-A3DC-54B6-A7CCE49897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When a sub-class defines a 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“method with </a:t>
            </a:r>
            <a:r>
              <a:rPr lang="en-US" altLang="en-US" sz="1800" b="1" i="1"/>
              <a:t>same method name, argument types, argument order and return type as a method in its super class</a:t>
            </a:r>
            <a:r>
              <a:rPr lang="en-US" altLang="en-US" sz="1800"/>
              <a:t>, its called method overriding. “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Methods declared as </a:t>
            </a:r>
            <a:r>
              <a:rPr lang="en-US" altLang="en-US" sz="1800" b="1"/>
              <a:t>final, static and private  cannot be overridden</a:t>
            </a:r>
            <a:r>
              <a:rPr lang="en-US" altLang="en-US" sz="1800"/>
              <a:t>. 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ko-KR" sz="1800">
                <a:ea typeface="굴림" panose="020B0600000101010101" pitchFamily="34" charset="-127"/>
              </a:rPr>
              <a:t>An overriding method can be declared as final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The method can’t be less accessible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 b="1"/>
              <a:t>Public  =&gt;  only public 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 b="1"/>
              <a:t>Protected =&gt; Both Public and Protected 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 b="1"/>
              <a:t>Default =&gt; default, public and protected </a:t>
            </a:r>
          </a:p>
          <a:p>
            <a:pPr eaLnBrk="1" hangingPunct="1"/>
            <a:endParaRPr lang="en-US" altLang="en-US" sz="1800" b="1"/>
          </a:p>
          <a:p>
            <a:pPr eaLnBrk="1" hangingPunct="1"/>
            <a:endParaRPr lang="en-US" altLang="en-US" sz="1800" b="1"/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>
            <a:extLst>
              <a:ext uri="{FF2B5EF4-FFF2-40B4-BE49-F238E27FC236}">
                <a16:creationId xmlns:a16="http://schemas.microsoft.com/office/drawing/2014/main" id="{9B77F626-60E5-B957-598B-E08054C6E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1B6EE3-7A6F-0B43-899F-18FD7425189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698AD04E-444D-75E0-14A2-0EBFFF450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Overriding with Compatible Return type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AEB14B6F-38AE-8010-85C7-34C046753C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Arguments must be same and return type must be compatible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class </a:t>
            </a:r>
            <a:r>
              <a:rPr lang="en-US" altLang="en-US" sz="1600">
                <a:latin typeface="Courier New" panose="02070309020205020404" pitchFamily="49" charset="0"/>
              </a:rPr>
              <a:t>Base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  <a:r>
              <a:rPr lang="en-US" altLang="en-US" sz="1600" b="1">
                <a:latin typeface="Courier New" panose="02070309020205020404" pitchFamily="49" charset="0"/>
              </a:rPr>
              <a:t>private</a:t>
            </a:r>
            <a:r>
              <a:rPr lang="en-US" altLang="en-US" sz="1600">
                <a:latin typeface="Courier New" panose="02070309020205020404" pitchFamily="49" charset="0"/>
              </a:rPr>
              <a:t> int i = 5;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  <a:r>
              <a:rPr lang="en-US" altLang="en-US" sz="1600" b="1">
                <a:latin typeface="Courier New" panose="02070309020205020404" pitchFamily="49" charset="0"/>
              </a:rPr>
              <a:t>public Number</a:t>
            </a:r>
            <a:r>
              <a:rPr lang="en-US" altLang="en-US" sz="1600">
                <a:latin typeface="Courier New" panose="02070309020205020404" pitchFamily="49" charset="0"/>
              </a:rPr>
              <a:t>  getNumber()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</a:t>
            </a:r>
            <a:r>
              <a:rPr lang="en-US" altLang="en-US" sz="1600" b="1">
                <a:latin typeface="Courier New" panose="02070309020205020404" pitchFamily="49" charset="0"/>
              </a:rPr>
              <a:t>return </a:t>
            </a:r>
            <a:r>
              <a:rPr lang="en-US" altLang="en-US" sz="1600">
                <a:latin typeface="Courier New" panose="02070309020205020404" pitchFamily="49" charset="0"/>
              </a:rPr>
              <a:t>i;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60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class</a:t>
            </a:r>
            <a:r>
              <a:rPr lang="en-US" altLang="en-US" sz="1600">
                <a:latin typeface="Courier New" panose="02070309020205020404" pitchFamily="49" charset="0"/>
              </a:rPr>
              <a:t> Derived </a:t>
            </a:r>
            <a:r>
              <a:rPr lang="en-US" altLang="en-US" sz="1600" b="1">
                <a:latin typeface="Courier New" panose="02070309020205020404" pitchFamily="49" charset="0"/>
              </a:rPr>
              <a:t>extends</a:t>
            </a:r>
            <a:r>
              <a:rPr lang="en-US" altLang="en-US" sz="1600">
                <a:latin typeface="Courier New" panose="02070309020205020404" pitchFamily="49" charset="0"/>
              </a:rPr>
              <a:t> Base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@Override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  <a:r>
              <a:rPr lang="en-US" altLang="en-US" sz="1600" b="1">
                <a:latin typeface="Courier New" panose="02070309020205020404" pitchFamily="49" charset="0"/>
              </a:rPr>
              <a:t>public Integer</a:t>
            </a:r>
            <a:r>
              <a:rPr lang="en-US" altLang="en-US" sz="1600">
                <a:latin typeface="Courier New" panose="02070309020205020404" pitchFamily="49" charset="0"/>
              </a:rPr>
              <a:t> getNumber()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</a:t>
            </a:r>
            <a:r>
              <a:rPr lang="en-US" altLang="en-US" sz="1600" b="1">
                <a:latin typeface="Courier New" panose="02070309020205020404" pitchFamily="49" charset="0"/>
              </a:rPr>
              <a:t>return new</a:t>
            </a:r>
            <a:r>
              <a:rPr lang="en-US" altLang="en-US" sz="1600">
                <a:latin typeface="Courier New" panose="02070309020205020404" pitchFamily="49" charset="0"/>
              </a:rPr>
              <a:t> Integer(10);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>
            <a:extLst>
              <a:ext uri="{FF2B5EF4-FFF2-40B4-BE49-F238E27FC236}">
                <a16:creationId xmlns:a16="http://schemas.microsoft.com/office/drawing/2014/main" id="{CC263FD6-613C-AA75-A2DA-0B9C525C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D8427D-6403-6D48-A329-E3E6F49477A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DBFF3A90-277B-6387-8C20-AB4ECABC5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Invoking Superclass Methods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41A99869-9D0F-A130-89E9-B03DF9458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532688" cy="3205163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If a subclass overrides a method, it can still call the original superclass method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 sz="1800"/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Use super.method()to call a superclass method from the subclass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 sz="1800"/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Though keyword super is used to refer super class, method call super.super.method() is invalid.</a:t>
            </a:r>
            <a:r>
              <a:rPr lang="en-US" altLang="en-US" sz="2400"/>
              <a:t> </a:t>
            </a:r>
          </a:p>
          <a:p>
            <a:pPr marL="0" indent="0" defTabSz="346075" eaLnBrk="1" hangingPunct="1">
              <a:buFont typeface="Symbol" pitchFamily="2" charset="2"/>
              <a:buChar char=""/>
              <a:tabLst>
                <a:tab pos="571500" algn="l"/>
              </a:tabLst>
            </a:pPr>
            <a:endParaRPr lang="en-US" altLang="en-US" sz="2800"/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/>
          </a:p>
        </p:txBody>
      </p:sp>
      <p:sp>
        <p:nvSpPr>
          <p:cNvPr id="54277" name="Rectangle 4">
            <a:extLst>
              <a:ext uri="{FF2B5EF4-FFF2-40B4-BE49-F238E27FC236}">
                <a16:creationId xmlns:a16="http://schemas.microsoft.com/office/drawing/2014/main" id="{FFB8E702-339B-E998-DB12-95B569ED8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825" y="3548063"/>
            <a:ext cx="447357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details()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return "Reg:" + getReg();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</p:txBody>
      </p:sp>
      <p:sp>
        <p:nvSpPr>
          <p:cNvPr id="54278" name="Rectangle 5">
            <a:extLst>
              <a:ext uri="{FF2B5EF4-FFF2-40B4-BE49-F238E27FC236}">
                <a16:creationId xmlns:a16="http://schemas.microsoft.com/office/drawing/2014/main" id="{4EB244C0-50CF-FD92-19A9-13D88C41C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9075" y="4697413"/>
            <a:ext cx="544512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details()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return </a:t>
            </a:r>
            <a:r>
              <a:rPr kumimoji="1" lang="en-US" altLang="en-US" sz="1800" i="1">
                <a:solidFill>
                  <a:srgbClr val="000000"/>
                </a:solidFill>
                <a:latin typeface="Courier New" panose="02070309020205020404" pitchFamily="49" charset="0"/>
              </a:rPr>
              <a:t>super.details() </a:t>
            </a: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+ cabNum;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>
            <a:extLst>
              <a:ext uri="{FF2B5EF4-FFF2-40B4-BE49-F238E27FC236}">
                <a16:creationId xmlns:a16="http://schemas.microsoft.com/office/drawing/2014/main" id="{25CC96D7-D076-21DA-0211-86C55FBD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73C196-64AC-7C4B-8DAE-1ABD259FD02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/>
          </a:p>
        </p:txBody>
      </p:sp>
      <p:sp>
        <p:nvSpPr>
          <p:cNvPr id="56323" name="Rectangle 1026">
            <a:extLst>
              <a:ext uri="{FF2B5EF4-FFF2-40B4-BE49-F238E27FC236}">
                <a16:creationId xmlns:a16="http://schemas.microsoft.com/office/drawing/2014/main" id="{13DC8348-E6C0-1EC4-F4AF-27CDD0FCDF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i="1"/>
              <a:t>super</a:t>
            </a:r>
            <a:r>
              <a:rPr lang="en-US" altLang="en-US"/>
              <a:t> keyword</a:t>
            </a:r>
          </a:p>
        </p:txBody>
      </p:sp>
      <p:sp>
        <p:nvSpPr>
          <p:cNvPr id="56324" name="Rectangle 1027">
            <a:extLst>
              <a:ext uri="{FF2B5EF4-FFF2-40B4-BE49-F238E27FC236}">
                <a16:creationId xmlns:a16="http://schemas.microsoft.com/office/drawing/2014/main" id="{785A72FB-D2F8-8488-3D24-38F37ABD0E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419600"/>
          </a:xfrm>
        </p:spPr>
        <p:txBody>
          <a:bodyPr/>
          <a:lstStyle/>
          <a:p>
            <a:pPr eaLnBrk="1" hangingPunct="1"/>
            <a:r>
              <a:rPr lang="en-US" altLang="en-US"/>
              <a:t>The keyword </a:t>
            </a:r>
            <a:r>
              <a:rPr lang="en-US" altLang="en-US" i="1"/>
              <a:t>super</a:t>
            </a:r>
            <a:r>
              <a:rPr lang="en-US" altLang="en-US"/>
              <a:t> refers to the base class</a:t>
            </a:r>
          </a:p>
          <a:p>
            <a:pPr lvl="1" eaLnBrk="1" hangingPunct="1"/>
            <a:r>
              <a:rPr lang="en-US" altLang="en-US" i="1"/>
              <a:t>super( )</a:t>
            </a:r>
            <a:endParaRPr lang="en-US" altLang="en-US"/>
          </a:p>
          <a:p>
            <a:pPr lvl="2" eaLnBrk="1" hangingPunct="1"/>
            <a:r>
              <a:rPr lang="en-US" altLang="en-US" sz="1800"/>
              <a:t>invokes the base class constructor</a:t>
            </a:r>
          </a:p>
          <a:p>
            <a:pPr lvl="2" eaLnBrk="1" hangingPunct="1"/>
            <a:r>
              <a:rPr lang="en-US" altLang="en-US" sz="1800"/>
              <a:t>base class constructors are automatically invoked </a:t>
            </a:r>
          </a:p>
          <a:p>
            <a:pPr lvl="1" eaLnBrk="1" hangingPunct="1"/>
            <a:r>
              <a:rPr lang="en-US" altLang="en-US" i="1"/>
              <a:t>super.method( )</a:t>
            </a:r>
            <a:endParaRPr lang="en-US" altLang="en-US"/>
          </a:p>
          <a:p>
            <a:pPr lvl="2" eaLnBrk="1" hangingPunct="1"/>
            <a:r>
              <a:rPr lang="en-US" altLang="en-US" sz="1800"/>
              <a:t>invokes the specified method in the base class</a:t>
            </a:r>
          </a:p>
          <a:p>
            <a:pPr lvl="1" eaLnBrk="1" hangingPunct="1"/>
            <a:r>
              <a:rPr lang="en-US" altLang="en-US" i="1"/>
              <a:t>super.variable</a:t>
            </a:r>
            <a:endParaRPr lang="en-US" altLang="en-US"/>
          </a:p>
          <a:p>
            <a:pPr lvl="2" eaLnBrk="1" hangingPunct="1"/>
            <a:r>
              <a:rPr lang="en-US" altLang="en-US" sz="1800"/>
              <a:t>to access the specified variable in the base class</a:t>
            </a:r>
          </a:p>
          <a:p>
            <a:pPr eaLnBrk="1" hangingPunct="1"/>
            <a:r>
              <a:rPr lang="en-US" altLang="en-US" i="1"/>
              <a:t>super</a:t>
            </a:r>
            <a:r>
              <a:rPr lang="en-US" altLang="en-US"/>
              <a:t> </a:t>
            </a:r>
            <a:r>
              <a:rPr lang="en-US" altLang="en-US">
                <a:latin typeface="Courier;Times New Roman"/>
              </a:rPr>
              <a:t>must be the first statement in a constructor</a:t>
            </a:r>
          </a:p>
          <a:p>
            <a:pPr eaLnBrk="1" hangingPunct="1"/>
            <a:endParaRPr lang="en-US" altLang="en-US">
              <a:latin typeface="Courier;Times New Roman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>
            <a:extLst>
              <a:ext uri="{FF2B5EF4-FFF2-40B4-BE49-F238E27FC236}">
                <a16:creationId xmlns:a16="http://schemas.microsoft.com/office/drawing/2014/main" id="{7C6B114B-A2D3-A032-5FE9-001D74BB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3217B8-F3A8-B141-B0F8-DF065781DA5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D3DCEFBC-F94A-5F0D-DB17-8FA1FAA13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03225"/>
            <a:ext cx="8229600" cy="42545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Abstract Class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C968BA9A-041A-128C-1E8A-DDDB2E513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532688" cy="1687513"/>
          </a:xfrm>
          <a:noFill/>
        </p:spPr>
        <p:txBody>
          <a:bodyPr lIns="92075" tIns="46038" rIns="92075" bIns="46038">
            <a:spAutoFit/>
          </a:bodyPr>
          <a:lstStyle/>
          <a:p>
            <a:pPr marL="0" indent="0" defTabSz="346075" eaLnBrk="1" hangingPunct="1">
              <a:tabLst>
                <a:tab pos="571500" algn="l"/>
              </a:tabLst>
            </a:pPr>
            <a:r>
              <a:rPr lang="en-US" altLang="en-US" sz="1800"/>
              <a:t>An abstract class is a shared superclass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Provides a high-level partial implementation of some concept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 sz="1800"/>
          </a:p>
          <a:p>
            <a:pPr marL="0" indent="0" defTabSz="346075" eaLnBrk="1" hangingPunct="1">
              <a:tabLst>
                <a:tab pos="571500" algn="l"/>
              </a:tabLst>
            </a:pPr>
            <a:r>
              <a:rPr lang="en-US" altLang="en-US" sz="1800"/>
              <a:t>Use the abstract keyword to declare a class as abstract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 sz="1800"/>
          </a:p>
        </p:txBody>
      </p:sp>
      <p:grpSp>
        <p:nvGrpSpPr>
          <p:cNvPr id="58373" name="Group 14">
            <a:extLst>
              <a:ext uri="{FF2B5EF4-FFF2-40B4-BE49-F238E27FC236}">
                <a16:creationId xmlns:a16="http://schemas.microsoft.com/office/drawing/2014/main" id="{85F16ADE-0424-2AE3-D6F7-1B9846F78541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102100"/>
            <a:ext cx="6134100" cy="1231900"/>
            <a:chOff x="962" y="2720"/>
            <a:chExt cx="3864" cy="776"/>
          </a:xfrm>
        </p:grpSpPr>
        <p:sp>
          <p:nvSpPr>
            <p:cNvPr id="58374" name="Rectangle 4">
              <a:extLst>
                <a:ext uri="{FF2B5EF4-FFF2-40B4-BE49-F238E27FC236}">
                  <a16:creationId xmlns:a16="http://schemas.microsoft.com/office/drawing/2014/main" id="{24A229D0-AAA6-CF95-B712-C33164D3A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2" y="2747"/>
              <a:ext cx="233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46075">
                <a:spcBef>
                  <a:spcPct val="20000"/>
                </a:spcBef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35000"/>
                </a:spcBef>
                <a:buFontTx/>
                <a:buNone/>
              </a:pPr>
              <a:r>
                <a:rPr kumimoji="1" lang="en-US" altLang="en-US" sz="2200" b="0" i="1"/>
                <a:t>Abstract superclass</a:t>
              </a:r>
            </a:p>
          </p:txBody>
        </p:sp>
        <p:sp>
          <p:nvSpPr>
            <p:cNvPr id="58375" name="Rectangle 5">
              <a:extLst>
                <a:ext uri="{FF2B5EF4-FFF2-40B4-BE49-F238E27FC236}">
                  <a16:creationId xmlns:a16="http://schemas.microsoft.com/office/drawing/2014/main" id="{CBC3FACD-8FFD-516C-AFBE-F3894CFEC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" y="3227"/>
              <a:ext cx="2506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46075">
                <a:spcBef>
                  <a:spcPct val="20000"/>
                </a:spcBef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35000"/>
                </a:spcBef>
                <a:buFontTx/>
                <a:buNone/>
              </a:pPr>
              <a:r>
                <a:rPr kumimoji="1" lang="en-US" altLang="en-US" sz="2200" b="0"/>
                <a:t>Concrete subclasses</a:t>
              </a:r>
            </a:p>
          </p:txBody>
        </p:sp>
        <p:grpSp>
          <p:nvGrpSpPr>
            <p:cNvPr id="58376" name="Group 6">
              <a:extLst>
                <a:ext uri="{FF2B5EF4-FFF2-40B4-BE49-F238E27FC236}">
                  <a16:creationId xmlns:a16="http://schemas.microsoft.com/office/drawing/2014/main" id="{114594C8-B95C-5D2F-9241-46037FCF22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8" y="2720"/>
              <a:ext cx="2018" cy="776"/>
              <a:chOff x="2808" y="2720"/>
              <a:chExt cx="2018" cy="776"/>
            </a:xfrm>
          </p:grpSpPr>
          <p:sp>
            <p:nvSpPr>
              <p:cNvPr id="58377" name="Rectangle 7">
                <a:extLst>
                  <a:ext uri="{FF2B5EF4-FFF2-40B4-BE49-F238E27FC236}">
                    <a16:creationId xmlns:a16="http://schemas.microsoft.com/office/drawing/2014/main" id="{2CE0C033-8841-A593-2808-3C0E2B9F4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4" y="2720"/>
                <a:ext cx="96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defTabSz="739775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39775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39775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39775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39775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1800" i="1"/>
                  <a:t>Vehicle</a:t>
                </a:r>
              </a:p>
            </p:txBody>
          </p:sp>
          <p:sp>
            <p:nvSpPr>
              <p:cNvPr id="58378" name="Rectangle 8">
                <a:extLst>
                  <a:ext uri="{FF2B5EF4-FFF2-40B4-BE49-F238E27FC236}">
                    <a16:creationId xmlns:a16="http://schemas.microsoft.com/office/drawing/2014/main" id="{530A9EF7-67E0-F60E-9BFD-206497D4D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8" y="3231"/>
                <a:ext cx="96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defTabSz="739775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39775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39775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39775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39775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1800"/>
                  <a:t>Car</a:t>
                </a:r>
              </a:p>
            </p:txBody>
          </p:sp>
          <p:sp>
            <p:nvSpPr>
              <p:cNvPr id="58379" name="Line 9">
                <a:extLst>
                  <a:ext uri="{FF2B5EF4-FFF2-40B4-BE49-F238E27FC236}">
                    <a16:creationId xmlns:a16="http://schemas.microsoft.com/office/drawing/2014/main" id="{482B9E0D-1C6E-B1DC-F892-465B31E47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3" y="2976"/>
                <a:ext cx="351" cy="266"/>
              </a:xfrm>
              <a:prstGeom prst="line">
                <a:avLst/>
              </a:prstGeom>
              <a:noFill/>
              <a:ln w="50800">
                <a:solidFill>
                  <a:srgbClr val="7BEAEA"/>
                </a:solidFill>
                <a:round/>
                <a:headEnd type="none" w="sm" len="sm"/>
                <a:tailEnd type="stealth" w="med" len="lg"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0" name="Rectangle 10">
                <a:extLst>
                  <a:ext uri="{FF2B5EF4-FFF2-40B4-BE49-F238E27FC236}">
                    <a16:creationId xmlns:a16="http://schemas.microsoft.com/office/drawing/2014/main" id="{6F76F1DA-EA20-CC7E-72A4-F592C6B50C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2" y="3235"/>
                <a:ext cx="901" cy="261"/>
              </a:xfrm>
              <a:prstGeom prst="rect">
                <a:avLst/>
              </a:prstGeom>
              <a:gradFill rotWithShape="0">
                <a:gsLst>
                  <a:gs pos="0">
                    <a:srgbClr val="C6C6C6"/>
                  </a:gs>
                  <a:gs pos="50000">
                    <a:srgbClr val="DDDDDD"/>
                  </a:gs>
                  <a:gs pos="100000">
                    <a:srgbClr val="C6C6C6"/>
                  </a:gs>
                </a:gsLst>
                <a:lin ang="18900000" scaled="1"/>
              </a:gra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2200">
                    <a:solidFill>
                      <a:schemeClr val="bg2"/>
                    </a:solidFill>
                  </a:rPr>
                  <a:t>Car</a:t>
                </a:r>
              </a:p>
            </p:txBody>
          </p:sp>
          <p:sp>
            <p:nvSpPr>
              <p:cNvPr id="58381" name="Line 11">
                <a:extLst>
                  <a:ext uri="{FF2B5EF4-FFF2-40B4-BE49-F238E27FC236}">
                    <a16:creationId xmlns:a16="http://schemas.microsoft.com/office/drawing/2014/main" id="{531DEA66-056B-F5C9-9B84-884B6459C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60" y="2985"/>
                <a:ext cx="350" cy="266"/>
              </a:xfrm>
              <a:prstGeom prst="line">
                <a:avLst/>
              </a:prstGeom>
              <a:noFill/>
              <a:ln w="50800">
                <a:solidFill>
                  <a:srgbClr val="7BEAEA"/>
                </a:solidFill>
                <a:round/>
                <a:headEnd type="none" w="sm" len="sm"/>
                <a:tailEnd type="stealth" w="med" len="lg"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2" name="Rectangle 12">
                <a:extLst>
                  <a:ext uri="{FF2B5EF4-FFF2-40B4-BE49-F238E27FC236}">
                    <a16:creationId xmlns:a16="http://schemas.microsoft.com/office/drawing/2014/main" id="{A10241D8-6944-5452-1083-FE021059E4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5" y="3235"/>
                <a:ext cx="901" cy="261"/>
              </a:xfrm>
              <a:prstGeom prst="rect">
                <a:avLst/>
              </a:prstGeom>
              <a:gradFill rotWithShape="0">
                <a:gsLst>
                  <a:gs pos="0">
                    <a:srgbClr val="C6C6C6"/>
                  </a:gs>
                  <a:gs pos="50000">
                    <a:srgbClr val="DDDDDD"/>
                  </a:gs>
                  <a:gs pos="100000">
                    <a:srgbClr val="C6C6C6"/>
                  </a:gs>
                </a:gsLst>
                <a:lin ang="18900000" scaled="1"/>
              </a:gra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2200">
                    <a:solidFill>
                      <a:schemeClr val="bg2"/>
                    </a:solidFill>
                  </a:rPr>
                  <a:t>Truck</a:t>
                </a:r>
              </a:p>
            </p:txBody>
          </p:sp>
          <p:sp>
            <p:nvSpPr>
              <p:cNvPr id="58383" name="Rectangle 13">
                <a:extLst>
                  <a:ext uri="{FF2B5EF4-FFF2-40B4-BE49-F238E27FC236}">
                    <a16:creationId xmlns:a16="http://schemas.microsoft.com/office/drawing/2014/main" id="{6F1606CB-DBF3-5E3F-FA3C-6410C1C59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2727"/>
                <a:ext cx="901" cy="262"/>
              </a:xfrm>
              <a:prstGeom prst="rect">
                <a:avLst/>
              </a:prstGeom>
              <a:gradFill rotWithShape="0">
                <a:gsLst>
                  <a:gs pos="0">
                    <a:srgbClr val="C6C6C6"/>
                  </a:gs>
                  <a:gs pos="50000">
                    <a:srgbClr val="DDDDDD"/>
                  </a:gs>
                  <a:gs pos="100000">
                    <a:srgbClr val="C6C6C6"/>
                  </a:gs>
                </a:gsLst>
                <a:lin ang="18900000" scaled="1"/>
              </a:gra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2200" i="1">
                    <a:solidFill>
                      <a:schemeClr val="bg2"/>
                    </a:solidFill>
                  </a:rPr>
                  <a:t>Vehicle</a:t>
                </a:r>
              </a:p>
            </p:txBody>
          </p:sp>
        </p:grpSp>
      </p:grp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596FF439-CF4D-77A9-C842-2FF16A85FB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Need for Abstract Class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4FA904B5-3AA4-073B-E3C2-0BEA98FC3C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74638"/>
            <a:ext cx="8229600" cy="7359650"/>
          </a:xfrm>
        </p:spPr>
        <p:txBody>
          <a:bodyPr/>
          <a:lstStyle/>
          <a:p>
            <a:r>
              <a:rPr lang="en-US" altLang="en-US">
                <a:solidFill>
                  <a:srgbClr val="4A4A4A"/>
                </a:solidFill>
                <a:latin typeface="Open Sans" panose="020B0606030504020204" pitchFamily="34" charset="0"/>
              </a:rPr>
              <a:t> </a:t>
            </a:r>
          </a:p>
          <a:p>
            <a:endParaRPr lang="en-IN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178D202E-AB27-46F8-BFE8-674C91DE0F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ACC0B6-0697-FE48-B35A-C7F19B0B8FB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/>
          </a:p>
        </p:txBody>
      </p:sp>
      <p:pic>
        <p:nvPicPr>
          <p:cNvPr id="60421" name="Picture 2" descr="Why-we-need-Abstract-Classes-in-Java-Edureka-Abstact-Classes-in-Java">
            <a:extLst>
              <a:ext uri="{FF2B5EF4-FFF2-40B4-BE49-F238E27FC236}">
                <a16:creationId xmlns:a16="http://schemas.microsoft.com/office/drawing/2014/main" id="{D9CA9B7C-81C4-7B26-E016-6ED2FDE60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1295400"/>
            <a:ext cx="805815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>
            <a:extLst>
              <a:ext uri="{FF2B5EF4-FFF2-40B4-BE49-F238E27FC236}">
                <a16:creationId xmlns:a16="http://schemas.microsoft.com/office/drawing/2014/main" id="{5BD10EAF-6FD5-62BC-1E55-9BA4767DF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37EE95-C584-0948-9807-82BC6F87AFB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9B8F0591-4F62-A5A4-07E4-9A43FF1740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Defining Abstract Classes in Java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6BB96CD9-5085-BA09-F41E-FC92B6C1FF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467600" cy="1943100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Use the </a:t>
            </a:r>
            <a:r>
              <a:rPr lang="en-US" altLang="en-US" sz="1800">
                <a:latin typeface="Courier New" panose="02070309020205020404" pitchFamily="49" charset="0"/>
              </a:rPr>
              <a:t>abstract</a:t>
            </a:r>
            <a:r>
              <a:rPr lang="en-US" altLang="en-US" sz="1800"/>
              <a:t> keyword to declare a method as abstract 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600"/>
              <a:t>Only provide the method signature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600"/>
              <a:t>Class must also be abstract 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Must be implemented by a concrete subclass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600"/>
              <a:t>Each concrete subclass can implement the method differently</a:t>
            </a:r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 sz="2000"/>
          </a:p>
        </p:txBody>
      </p:sp>
      <p:sp>
        <p:nvSpPr>
          <p:cNvPr id="62469" name="Rectangle 4">
            <a:extLst>
              <a:ext uri="{FF2B5EF4-FFF2-40B4-BE49-F238E27FC236}">
                <a16:creationId xmlns:a16="http://schemas.microsoft.com/office/drawing/2014/main" id="{93FF1424-8B9C-3825-3F0D-412A46536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575" y="2730500"/>
            <a:ext cx="4911725" cy="21590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</a:t>
            </a:r>
            <a:r>
              <a:rPr kumimoji="1" lang="en-US" altLang="en-US" sz="1800" i="1">
                <a:solidFill>
                  <a:srgbClr val="000000"/>
                </a:solidFill>
                <a:latin typeface="Courier New" panose="02070309020205020404" pitchFamily="49" charset="0"/>
              </a:rPr>
              <a:t>abstract</a:t>
            </a: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class Vehicle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private String regNum;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getRegNum()…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</a:t>
            </a:r>
            <a:r>
              <a:rPr kumimoji="1" lang="en-US" altLang="en-US" sz="1800" i="1">
                <a:solidFill>
                  <a:srgbClr val="000000"/>
                </a:solidFill>
                <a:latin typeface="Courier New" panose="02070309020205020404" pitchFamily="49" charset="0"/>
              </a:rPr>
              <a:t>abstract</a:t>
            </a: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boolean 			             isRoadWorthy();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2470" name="Rectangle 5">
            <a:extLst>
              <a:ext uri="{FF2B5EF4-FFF2-40B4-BE49-F238E27FC236}">
                <a16:creationId xmlns:a16="http://schemas.microsoft.com/office/drawing/2014/main" id="{95848E17-6DD1-BA58-0E12-D70836E58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800600"/>
            <a:ext cx="3492500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Truck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   extends Vehicle{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private int axles;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public void setLoad()…</a:t>
            </a:r>
          </a:p>
        </p:txBody>
      </p:sp>
      <p:sp>
        <p:nvSpPr>
          <p:cNvPr id="62471" name="Rectangle 6">
            <a:extLst>
              <a:ext uri="{FF2B5EF4-FFF2-40B4-BE49-F238E27FC236}">
                <a16:creationId xmlns:a16="http://schemas.microsoft.com/office/drawing/2014/main" id="{C18A0F81-19A2-369E-7D08-BF3D94040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00600"/>
            <a:ext cx="3416300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   extends Vehicle{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private int numSeats;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public void fitRack()…</a:t>
            </a:r>
          </a:p>
        </p:txBody>
      </p:sp>
      <p:sp>
        <p:nvSpPr>
          <p:cNvPr id="62472" name="Line 7">
            <a:extLst>
              <a:ext uri="{FF2B5EF4-FFF2-40B4-BE49-F238E27FC236}">
                <a16:creationId xmlns:a16="http://schemas.microsoft.com/office/drawing/2014/main" id="{C35C386C-9F58-AC02-750D-5A5972E6A9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4953000"/>
            <a:ext cx="609600" cy="609600"/>
          </a:xfrm>
          <a:prstGeom prst="line">
            <a:avLst/>
          </a:prstGeom>
          <a:noFill/>
          <a:ln w="50800">
            <a:solidFill>
              <a:srgbClr val="7BEAEA"/>
            </a:solidFill>
            <a:round/>
            <a:headEnd type="none" w="sm" len="sm"/>
            <a:tailEnd type="stealth" w="med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3" name="Line 8">
            <a:extLst>
              <a:ext uri="{FF2B5EF4-FFF2-40B4-BE49-F238E27FC236}">
                <a16:creationId xmlns:a16="http://schemas.microsoft.com/office/drawing/2014/main" id="{BA4F598C-B504-5A05-A8EF-DCEA795820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24400" y="4953000"/>
            <a:ext cx="457200" cy="762000"/>
          </a:xfrm>
          <a:prstGeom prst="line">
            <a:avLst/>
          </a:prstGeom>
          <a:noFill/>
          <a:ln w="50800">
            <a:solidFill>
              <a:srgbClr val="7BEAEA"/>
            </a:solidFill>
            <a:round/>
            <a:headEnd type="none" w="sm" len="sm"/>
            <a:tailEnd type="stealth" w="med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4">
            <a:extLst>
              <a:ext uri="{FF2B5EF4-FFF2-40B4-BE49-F238E27FC236}">
                <a16:creationId xmlns:a16="http://schemas.microsoft.com/office/drawing/2014/main" id="{44110598-2EA5-9566-75D4-F4D5ED50A9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Interfaces &amp; Polymorphism</a:t>
            </a:r>
          </a:p>
        </p:txBody>
      </p:sp>
      <p:sp>
        <p:nvSpPr>
          <p:cNvPr id="64515" name="Rectangle 5">
            <a:extLst>
              <a:ext uri="{FF2B5EF4-FFF2-40B4-BE49-F238E27FC236}">
                <a16:creationId xmlns:a16="http://schemas.microsoft.com/office/drawing/2014/main" id="{D9B2089C-F62D-83B8-C679-0D5F1AF7F4F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B1F2DC0D-E855-3C05-4BD0-213F87878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Interfaces</a:t>
            </a:r>
          </a:p>
        </p:txBody>
      </p:sp>
      <p:sp>
        <p:nvSpPr>
          <p:cNvPr id="165892" name="Rectangle 3">
            <a:extLst>
              <a:ext uri="{FF2B5EF4-FFF2-40B4-BE49-F238E27FC236}">
                <a16:creationId xmlns:a16="http://schemas.microsoft.com/office/drawing/2014/main" id="{89AC4A38-F3D0-DF9E-1447-A7D3DF07FE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218113"/>
          </a:xfrm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  <a:defRPr/>
            </a:pPr>
            <a:r>
              <a:rPr lang="en-US" altLang="en-US" dirty="0"/>
              <a:t>An</a:t>
            </a:r>
            <a:r>
              <a:rPr lang="en-US" altLang="en-US" i="1" dirty="0"/>
              <a:t> </a:t>
            </a:r>
            <a:r>
              <a:rPr lang="en-US" altLang="en-US" dirty="0"/>
              <a:t>interface</a:t>
            </a:r>
            <a:r>
              <a:rPr lang="en-US" altLang="en-US" i="1" dirty="0"/>
              <a:t> </a:t>
            </a:r>
            <a:r>
              <a:rPr lang="en-US" altLang="en-US" dirty="0"/>
              <a:t>is like a </a:t>
            </a:r>
            <a:r>
              <a:rPr lang="en-US" altLang="en-US" b="1" i="1" dirty="0">
                <a:solidFill>
                  <a:srgbClr val="C00000"/>
                </a:solidFill>
              </a:rPr>
              <a:t>fully abstract class</a:t>
            </a:r>
          </a:p>
          <a:p>
            <a:pPr marL="741363" lvl="2" indent="-285750" defTabSz="346075" eaLnBrk="1" hangingPunct="1">
              <a:tabLst>
                <a:tab pos="571500" algn="l"/>
              </a:tabLst>
              <a:defRPr/>
            </a:pPr>
            <a:endParaRPr lang="en-US" altLang="en-US" sz="1800" dirty="0"/>
          </a:p>
          <a:p>
            <a:pPr marL="741363" lvl="2" indent="-285750" defTabSz="346075" eaLnBrk="1" hangingPunct="1">
              <a:tabLst>
                <a:tab pos="571500" algn="l"/>
              </a:tabLst>
              <a:defRPr/>
            </a:pPr>
            <a:r>
              <a:rPr lang="en-US" altLang="en-US" sz="1800" dirty="0"/>
              <a:t>All the methods are </a:t>
            </a:r>
            <a:r>
              <a:rPr lang="en-US" altLang="en-US" sz="1800" b="1" dirty="0">
                <a:solidFill>
                  <a:schemeClr val="accent6">
                    <a:lumMod val="50000"/>
                  </a:schemeClr>
                </a:solidFill>
              </a:rPr>
              <a:t>public and abstract- Till Java 8</a:t>
            </a:r>
          </a:p>
          <a:p>
            <a:pPr marL="1198563" lvl="3" indent="-285750" defTabSz="346075" eaLnBrk="1" hangingPunct="1">
              <a:tabLst>
                <a:tab pos="571500" algn="l"/>
              </a:tabLst>
              <a:defRPr/>
            </a:pPr>
            <a:r>
              <a:rPr lang="en-US" altLang="en-US" sz="1800" dirty="0"/>
              <a:t>No instance variables if present they are </a:t>
            </a:r>
            <a:r>
              <a:rPr lang="en-US" altLang="en-US" sz="1800" b="1" dirty="0">
                <a:solidFill>
                  <a:srgbClr val="009999"/>
                </a:solidFill>
              </a:rPr>
              <a:t>public static final</a:t>
            </a:r>
          </a:p>
          <a:p>
            <a:pPr marL="341313" lvl="1" indent="-227013" defTabSz="346075" eaLnBrk="1" hangingPunct="1">
              <a:tabLst>
                <a:tab pos="571500" algn="l"/>
              </a:tabLst>
              <a:defRPr/>
            </a:pPr>
            <a:endParaRPr lang="en-US" altLang="en-US" dirty="0"/>
          </a:p>
          <a:p>
            <a:pPr marL="341313" lvl="1" indent="-227013" defTabSz="346075" eaLnBrk="1" hangingPunct="1">
              <a:tabLst>
                <a:tab pos="571500" algn="l"/>
              </a:tabLst>
              <a:defRPr/>
            </a:pPr>
            <a:r>
              <a:rPr lang="en-US" altLang="en-US" dirty="0"/>
              <a:t>Defines a set of methods that other classes can implement</a:t>
            </a:r>
          </a:p>
          <a:p>
            <a:pPr marL="741363" lvl="2" indent="-285750" defTabSz="346075" eaLnBrk="1" hangingPunct="1">
              <a:lnSpc>
                <a:spcPct val="150000"/>
              </a:lnSpc>
              <a:tabLst>
                <a:tab pos="571500" algn="l"/>
              </a:tabLst>
              <a:defRPr/>
            </a:pPr>
            <a:endParaRPr lang="en-US" altLang="en-US" sz="1800" b="1" i="1" dirty="0"/>
          </a:p>
          <a:p>
            <a:pPr marL="741363" lvl="2" indent="-285750" defTabSz="346075" eaLnBrk="1" hangingPunct="1">
              <a:lnSpc>
                <a:spcPct val="150000"/>
              </a:lnSpc>
              <a:tabLst>
                <a:tab pos="571500" algn="l"/>
              </a:tabLst>
              <a:defRPr/>
            </a:pPr>
            <a:r>
              <a:rPr lang="en-US" altLang="en-US" sz="1800" b="1" i="1" dirty="0"/>
              <a:t>A class can implement many interfaces, </a:t>
            </a:r>
          </a:p>
          <a:p>
            <a:pPr marL="1198563" lvl="3" indent="-285750" defTabSz="346075" eaLnBrk="1" hangingPunct="1">
              <a:lnSpc>
                <a:spcPct val="150000"/>
              </a:lnSpc>
              <a:tabLst>
                <a:tab pos="571500" algn="l"/>
              </a:tabLst>
              <a:defRPr/>
            </a:pPr>
            <a:r>
              <a:rPr lang="en-US" altLang="en-US" sz="1800" b="1" i="1" dirty="0"/>
              <a:t>but can </a:t>
            </a:r>
            <a:r>
              <a:rPr lang="en-US" altLang="en-US" sz="1800" b="1" i="1" dirty="0">
                <a:solidFill>
                  <a:srgbClr val="00B0F0"/>
                </a:solidFill>
              </a:rPr>
              <a:t>extend only one class</a:t>
            </a:r>
          </a:p>
          <a:p>
            <a:pPr marL="1198563" lvl="3" indent="-227013" defTabSz="346075" eaLnBrk="1" hangingPunct="1">
              <a:lnSpc>
                <a:spcPct val="150000"/>
              </a:lnSpc>
              <a:tabLst>
                <a:tab pos="571500" algn="l"/>
              </a:tabLst>
              <a:defRPr/>
            </a:pPr>
            <a:r>
              <a:rPr lang="en-US" altLang="ko-KR" b="1" dirty="0">
                <a:solidFill>
                  <a:srgbClr val="0033CC"/>
                </a:solidFill>
                <a:ea typeface="굴림" panose="020B0600000101010101" pitchFamily="34" charset="-127"/>
              </a:rPr>
              <a:t>can extend other interfaces</a:t>
            </a:r>
            <a:r>
              <a:rPr lang="en-US" altLang="ko-KR" dirty="0">
                <a:ea typeface="굴림" panose="020B0600000101010101" pitchFamily="34" charset="-127"/>
              </a:rPr>
              <a:t> and extend multiple interfaces</a:t>
            </a:r>
          </a:p>
          <a:p>
            <a:pPr marL="341313" lvl="1" indent="-227013" defTabSz="346075" eaLnBrk="1" hangingPunct="1">
              <a:tabLst>
                <a:tab pos="571500" algn="l"/>
              </a:tabLst>
              <a:defRPr/>
            </a:pPr>
            <a:endParaRPr lang="en-US" altLang="ko-KR" dirty="0">
              <a:ea typeface="굴림" panose="020B0600000101010101" pitchFamily="34" charset="-127"/>
            </a:endParaRPr>
          </a:p>
          <a:p>
            <a:pPr marL="0" indent="0" defTabSz="346075" eaLnBrk="1" hangingPunct="1">
              <a:tabLst>
                <a:tab pos="571500" algn="l"/>
              </a:tabLst>
              <a:defRPr/>
            </a:pPr>
            <a:endParaRPr lang="en-US" altLang="en-US" dirty="0"/>
          </a:p>
          <a:p>
            <a:pPr marL="741363" lvl="2" indent="-285750" defTabSz="346075" eaLnBrk="1" hangingPunct="1">
              <a:tabLst>
                <a:tab pos="571500" algn="l"/>
              </a:tabLst>
              <a:defRPr/>
            </a:pPr>
            <a:endParaRPr lang="en-US" altLang="en-US" sz="1800" dirty="0"/>
          </a:p>
        </p:txBody>
      </p:sp>
      <p:sp>
        <p:nvSpPr>
          <p:cNvPr id="65540" name="Slide Number Placeholder 5">
            <a:extLst>
              <a:ext uri="{FF2B5EF4-FFF2-40B4-BE49-F238E27FC236}">
                <a16:creationId xmlns:a16="http://schemas.microsoft.com/office/drawing/2014/main" id="{8EBE2C92-F7AD-5394-C5FA-56F9675F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FA873E-C7F7-E142-8088-5C8B1E9FCB2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4BF98AFF-B5C8-F378-B871-45BA807D6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67587" name="Slide Number Placeholder 3">
            <a:extLst>
              <a:ext uri="{FF2B5EF4-FFF2-40B4-BE49-F238E27FC236}">
                <a16:creationId xmlns:a16="http://schemas.microsoft.com/office/drawing/2014/main" id="{8E431DAD-F94F-6BD1-649F-9C4F177FAF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9422C3-ADFF-FF42-A02B-B45BBBFB8D0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/>
          </a:p>
        </p:txBody>
      </p:sp>
      <p:pic>
        <p:nvPicPr>
          <p:cNvPr id="67588" name="Picture 2">
            <a:extLst>
              <a:ext uri="{FF2B5EF4-FFF2-40B4-BE49-F238E27FC236}">
                <a16:creationId xmlns:a16="http://schemas.microsoft.com/office/drawing/2014/main" id="{3E270114-2246-87F2-1BFE-D4AAA3AEA3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457200"/>
            <a:ext cx="8229600" cy="5867400"/>
          </a:xfr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0FB1B27B-6AD1-EE78-C3BC-AE93F86EA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Example of Interfaces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2099EB4-CA69-CF00-D735-AFBB0344E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1520825"/>
          </a:xfrm>
        </p:spPr>
        <p:txBody>
          <a:bodyPr lIns="92075" tIns="46038" rIns="92075" bIns="46038">
            <a:spAutoFit/>
          </a:bodyPr>
          <a:lstStyle/>
          <a:p>
            <a:pPr marL="457200" lvl="1" indent="-342900" defTabSz="346075" eaLnBrk="1" hangingPunct="1">
              <a:tabLst>
                <a:tab pos="571500" algn="l"/>
              </a:tabLst>
            </a:pPr>
            <a:r>
              <a:rPr lang="en-US" altLang="en-US"/>
              <a:t>Interfaces describe an aspect of behavior that different classes can support</a:t>
            </a:r>
          </a:p>
          <a:p>
            <a:pPr marL="857250" lvl="2" indent="-342900" defTabSz="346075" eaLnBrk="1" hangingPunct="1">
              <a:tabLst>
                <a:tab pos="571500" algn="l"/>
              </a:tabLst>
            </a:pPr>
            <a:r>
              <a:rPr lang="en-US" altLang="en-US"/>
              <a:t>Any class that supports the “Steerable” interface can be steered:</a:t>
            </a:r>
          </a:p>
        </p:txBody>
      </p:sp>
      <p:sp>
        <p:nvSpPr>
          <p:cNvPr id="68612" name="Slide Number Placeholder 5">
            <a:extLst>
              <a:ext uri="{FF2B5EF4-FFF2-40B4-BE49-F238E27FC236}">
                <a16:creationId xmlns:a16="http://schemas.microsoft.com/office/drawing/2014/main" id="{421E68E4-681D-1900-1347-126EDDB2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644EE0-1BD6-E540-B6D5-077CBA7F038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/>
          </a:p>
        </p:txBody>
      </p:sp>
      <p:pic>
        <p:nvPicPr>
          <p:cNvPr id="68613" name="Picture 4">
            <a:extLst>
              <a:ext uri="{FF2B5EF4-FFF2-40B4-BE49-F238E27FC236}">
                <a16:creationId xmlns:a16="http://schemas.microsoft.com/office/drawing/2014/main" id="{66531B56-E0A0-2A74-D67E-7DC04F6D9E2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4862513"/>
            <a:ext cx="1277938" cy="101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4" name="Rectangle 5">
            <a:extLst>
              <a:ext uri="{FF2B5EF4-FFF2-40B4-BE49-F238E27FC236}">
                <a16:creationId xmlns:a16="http://schemas.microsoft.com/office/drawing/2014/main" id="{504F14AE-0639-D766-AD51-8F55097A7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850" y="4371975"/>
            <a:ext cx="23860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en-US" i="1"/>
              <a:t>Not Steerable</a:t>
            </a:r>
          </a:p>
        </p:txBody>
      </p:sp>
      <p:pic>
        <p:nvPicPr>
          <p:cNvPr id="68615" name="Picture 6">
            <a:extLst>
              <a:ext uri="{FF2B5EF4-FFF2-40B4-BE49-F238E27FC236}">
                <a16:creationId xmlns:a16="http://schemas.microsoft.com/office/drawing/2014/main" id="{426FD569-EE9B-3C9D-5E75-BA3942D871BC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113" y="4595813"/>
            <a:ext cx="1731962" cy="128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6" name="Picture 7">
            <a:extLst>
              <a:ext uri="{FF2B5EF4-FFF2-40B4-BE49-F238E27FC236}">
                <a16:creationId xmlns:a16="http://schemas.microsoft.com/office/drawing/2014/main" id="{C4606C5C-4E0A-F335-8E43-C51A8D5545D6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88" y="4945063"/>
            <a:ext cx="1322387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7" name="Rectangle 8">
            <a:extLst>
              <a:ext uri="{FF2B5EF4-FFF2-40B4-BE49-F238E27FC236}">
                <a16:creationId xmlns:a16="http://schemas.microsoft.com/office/drawing/2014/main" id="{88066F6E-0BBF-D1CF-650C-C1E0C67FA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638" y="4371975"/>
            <a:ext cx="155575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en-US" i="1"/>
              <a:t>Steerable</a:t>
            </a:r>
          </a:p>
        </p:txBody>
      </p:sp>
      <p:sp>
        <p:nvSpPr>
          <p:cNvPr id="68618" name="Rectangle 9">
            <a:extLst>
              <a:ext uri="{FF2B5EF4-FFF2-40B4-BE49-F238E27FC236}">
                <a16:creationId xmlns:a16="http://schemas.microsoft.com/office/drawing/2014/main" id="{DAFF12DF-FBD6-E815-E31D-74FEBCF7A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4344988"/>
            <a:ext cx="3810000" cy="1662112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D5BAFB5F-665C-7D5C-30BD-740448C8C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</a:t>
            </a:r>
          </a:p>
        </p:txBody>
      </p:sp>
      <p:sp>
        <p:nvSpPr>
          <p:cNvPr id="167940" name="Rectangle 3">
            <a:extLst>
              <a:ext uri="{FF2B5EF4-FFF2-40B4-BE49-F238E27FC236}">
                <a16:creationId xmlns:a16="http://schemas.microsoft.com/office/drawing/2014/main" id="{A438385E-1C0A-A5BE-FDF5-47CF4CA863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en-US" sz="2000" dirty="0"/>
              <a:t>Interfaces define types in an abstract form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/>
              <a:t>Allows the specification of a reference type without providing an implementation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/>
              <a:t>The class that implements the interface decides how to implement 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b="1" u="sng" dirty="0"/>
              <a:t>Use</a:t>
            </a:r>
            <a:r>
              <a:rPr lang="en-US" altLang="en-US" b="1" u="sng" dirty="0">
                <a:latin typeface="Courier New" panose="02070309020205020404" pitchFamily="49" charset="0"/>
              </a:rPr>
              <a:t> interface</a:t>
            </a:r>
            <a:r>
              <a:rPr lang="en-US" altLang="en-US" b="1" u="sng" dirty="0"/>
              <a:t> keyword instead of </a:t>
            </a:r>
            <a:r>
              <a:rPr lang="en-US" altLang="en-US" b="1" u="sng" dirty="0">
                <a:latin typeface="Courier New" panose="02070309020205020404" pitchFamily="49" charset="0"/>
              </a:rPr>
              <a:t>class</a:t>
            </a:r>
            <a:br>
              <a:rPr lang="en-US" altLang="en-US" b="1" u="sng" dirty="0">
                <a:latin typeface="Courier New" panose="02070309020205020404" pitchFamily="49" charset="0"/>
              </a:rPr>
            </a:br>
            <a:endParaRPr lang="en-US" altLang="en-US" b="1" u="sng" dirty="0"/>
          </a:p>
          <a:p>
            <a:pPr marL="457200" lvl="1" indent="0">
              <a:lnSpc>
                <a:spcPct val="150000"/>
              </a:lnSpc>
              <a:buFontTx/>
              <a:buNone/>
              <a:defRPr/>
            </a:pPr>
            <a:r>
              <a:rPr lang="en-IN" b="1" dirty="0">
                <a:solidFill>
                  <a:srgbClr val="7F0055"/>
                </a:solidFill>
              </a:rPr>
              <a:t>public</a:t>
            </a:r>
            <a:r>
              <a:rPr lang="en-IN" b="1" dirty="0">
                <a:solidFill>
                  <a:srgbClr val="000000"/>
                </a:solidFill>
              </a:rPr>
              <a:t> </a:t>
            </a:r>
            <a:r>
              <a:rPr lang="en-IN" b="1" dirty="0">
                <a:solidFill>
                  <a:srgbClr val="7F0055"/>
                </a:solidFill>
              </a:rPr>
              <a:t>interface</a:t>
            </a:r>
            <a:r>
              <a:rPr lang="en-IN" b="1" dirty="0">
                <a:solidFill>
                  <a:srgbClr val="000000"/>
                </a:solidFill>
              </a:rPr>
              <a:t> Function {</a:t>
            </a:r>
          </a:p>
          <a:p>
            <a:pPr marL="457200" lvl="1" indent="0">
              <a:lnSpc>
                <a:spcPct val="150000"/>
              </a:lnSpc>
              <a:buFontTx/>
              <a:buNone/>
              <a:defRPr/>
            </a:pPr>
            <a:r>
              <a:rPr lang="en-IN" b="1" dirty="0">
                <a:solidFill>
                  <a:srgbClr val="7F0055"/>
                </a:solidFill>
              </a:rPr>
              <a:t>      public</a:t>
            </a:r>
            <a:r>
              <a:rPr lang="en-IN" b="1" dirty="0">
                <a:solidFill>
                  <a:srgbClr val="000000"/>
                </a:solidFill>
              </a:rPr>
              <a:t> </a:t>
            </a:r>
            <a:r>
              <a:rPr lang="en-IN" b="1" dirty="0">
                <a:solidFill>
                  <a:srgbClr val="7F0055"/>
                </a:solidFill>
              </a:rPr>
              <a:t>double</a:t>
            </a:r>
            <a:r>
              <a:rPr lang="en-IN" b="1" dirty="0">
                <a:solidFill>
                  <a:srgbClr val="000000"/>
                </a:solidFill>
              </a:rPr>
              <a:t> apply(</a:t>
            </a:r>
            <a:r>
              <a:rPr lang="en-IN" b="1" dirty="0">
                <a:solidFill>
                  <a:srgbClr val="7F0055"/>
                </a:solidFill>
              </a:rPr>
              <a:t>double</a:t>
            </a:r>
            <a:r>
              <a:rPr lang="en-IN" b="1" dirty="0">
                <a:solidFill>
                  <a:srgbClr val="000000"/>
                </a:solidFill>
              </a:rPr>
              <a:t> </a:t>
            </a:r>
            <a:r>
              <a:rPr lang="en-IN" b="1" dirty="0" err="1">
                <a:solidFill>
                  <a:srgbClr val="6A3E3E"/>
                </a:solidFill>
              </a:rPr>
              <a:t>arg</a:t>
            </a:r>
            <a:r>
              <a:rPr lang="en-IN" b="1" dirty="0">
                <a:solidFill>
                  <a:srgbClr val="000000"/>
                </a:solidFill>
              </a:rPr>
              <a:t>);</a:t>
            </a:r>
          </a:p>
          <a:p>
            <a:pPr marL="457200" lvl="1" indent="0">
              <a:lnSpc>
                <a:spcPct val="150000"/>
              </a:lnSpc>
              <a:buFontTx/>
              <a:buNone/>
              <a:defRPr/>
            </a:pPr>
            <a:r>
              <a:rPr lang="en-IN" dirty="0">
                <a:solidFill>
                  <a:srgbClr val="000000"/>
                </a:solidFill>
              </a:rPr>
              <a:t>}</a:t>
            </a:r>
          </a:p>
          <a:p>
            <a:pPr lvl="1" eaLnBrk="1" hangingPunct="1">
              <a:lnSpc>
                <a:spcPct val="150000"/>
              </a:lnSpc>
              <a:defRPr/>
            </a:pPr>
            <a:endParaRPr lang="en-US" altLang="en-US" dirty="0"/>
          </a:p>
        </p:txBody>
      </p:sp>
      <p:sp>
        <p:nvSpPr>
          <p:cNvPr id="70660" name="Slide Number Placeholder 5">
            <a:extLst>
              <a:ext uri="{FF2B5EF4-FFF2-40B4-BE49-F238E27FC236}">
                <a16:creationId xmlns:a16="http://schemas.microsoft.com/office/drawing/2014/main" id="{6511E971-E1CF-ECF8-B354-8D96470A3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0D3BC2-0932-2549-AF14-E3F58F07F37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CA06C960-FE80-7DB5-0F51-18AB1A2220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 the Interface</a:t>
            </a:r>
            <a:endParaRPr lang="en-IN" altLang="en-US"/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CF53D84D-EDA6-E41A-206B-0675F0FD81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CurrencyConverter </a:t>
            </a: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Function {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 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apply(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arg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    return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arg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* 45;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r>
              <a:rPr lang="en-IN" altLang="en-US"/>
              <a:t>Function usdToInr = </a:t>
            </a:r>
            <a:r>
              <a:rPr lang="en-IN" altLang="en-US" b="1"/>
              <a:t>new CurrencyConverter();</a:t>
            </a:r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r>
              <a:rPr lang="en-IN" altLang="en-US"/>
              <a:t> System.</a:t>
            </a:r>
            <a:r>
              <a:rPr lang="en-IN" altLang="en-US" b="1" i="1"/>
              <a:t>out.println(usdToInr.apply(100));</a:t>
            </a:r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endParaRPr lang="en-IN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6B613D5D-A8F2-C67C-499C-4278E5701C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986800-C79F-1740-AB54-5EA923BBEC3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5">
            <a:extLst>
              <a:ext uri="{FF2B5EF4-FFF2-40B4-BE49-F238E27FC236}">
                <a16:creationId xmlns:a16="http://schemas.microsoft.com/office/drawing/2014/main" id="{D61AC25D-A543-96B2-1BFE-5019E3E9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1BF8F1-8306-7D44-92B4-E6C6E641C08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4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F1F5365E-CC04-DC7E-FA7A-0371A50A90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Implementing an Interface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382963D6-6449-7A8B-E8D0-A3126D90C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" y="1651000"/>
            <a:ext cx="4225925" cy="18161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interface Steerable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int maxTurn = 135;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void turnLeft(int deg);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void turnRight(int deg);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3733" name="Rectangle 4">
            <a:extLst>
              <a:ext uri="{FF2B5EF4-FFF2-40B4-BE49-F238E27FC236}">
                <a16:creationId xmlns:a16="http://schemas.microsoft.com/office/drawing/2014/main" id="{A3EF96C2-DD73-8638-10E7-7F7924DD1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157538"/>
            <a:ext cx="5427663" cy="28448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public class Car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   extends Vehicle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   implements Steerable {  </a:t>
            </a:r>
            <a:b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public void turnLeft(int deg)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{…}</a:t>
            </a:r>
          </a:p>
          <a:p>
            <a:pPr>
              <a:spcBef>
                <a:spcPct val="0"/>
              </a:spcBef>
              <a:buFontTx/>
              <a:buNone/>
            </a:pP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public void turnRight(int deg)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{…}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>
            <a:extLst>
              <a:ext uri="{FF2B5EF4-FFF2-40B4-BE49-F238E27FC236}">
                <a16:creationId xmlns:a16="http://schemas.microsoft.com/office/drawing/2014/main" id="{AA35AF20-B7B0-87C4-4E3B-2D661B5F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877E41-DED7-AE47-9514-9B605B3A128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400"/>
          </a:p>
        </p:txBody>
      </p:sp>
      <p:sp>
        <p:nvSpPr>
          <p:cNvPr id="75779" name="Rectangle 1026">
            <a:extLst>
              <a:ext uri="{FF2B5EF4-FFF2-40B4-BE49-F238E27FC236}">
                <a16:creationId xmlns:a16="http://schemas.microsoft.com/office/drawing/2014/main" id="{89435E01-4F47-600B-C8B6-0BF594842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Partial Implementation of an Interface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75780" name="Rectangle 1027">
            <a:extLst>
              <a:ext uri="{FF2B5EF4-FFF2-40B4-BE49-F238E27FC236}">
                <a16:creationId xmlns:a16="http://schemas.microsoft.com/office/drawing/2014/main" id="{B2DEA718-3BD1-60F2-DC2A-B27B001EAA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52525"/>
            <a:ext cx="7772400" cy="45989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Declare the class as abstract if the class does not implement all the methods of an interface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Implement the methods in the sub class level</a:t>
            </a:r>
          </a:p>
        </p:txBody>
      </p:sp>
      <p:sp>
        <p:nvSpPr>
          <p:cNvPr id="75781" name="Rectangle 1028">
            <a:extLst>
              <a:ext uri="{FF2B5EF4-FFF2-40B4-BE49-F238E27FC236}">
                <a16:creationId xmlns:a16="http://schemas.microsoft.com/office/drawing/2014/main" id="{B7C2CE09-7E15-03AD-4B36-DF8D22B48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667000"/>
            <a:ext cx="7086600" cy="25400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Public abstract class Car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   		extends Vehicle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		       implements Steerable {  </a:t>
            </a:r>
            <a:b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public void turnLeft(int deg)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{…}</a:t>
            </a:r>
          </a:p>
          <a:p>
            <a:pPr>
              <a:spcBef>
                <a:spcPct val="0"/>
              </a:spcBef>
              <a:buFontTx/>
              <a:buNone/>
            </a:pP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>
            <a:extLst>
              <a:ext uri="{FF2B5EF4-FFF2-40B4-BE49-F238E27FC236}">
                <a16:creationId xmlns:a16="http://schemas.microsoft.com/office/drawing/2014/main" id="{F3768BD3-FAF6-F53B-1A8F-09B2B4D5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9E2954-88C6-F342-9085-B83C9589B2E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4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ADB339F4-2980-8673-7800-CC9EE9401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8" y="6267450"/>
            <a:ext cx="191293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BF5B3FAF-6D0E-C651-777F-93398846D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267450"/>
            <a:ext cx="28352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7829" name="Rectangle 4">
            <a:extLst>
              <a:ext uri="{FF2B5EF4-FFF2-40B4-BE49-F238E27FC236}">
                <a16:creationId xmlns:a16="http://schemas.microsoft.com/office/drawing/2014/main" id="{1B1D02ED-1F30-D118-7791-2BBA3E17D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Using </a:t>
            </a:r>
            <a:r>
              <a:rPr lang="en-US" altLang="en-US">
                <a:latin typeface="Courier New" panose="02070309020205020404" pitchFamily="49" charset="0"/>
              </a:rPr>
              <a:t>instanceof</a:t>
            </a:r>
            <a:r>
              <a:rPr lang="en-US" altLang="en-US"/>
              <a:t> with Interfaces</a:t>
            </a:r>
          </a:p>
        </p:txBody>
      </p:sp>
      <p:sp>
        <p:nvSpPr>
          <p:cNvPr id="77830" name="Rectangle 5">
            <a:extLst>
              <a:ext uri="{FF2B5EF4-FFF2-40B4-BE49-F238E27FC236}">
                <a16:creationId xmlns:a16="http://schemas.microsoft.com/office/drawing/2014/main" id="{17353960-34B3-6B01-5D13-275B78957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1066800"/>
            <a:ext cx="7975600" cy="1371600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</a:rPr>
              <a:t>instanceof</a:t>
            </a:r>
            <a:r>
              <a:rPr lang="en-US" altLang="en-US"/>
              <a:t> operator can be used to check if an object implements an interface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Downcasting can be used if necessary, to call methods defined in the interface</a:t>
            </a:r>
          </a:p>
        </p:txBody>
      </p:sp>
      <p:sp>
        <p:nvSpPr>
          <p:cNvPr id="77831" name="Rectangle 6">
            <a:extLst>
              <a:ext uri="{FF2B5EF4-FFF2-40B4-BE49-F238E27FC236}">
                <a16:creationId xmlns:a16="http://schemas.microsoft.com/office/drawing/2014/main" id="{8A081979-59E4-CE45-F506-3CFEEA9BA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650" y="4122738"/>
            <a:ext cx="5416550" cy="2006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public void aMethod(Object obj)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if (obj instanceof Steerable)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((Steerable)obj).turnLeft();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5">
            <a:extLst>
              <a:ext uri="{FF2B5EF4-FFF2-40B4-BE49-F238E27FC236}">
                <a16:creationId xmlns:a16="http://schemas.microsoft.com/office/drawing/2014/main" id="{C6BC6DA0-A5D8-3910-8F77-0D12AA52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134A52-E85B-2B4A-87EC-DD1DF42CCBC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4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21B3727-1E52-0B00-1888-A9100971D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Extending an Interface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3BE6691B-3DD8-59BD-C793-25BC83A1B4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One Interface can extend another Interface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79877" name="Rectangle 4">
            <a:extLst>
              <a:ext uri="{FF2B5EF4-FFF2-40B4-BE49-F238E27FC236}">
                <a16:creationId xmlns:a16="http://schemas.microsoft.com/office/drawing/2014/main" id="{9148372F-9EC2-CEE8-50DE-37C8FC2DF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362200"/>
            <a:ext cx="4225925" cy="18161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interface Steerable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int maxTurn = 135;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void turnLeft(int deg);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void turnRight(int deg);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9878" name="Rectangle 5">
            <a:extLst>
              <a:ext uri="{FF2B5EF4-FFF2-40B4-BE49-F238E27FC236}">
                <a16:creationId xmlns:a16="http://schemas.microsoft.com/office/drawing/2014/main" id="{43F4DC3A-7366-1464-E12A-D703F3028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191000"/>
            <a:ext cx="5334000" cy="1625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public interface Navigator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	         extends Steerable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void calcSpeed(int distance);</a:t>
            </a:r>
          </a:p>
          <a:p>
            <a:pPr>
              <a:spcBef>
                <a:spcPct val="0"/>
              </a:spcBef>
              <a:buFontTx/>
              <a:buNone/>
            </a:pP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}		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5">
            <a:extLst>
              <a:ext uri="{FF2B5EF4-FFF2-40B4-BE49-F238E27FC236}">
                <a16:creationId xmlns:a16="http://schemas.microsoft.com/office/drawing/2014/main" id="{0DEAA15A-C9E6-4331-D8E0-91632336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C6FE52-7301-0F4C-9D4E-983CDC55A67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4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786DB5E-984D-BDDE-4CFE-171F378E5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/>
          <a:p>
            <a:pPr eaLnBrk="1" hangingPunct="1"/>
            <a:r>
              <a:rPr lang="en-US" altLang="en-US"/>
              <a:t>Polymorphism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E4C1D1D4-8BF2-5856-6E55-D4ADC19FEA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1800"/>
              <a:t>This OO Principle allows the programmer to program abstractly</a:t>
            </a:r>
          </a:p>
          <a:p>
            <a:pPr eaLnBrk="1" hangingPunct="1">
              <a:lnSpc>
                <a:spcPct val="120000"/>
              </a:lnSpc>
            </a:pPr>
            <a:endParaRPr lang="en-US" altLang="en-US" sz="1800"/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Objects of a subclass can be treated as objects of its superclass</a:t>
            </a:r>
          </a:p>
          <a:p>
            <a:pPr eaLnBrk="1" hangingPunct="1">
              <a:lnSpc>
                <a:spcPct val="120000"/>
              </a:lnSpc>
            </a:pPr>
            <a:endParaRPr lang="en-US" altLang="en-US" sz="1800"/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The base class of a hierarchy is usually an abstract class or an Interface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They define the common behavior (functionality) </a:t>
            </a:r>
          </a:p>
          <a:p>
            <a:pPr eaLnBrk="1" hangingPunct="1">
              <a:lnSpc>
                <a:spcPct val="120000"/>
              </a:lnSpc>
            </a:pPr>
            <a:endParaRPr lang="en-US" altLang="en-US" sz="1800"/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Classes and Subclasses inherit this behavior and extend it according to their own properties by overriding the methods of the super class</a:t>
            </a:r>
          </a:p>
          <a:p>
            <a:pPr eaLnBrk="1" hangingPunct="1">
              <a:lnSpc>
                <a:spcPct val="120000"/>
              </a:lnSpc>
            </a:pPr>
            <a:endParaRPr lang="en-US" altLang="en-US" sz="1800" b="1"/>
          </a:p>
          <a:p>
            <a:pPr eaLnBrk="1" hangingPunct="1">
              <a:lnSpc>
                <a:spcPct val="120000"/>
              </a:lnSpc>
            </a:pPr>
            <a:r>
              <a:rPr lang="en-US" altLang="en-US" sz="1800" b="1"/>
              <a:t>Subclass objects can be treated as super class</a:t>
            </a:r>
            <a:r>
              <a:rPr lang="en-US" altLang="en-US" sz="1800"/>
              <a:t> objects through references,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But, </a:t>
            </a:r>
            <a:r>
              <a:rPr lang="en-US" altLang="en-US" sz="1600" b="1"/>
              <a:t>super class objects are not subclass objects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5">
            <a:extLst>
              <a:ext uri="{FF2B5EF4-FFF2-40B4-BE49-F238E27FC236}">
                <a16:creationId xmlns:a16="http://schemas.microsoft.com/office/drawing/2014/main" id="{5357F5FA-4E18-C012-8FD5-22831671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3907E0-FA5C-2C48-8C6C-DB568AB3F97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4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820275EA-5EBE-49F4-E00F-7493C3EF4A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Polymorphism</a:t>
            </a:r>
          </a:p>
        </p:txBody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90207718-60BE-ACDC-ECF3-CB0F5B681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000"/>
              <a:t>Allows for hierarchies to be highly extensible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New classes can be introduced and can still be processed without changing other parts of the program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Same method can do different things, depending on the class that implements it.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Method invoked is associated with OBJECT and not with reference.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 Types of Polymorphism -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Method Overloading.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Method Overriding.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5">
            <a:extLst>
              <a:ext uri="{FF2B5EF4-FFF2-40B4-BE49-F238E27FC236}">
                <a16:creationId xmlns:a16="http://schemas.microsoft.com/office/drawing/2014/main" id="{157B79EE-00BC-052F-91DA-978B616A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C01012-42D3-CF4B-8B92-16F70724024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4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8674551E-491F-2A3E-7218-9B38FBD05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Polymorphism</a:t>
            </a: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1FC281EA-9566-E478-87D1-C4C5F4B7A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interface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Conditional {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test();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914400" lvl="2" indent="0" eaLnBrk="1" hangingPunct="1">
              <a:lnSpc>
                <a:spcPct val="80000"/>
              </a:lnSpc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441E94E-A0A1-E6D4-BEE8-CC4C46D4E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Implementation -One</a:t>
            </a:r>
            <a:endParaRPr lang="en-IN" altLang="en-US"/>
          </a:p>
        </p:txBody>
      </p:sp>
      <p:sp>
        <p:nvSpPr>
          <p:cNvPr id="84995" name="Content Placeholder 2">
            <a:extLst>
              <a:ext uri="{FF2B5EF4-FFF2-40B4-BE49-F238E27FC236}">
                <a16:creationId xmlns:a16="http://schemas.microsoft.com/office/drawing/2014/main" id="{1BE55B2A-A5B4-929C-6E45-6BE21B7734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Professor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Conditional {</a:t>
            </a:r>
          </a:p>
          <a:p>
            <a:pPr marL="457200" lvl="1" indent="0">
              <a:buFontTx/>
              <a:buNone/>
            </a:pPr>
            <a:endParaRPr lang="en-IN" altLang="en-US" b="1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IN" altLang="en-US" b="1">
                <a:solidFill>
                  <a:srgbClr val="0000C0"/>
                </a:solidFill>
                <a:latin typeface="Consolas" panose="020B0609020204030204" pitchFamily="49" charset="0"/>
              </a:rPr>
              <a:t>qualification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endParaRPr lang="en-IN" altLang="en-US">
              <a:solidFill>
                <a:srgbClr val="646464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test() {</a:t>
            </a:r>
          </a:p>
          <a:p>
            <a:pPr marL="457200" lvl="1" indent="0">
              <a:buFontTx/>
              <a:buNone/>
            </a:pP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   return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b="1">
                <a:solidFill>
                  <a:srgbClr val="0000C0"/>
                </a:solidFill>
                <a:latin typeface="Consolas" panose="020B0609020204030204" pitchFamily="49" charset="0"/>
              </a:rPr>
              <a:t>qualification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.equalsIgnoreCase(</a:t>
            </a:r>
            <a:r>
              <a:rPr lang="en-US" altLang="en-US" b="1">
                <a:solidFill>
                  <a:srgbClr val="2A00FF"/>
                </a:solidFill>
                <a:latin typeface="Consolas" panose="020B0609020204030204" pitchFamily="49" charset="0"/>
              </a:rPr>
              <a:t>"phd"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C7505356-E0BA-5434-58A5-F8AB428D4E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3611D8-8666-8441-876F-8CDBB609C16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>
            <a:extLst>
              <a:ext uri="{FF2B5EF4-FFF2-40B4-BE49-F238E27FC236}">
                <a16:creationId xmlns:a16="http://schemas.microsoft.com/office/drawing/2014/main" id="{931D0CED-97DE-80B0-6712-C5AE17AC6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Implementation -Two</a:t>
            </a:r>
            <a:endParaRPr lang="en-IN" altLang="en-US"/>
          </a:p>
        </p:txBody>
      </p:sp>
      <p:sp>
        <p:nvSpPr>
          <p:cNvPr id="86019" name="Content Placeholder 2">
            <a:extLst>
              <a:ext uri="{FF2B5EF4-FFF2-40B4-BE49-F238E27FC236}">
                <a16:creationId xmlns:a16="http://schemas.microsoft.com/office/drawing/2014/main" id="{D3DF9230-F593-DDC2-D51B-96C06BB1AA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Student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Conditional {</a:t>
            </a:r>
          </a:p>
          <a:p>
            <a:pPr marL="457200" lvl="1" indent="0">
              <a:buFontTx/>
              <a:buNone/>
            </a:pPr>
            <a:endParaRPr lang="en-IN" altLang="en-US" b="1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0000C0"/>
                </a:solidFill>
                <a:latin typeface="Consolas" panose="020B0609020204030204" pitchFamily="49" charset="0"/>
              </a:rPr>
              <a:t>markScored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test() {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  return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altLang="en-US" b="1">
                <a:solidFill>
                  <a:srgbClr val="0000C0"/>
                </a:solidFill>
                <a:latin typeface="Consolas" panose="020B0609020204030204" pitchFamily="49" charset="0"/>
              </a:rPr>
              <a:t>markScored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&gt;90;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2835E887-AEA0-B650-215F-01137E0D8F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437ABA-0D4C-3746-BB93-FCD659FC0DF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>
            <a:extLst>
              <a:ext uri="{FF2B5EF4-FFF2-40B4-BE49-F238E27FC236}">
                <a16:creationId xmlns:a16="http://schemas.microsoft.com/office/drawing/2014/main" id="{7B226DBA-B365-016E-ED11-481D45313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Polymorphism</a:t>
            </a:r>
            <a:endParaRPr lang="en-IN" altLang="en-US"/>
          </a:p>
        </p:txBody>
      </p:sp>
      <p:sp>
        <p:nvSpPr>
          <p:cNvPr id="87043" name="Content Placeholder 2">
            <a:extLst>
              <a:ext uri="{FF2B5EF4-FFF2-40B4-BE49-F238E27FC236}">
                <a16:creationId xmlns:a16="http://schemas.microsoft.com/office/drawing/2014/main" id="{056613E8-480C-944C-2C31-6E835454F0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print(</a:t>
            </a:r>
            <a:r>
              <a:rPr lang="en-IN" altLang="en-US" b="1">
                <a:solidFill>
                  <a:srgbClr val="7030A0"/>
                </a:solidFill>
                <a:latin typeface="Consolas" panose="020B0609020204030204" pitchFamily="49" charset="0"/>
              </a:rPr>
              <a:t>Conditional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poly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  System.</a:t>
            </a:r>
            <a:r>
              <a:rPr lang="en-IN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IN" altLang="en-US" b="1" i="1">
                <a:solidFill>
                  <a:srgbClr val="C00000"/>
                </a:solidFill>
                <a:latin typeface="Consolas" panose="020B0609020204030204" pitchFamily="49" charset="0"/>
              </a:rPr>
              <a:t>poly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altLang="en-US" b="1" i="1">
                <a:solidFill>
                  <a:srgbClr val="00B0F0"/>
                </a:solidFill>
                <a:latin typeface="Consolas" panose="020B0609020204030204" pitchFamily="49" charset="0"/>
              </a:rPr>
              <a:t>test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r>
              <a:rPr lang="en-US" altLang="en-US" sz="1800" b="1">
                <a:latin typeface="Consolas" panose="020B0609020204030204" pitchFamily="49" charset="0"/>
              </a:rPr>
              <a:t>public static void main(String[] args) {</a:t>
            </a:r>
          </a:p>
          <a:p>
            <a:pPr marL="457200" lvl="1" indent="0">
              <a:buFontTx/>
              <a:buNone/>
            </a:pPr>
            <a:endParaRPr lang="en-IN" altLang="en-US" sz="180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US" altLang="en-US" sz="1800">
                <a:latin typeface="Consolas" panose="020B0609020204030204" pitchFamily="49" charset="0"/>
              </a:rPr>
              <a:t> Student ramesh = </a:t>
            </a:r>
            <a:r>
              <a:rPr lang="en-US" altLang="en-US" sz="1800" b="1">
                <a:latin typeface="Consolas" panose="020B0609020204030204" pitchFamily="49" charset="0"/>
              </a:rPr>
              <a:t>new Student(101,"Ramesh",67);</a:t>
            </a:r>
          </a:p>
          <a:p>
            <a:pPr marL="457200" lvl="1" indent="0">
              <a:buFontTx/>
              <a:buNone/>
            </a:pPr>
            <a:r>
              <a:rPr lang="en-US" altLang="en-US" sz="1800">
                <a:latin typeface="Consolas" panose="020B0609020204030204" pitchFamily="49" charset="0"/>
              </a:rPr>
              <a:t> Professor prof = </a:t>
            </a:r>
            <a:r>
              <a:rPr lang="en-US" altLang="en-US" sz="1800" b="1">
                <a:latin typeface="Consolas" panose="020B0609020204030204" pitchFamily="49" charset="0"/>
              </a:rPr>
              <a:t>new Professor(201, "manish", "ece", "phd");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latin typeface="Consolas" panose="020B0609020204030204" pitchFamily="49" charset="0"/>
              </a:rPr>
              <a:t>  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latin typeface="Consolas" panose="020B0609020204030204" pitchFamily="49" charset="0"/>
              </a:rPr>
              <a:t>    </a:t>
            </a:r>
            <a:r>
              <a:rPr lang="en-IN" altLang="en-US" sz="1800" i="1">
                <a:latin typeface="Consolas" panose="020B0609020204030204" pitchFamily="49" charset="0"/>
              </a:rPr>
              <a:t>print(ramesh);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latin typeface="Consolas" panose="020B0609020204030204" pitchFamily="49" charset="0"/>
              </a:rPr>
              <a:t>    </a:t>
            </a:r>
            <a:r>
              <a:rPr lang="en-IN" altLang="en-US" sz="1800" i="1">
                <a:latin typeface="Consolas" panose="020B0609020204030204" pitchFamily="49" charset="0"/>
              </a:rPr>
              <a:t>print(prof);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id="{8B682AE6-F31B-9495-DA20-9A38ACD1A8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0AFEA1-8D01-EF46-8915-AE0A2E21179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4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6">
            <a:extLst>
              <a:ext uri="{FF2B5EF4-FFF2-40B4-BE49-F238E27FC236}">
                <a16:creationId xmlns:a16="http://schemas.microsoft.com/office/drawing/2014/main" id="{76B41B63-137C-CDC4-DE65-272886F0C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CBDE8D-9532-4049-88A3-0CC6117CF85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1400"/>
          </a:p>
        </p:txBody>
      </p:sp>
      <p:sp>
        <p:nvSpPr>
          <p:cNvPr id="92163" name="Rectangle 1026">
            <a:extLst>
              <a:ext uri="{FF2B5EF4-FFF2-40B4-BE49-F238E27FC236}">
                <a16:creationId xmlns:a16="http://schemas.microsoft.com/office/drawing/2014/main" id="{C4672FEA-D4B3-726E-E5D1-58DB9336A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 vs Abstract Class</a:t>
            </a:r>
          </a:p>
        </p:txBody>
      </p:sp>
      <p:sp>
        <p:nvSpPr>
          <p:cNvPr id="92164" name="Rectangle 1027">
            <a:extLst>
              <a:ext uri="{FF2B5EF4-FFF2-40B4-BE49-F238E27FC236}">
                <a16:creationId xmlns:a16="http://schemas.microsoft.com/office/drawing/2014/main" id="{99EB06A4-DD3A-F955-FEBF-CEE5C475070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A class may implement several interface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An interface cannot provide any code at all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>
                <a:solidFill>
                  <a:srgbClr val="000000"/>
                </a:solidFill>
                <a:cs typeface="Times New Roman" panose="02020603050405020304" pitchFamily="18" charset="0"/>
              </a:rPr>
              <a:t>Interfaces are often used to describe the peripheral abilities of a class, not its central identity,</a:t>
            </a:r>
          </a:p>
          <a:p>
            <a:pPr eaLnBrk="1" hangingPunct="1"/>
            <a:endParaRPr lang="en-US" altLang="en-US" sz="1800"/>
          </a:p>
        </p:txBody>
      </p:sp>
      <p:sp>
        <p:nvSpPr>
          <p:cNvPr id="92165" name="Rectangle 1028">
            <a:extLst>
              <a:ext uri="{FF2B5EF4-FFF2-40B4-BE49-F238E27FC236}">
                <a16:creationId xmlns:a16="http://schemas.microsoft.com/office/drawing/2014/main" id="{621E5C9E-46F6-A8BA-8605-AB83AA1CF17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A class may extend only one class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An abstract class can  provide complete or partial code</a:t>
            </a:r>
          </a:p>
          <a:p>
            <a:pPr eaLnBrk="1" hangingPunct="1"/>
            <a:endParaRPr lang="en-US" altLang="en-US" sz="1800">
              <a:solidFill>
                <a:srgbClr val="000000"/>
              </a:solidFill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180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>
                <a:solidFill>
                  <a:srgbClr val="000000"/>
                </a:solidFill>
                <a:cs typeface="Times New Roman" panose="02020603050405020304" pitchFamily="18" charset="0"/>
              </a:rPr>
              <a:t>An </a:t>
            </a:r>
            <a:r>
              <a:rPr lang="en-US" altLang="en-US" sz="1800">
                <a:solidFill>
                  <a:srgbClr val="0000CD"/>
                </a:solidFill>
                <a:cs typeface="Times New Roman" panose="02020603050405020304" pitchFamily="18" charset="0"/>
              </a:rPr>
              <a:t>abstract</a:t>
            </a:r>
            <a:r>
              <a:rPr lang="en-US" altLang="en-US" sz="1800">
                <a:solidFill>
                  <a:srgbClr val="000000"/>
                </a:solidFill>
                <a:cs typeface="Times New Roman" panose="02020603050405020304" pitchFamily="18" charset="0"/>
              </a:rPr>
              <a:t> class defines the core identity of its descendants. </a:t>
            </a:r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5">
            <a:extLst>
              <a:ext uri="{FF2B5EF4-FFF2-40B4-BE49-F238E27FC236}">
                <a16:creationId xmlns:a16="http://schemas.microsoft.com/office/drawing/2014/main" id="{C10EEB9A-6648-60AB-F693-4F65ADB0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1B3043-5027-DA4E-AE86-62964F8E384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14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CD010AE-6D90-17EF-DC86-92478249F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Interface, Abstract Class,Subclass,Class</a:t>
            </a:r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2BF2ED1-0CA6-09B3-E462-8F5655BF0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 A </a:t>
            </a:r>
            <a:r>
              <a:rPr lang="en-US" altLang="en-US" sz="2000">
                <a:solidFill>
                  <a:srgbClr val="FF3300"/>
                </a:solidFill>
              </a:rPr>
              <a:t>plain class</a:t>
            </a:r>
            <a:r>
              <a:rPr lang="en-US" altLang="en-US" sz="2000"/>
              <a:t> is designed when in doesn't pass the “is-a” test.</a:t>
            </a:r>
          </a:p>
          <a:p>
            <a:pPr eaLnBrk="1" hangingPunct="1"/>
            <a:r>
              <a:rPr lang="en-US" altLang="en-US" sz="2000"/>
              <a:t>A Plain class is designed when its not extending any  other class other than object class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Make a </a:t>
            </a:r>
            <a:r>
              <a:rPr lang="en-US" altLang="en-US" sz="2000">
                <a:solidFill>
                  <a:srgbClr val="FF3300"/>
                </a:solidFill>
              </a:rPr>
              <a:t>subclass</a:t>
            </a:r>
            <a:r>
              <a:rPr lang="en-US" altLang="en-US" sz="2000"/>
              <a:t> , when it needs to extend a super class</a:t>
            </a:r>
          </a:p>
          <a:p>
            <a:pPr eaLnBrk="1" hangingPunct="1"/>
            <a:r>
              <a:rPr lang="en-US" altLang="en-US" sz="2000"/>
              <a:t>Make a subclass, when it needs to override or add new behaviors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Make an </a:t>
            </a:r>
            <a:r>
              <a:rPr lang="en-US" altLang="en-US" sz="2000">
                <a:solidFill>
                  <a:srgbClr val="FF3300"/>
                </a:solidFill>
              </a:rPr>
              <a:t>abstract class</a:t>
            </a:r>
            <a:r>
              <a:rPr lang="en-US" altLang="en-US" sz="2000"/>
              <a:t> , when there is a requirement for a kind of “template” for a group of subclasses, and there are some implementation in the class which the subclass can use .</a:t>
            </a:r>
          </a:p>
          <a:p>
            <a:pPr eaLnBrk="1" hangingPunct="1"/>
            <a:r>
              <a:rPr lang="en-US" altLang="en-US" sz="2000"/>
              <a:t>Make an abstract class , to guarantee that nobody can make objects of that type.</a:t>
            </a:r>
          </a:p>
          <a:p>
            <a:pPr eaLnBrk="1" hangingPunct="1"/>
            <a:r>
              <a:rPr lang="en-US" altLang="en-US" sz="2000"/>
              <a:t>Design an </a:t>
            </a:r>
            <a:r>
              <a:rPr lang="en-US" altLang="en-US" sz="2000">
                <a:solidFill>
                  <a:srgbClr val="FF3300"/>
                </a:solidFill>
              </a:rPr>
              <a:t>interface </a:t>
            </a:r>
            <a:r>
              <a:rPr lang="en-US" altLang="en-US" sz="2000"/>
              <a:t>, to define a role that other classes can play, regardless of the inheritance tree,</a:t>
            </a:r>
          </a:p>
          <a:p>
            <a:pPr eaLnBrk="1" hangingPunct="1"/>
            <a:endParaRPr lang="en-US" altLang="en-US" sz="2000"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5">
            <a:extLst>
              <a:ext uri="{FF2B5EF4-FFF2-40B4-BE49-F238E27FC236}">
                <a16:creationId xmlns:a16="http://schemas.microsoft.com/office/drawing/2014/main" id="{745C2643-AF12-E625-F1F1-ED84FA275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90A0CF-6BD1-A045-8F86-D92BE7BD352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en-US" sz="140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C384ACCA-1B61-9F65-2126-269CB3FBC1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i="1"/>
              <a:t>final</a:t>
            </a:r>
            <a:r>
              <a:rPr lang="en-US" altLang="en-US"/>
              <a:t> keyword</a:t>
            </a:r>
          </a:p>
        </p:txBody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2FF140E8-D10E-B529-567D-3F4BDC518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990600"/>
            <a:ext cx="77724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/>
              <a:t>A final method or class is Java’s way of prohibiting inheritance and/or overriding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Final methods cannot be overridden by subclasses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All private methods are implicitly final 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Final classes Cannot be extended and  their methods are implicitly final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Can be applied to variables too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The value of a </a:t>
            </a:r>
            <a:r>
              <a:rPr lang="en-US" altLang="en-US" sz="1800" i="1"/>
              <a:t>final</a:t>
            </a:r>
            <a:r>
              <a:rPr lang="en-US" altLang="en-US" sz="1800"/>
              <a:t> variable cannot be altered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i="1"/>
              <a:t>final int max_limit = 23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i="1"/>
              <a:t>final void method( 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i="1"/>
              <a:t>final class last_class</a:t>
            </a:r>
            <a:r>
              <a:rPr lang="en-US" altLang="en-US" sz="1800"/>
              <a:t> 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Number Placeholder 5">
            <a:extLst>
              <a:ext uri="{FF2B5EF4-FFF2-40B4-BE49-F238E27FC236}">
                <a16:creationId xmlns:a16="http://schemas.microsoft.com/office/drawing/2014/main" id="{DD3FF070-F12B-F97A-74EF-4D4801E3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BBA478-ED05-314A-81A8-F523CA2C4D2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en-US" sz="140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81B2588A-8B20-79AE-7E6A-2541F09DBE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Math Class</a:t>
            </a:r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386B5F6-C738-BE12-A501-2F149592E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The methods in the Math class don’t use any  instance variable values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 Methods are “static” methods , and they don’t need to have an instance of the Math class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Some of the Methods in the class are</a:t>
            </a:r>
          </a:p>
          <a:p>
            <a:pPr lvl="1" eaLnBrk="1" hangingPunct="1"/>
            <a:r>
              <a:rPr lang="en-US" altLang="en-US" sz="1800"/>
              <a:t>Math.random() – returna double number between 0.0 to 1.0</a:t>
            </a:r>
          </a:p>
          <a:p>
            <a:pPr lvl="1" eaLnBrk="1" hangingPunct="1"/>
            <a:r>
              <a:rPr lang="en-US" altLang="en-US" sz="1800"/>
              <a:t>Math.abs() – absolute value of the argument</a:t>
            </a:r>
          </a:p>
          <a:p>
            <a:pPr lvl="1" eaLnBrk="1" hangingPunct="1"/>
            <a:r>
              <a:rPr lang="en-US" altLang="en-US" sz="1800"/>
              <a:t>Math.round() – returns int or long based on float,double rounded to nearest integer value</a:t>
            </a:r>
          </a:p>
          <a:p>
            <a:pPr lvl="1" eaLnBrk="1" hangingPunct="1"/>
            <a:r>
              <a:rPr lang="en-US" altLang="en-US" sz="1800"/>
              <a:t>Math.min() and Math.max() – maximum or minimum of two args</a:t>
            </a:r>
          </a:p>
          <a:p>
            <a:pPr lvl="1" eaLnBrk="1" hangingPunct="1"/>
            <a:r>
              <a:rPr lang="en-US" altLang="en-US" sz="1800"/>
              <a:t>Math.sqrt() – return the sqaure root of the given argument</a:t>
            </a:r>
          </a:p>
          <a:p>
            <a:pPr lvl="1" eaLnBrk="1" hangingPunct="1"/>
            <a:endParaRPr lang="en-US" altLang="en-US" sz="1800"/>
          </a:p>
          <a:p>
            <a:pPr lvl="1" eaLnBrk="1" hangingPunct="1"/>
            <a:endParaRPr lang="en-US" altLang="en-US" sz="1800"/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5">
            <a:extLst>
              <a:ext uri="{FF2B5EF4-FFF2-40B4-BE49-F238E27FC236}">
                <a16:creationId xmlns:a16="http://schemas.microsoft.com/office/drawing/2014/main" id="{43160DDB-CFBF-4EED-FF3B-FDCD3032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9092F7-71D3-1442-8F50-6C283DF552D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en-US" sz="140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4B212758-59B0-F2DF-B702-D44D726101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</a:t>
            </a:r>
          </a:p>
        </p:txBody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5C8D3768-26B4-4BF1-E3C6-3494700B0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52525"/>
            <a:ext cx="7772400" cy="3576638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algn="ctr" eaLnBrk="1" hangingPunct="1">
              <a:buFontTx/>
              <a:buNone/>
            </a:pPr>
            <a:r>
              <a:rPr lang="en-US" altLang="en-US" sz="4800">
                <a:latin typeface="Times New Roman" panose="02020603050405020304" pitchFamily="18" charset="0"/>
              </a:rPr>
              <a:t>Exception handling</a:t>
            </a:r>
            <a:endParaRPr lang="en-US" altLang="en-US" sz="4400"/>
          </a:p>
          <a:p>
            <a:pPr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>
            <a:extLst>
              <a:ext uri="{FF2B5EF4-FFF2-40B4-BE49-F238E27FC236}">
                <a16:creationId xmlns:a16="http://schemas.microsoft.com/office/drawing/2014/main" id="{D32767F8-867B-84C0-013C-7F09658DB5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Exception Handling</a:t>
            </a:r>
            <a:endParaRPr lang="en-IN" altLang="en-US"/>
          </a:p>
        </p:txBody>
      </p:sp>
      <p:sp>
        <p:nvSpPr>
          <p:cNvPr id="99331" name="Content Placeholder 2">
            <a:extLst>
              <a:ext uri="{FF2B5EF4-FFF2-40B4-BE49-F238E27FC236}">
                <a16:creationId xmlns:a16="http://schemas.microsoft.com/office/drawing/2014/main" id="{92820020-8D51-3066-E1BC-F26179BA70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444444"/>
                </a:solidFill>
              </a:rPr>
              <a:t>An exception is a problem that arises during the execution of a program. </a:t>
            </a:r>
          </a:p>
          <a:p>
            <a:pPr>
              <a:lnSpc>
                <a:spcPct val="150000"/>
              </a:lnSpc>
            </a:pPr>
            <a:endParaRPr lang="en-US" altLang="en-US" sz="2000">
              <a:solidFill>
                <a:srgbClr val="444444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444444"/>
                </a:solidFill>
              </a:rPr>
              <a:t>When an Exception occurs the normal flow of the program is disrupted and the program terminates abnormally, which is not recommended</a:t>
            </a:r>
          </a:p>
          <a:p>
            <a:pPr lvl="1">
              <a:lnSpc>
                <a:spcPct val="150000"/>
              </a:lnSpc>
            </a:pPr>
            <a:r>
              <a:rPr lang="en-US" altLang="en-US">
                <a:solidFill>
                  <a:srgbClr val="444444"/>
                </a:solidFill>
              </a:rPr>
              <a:t>Exceptions are to be handled.</a:t>
            </a:r>
          </a:p>
          <a:p>
            <a:pPr>
              <a:lnSpc>
                <a:spcPct val="150000"/>
              </a:lnSpc>
            </a:pPr>
            <a:endParaRPr lang="en-US" altLang="en-US">
              <a:solidFill>
                <a:srgbClr val="444444"/>
              </a:solidFill>
            </a:endParaRPr>
          </a:p>
        </p:txBody>
      </p:sp>
      <p:sp>
        <p:nvSpPr>
          <p:cNvPr id="99332" name="Slide Number Placeholder 3">
            <a:extLst>
              <a:ext uri="{FF2B5EF4-FFF2-40B4-BE49-F238E27FC236}">
                <a16:creationId xmlns:a16="http://schemas.microsoft.com/office/drawing/2014/main" id="{DA7A1A8C-A2EB-CB50-16E8-562CA6B13B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9B087D-E032-1D4F-B750-E4A83F11565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en-US" sz="14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81684ABD-8A60-361E-5F13-B1F384D30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Exceptions</a:t>
            </a:r>
          </a:p>
        </p:txBody>
      </p:sp>
      <p:sp>
        <p:nvSpPr>
          <p:cNvPr id="189443" name="Content Placeholder 2">
            <a:extLst>
              <a:ext uri="{FF2B5EF4-FFF2-40B4-BE49-F238E27FC236}">
                <a16:creationId xmlns:a16="http://schemas.microsoft.com/office/drawing/2014/main" id="{2AF12596-EEF7-CBF6-DF0B-BA16D7D5F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>
              <a:defRPr/>
            </a:pPr>
            <a:r>
              <a:rPr lang="en-US" altLang="en-US" sz="2000" b="1" i="1" dirty="0"/>
              <a:t>checked exceptions</a:t>
            </a:r>
          </a:p>
          <a:p>
            <a:pPr lvl="1">
              <a:defRPr/>
            </a:pPr>
            <a:r>
              <a:rPr lang="en-US" altLang="en-US" dirty="0"/>
              <a:t>Conditions that can readily occur in a correct program </a:t>
            </a:r>
            <a:endParaRPr lang="en-US" altLang="en-US" i="1" dirty="0"/>
          </a:p>
          <a:p>
            <a:pPr lvl="1">
              <a:defRPr/>
            </a:pPr>
            <a:r>
              <a:rPr lang="en-US" altLang="en-US" b="1" dirty="0">
                <a:solidFill>
                  <a:srgbClr val="0070C0"/>
                </a:solidFill>
              </a:rPr>
              <a:t>Includes</a:t>
            </a:r>
            <a:r>
              <a:rPr lang="en-US" altLang="en-US" dirty="0"/>
              <a:t> all subtypes of </a:t>
            </a:r>
            <a:r>
              <a:rPr lang="en-US" altLang="en-US" b="1" dirty="0">
                <a:solidFill>
                  <a:srgbClr val="C00000"/>
                </a:solidFill>
              </a:rPr>
              <a:t>Exception</a:t>
            </a:r>
          </a:p>
          <a:p>
            <a:pPr lvl="1">
              <a:defRPr/>
            </a:pPr>
            <a:r>
              <a:rPr lang="en-US" altLang="en-US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n-US" altLang="en-US" b="1" i="1" dirty="0">
                <a:solidFill>
                  <a:schemeClr val="accent3">
                    <a:lumMod val="75000"/>
                  </a:schemeClr>
                </a:solidFill>
              </a:rPr>
              <a:t>xcluding</a:t>
            </a:r>
            <a:r>
              <a:rPr lang="en-US" altLang="en-US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altLang="en-US" dirty="0"/>
              <a:t>classes that extend </a:t>
            </a:r>
            <a:r>
              <a:rPr lang="en-US" altLang="en-US" b="1" dirty="0">
                <a:solidFill>
                  <a:srgbClr val="C00000"/>
                </a:solidFill>
              </a:rPr>
              <a:t>Runtime Exception</a:t>
            </a:r>
            <a:r>
              <a:rPr lang="en-US" altLang="en-US" dirty="0"/>
              <a:t>.</a:t>
            </a:r>
          </a:p>
          <a:p>
            <a:pPr lvl="1">
              <a:defRPr/>
            </a:pPr>
            <a:r>
              <a:rPr lang="en-US" altLang="en-US" dirty="0"/>
              <a:t>Subject to the </a:t>
            </a:r>
            <a:r>
              <a:rPr lang="en-US" altLang="en-US" i="1" dirty="0"/>
              <a:t>handle or declare </a:t>
            </a:r>
            <a:r>
              <a:rPr lang="en-US" altLang="en-US" dirty="0"/>
              <a:t>rule</a:t>
            </a:r>
          </a:p>
          <a:p>
            <a:pPr marL="457200" lvl="1" indent="0">
              <a:buFontTx/>
              <a:buNone/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sz="2000" b="1" i="1" dirty="0"/>
              <a:t>unchecked exceptions</a:t>
            </a:r>
          </a:p>
          <a:p>
            <a:pPr lvl="1">
              <a:defRPr/>
            </a:pPr>
            <a:r>
              <a:rPr lang="en-US" altLang="en-US" dirty="0"/>
              <a:t>Problems that  reflect program bugs </a:t>
            </a:r>
          </a:p>
          <a:p>
            <a:pPr lvl="1">
              <a:defRPr/>
            </a:pPr>
            <a:r>
              <a:rPr lang="en-US" altLang="en-US" dirty="0"/>
              <a:t>Probable bugs are represented by the </a:t>
            </a:r>
            <a:r>
              <a:rPr lang="en-US" altLang="en-US" dirty="0" err="1"/>
              <a:t>RuntimeException</a:t>
            </a:r>
            <a:r>
              <a:rPr lang="en-US" altLang="en-US" dirty="0"/>
              <a:t> class.</a:t>
            </a:r>
          </a:p>
          <a:p>
            <a:pPr lvl="1">
              <a:defRPr/>
            </a:pPr>
            <a:r>
              <a:rPr lang="en-US" altLang="en-US" dirty="0"/>
              <a:t>Compiler </a:t>
            </a:r>
            <a:r>
              <a:rPr lang="en-US" altLang="en-US" b="1" dirty="0">
                <a:solidFill>
                  <a:srgbClr val="009999"/>
                </a:solidFill>
              </a:rPr>
              <a:t>doesn’t enforce the handle or declare rule</a:t>
            </a:r>
            <a:r>
              <a:rPr lang="en-US" altLang="en-US" dirty="0"/>
              <a:t>.</a:t>
            </a:r>
          </a:p>
          <a:p>
            <a:pPr>
              <a:defRPr/>
            </a:pPr>
            <a:endParaRPr lang="en-US" altLang="en-US" sz="2000" b="1" dirty="0"/>
          </a:p>
          <a:p>
            <a:pPr>
              <a:defRPr/>
            </a:pPr>
            <a:r>
              <a:rPr lang="en-US" altLang="en-US" sz="2000" b="1" dirty="0"/>
              <a:t>Error</a:t>
            </a:r>
          </a:p>
          <a:p>
            <a:pPr lvl="1">
              <a:defRPr/>
            </a:pPr>
            <a:r>
              <a:rPr lang="en-US" altLang="en-US" dirty="0"/>
              <a:t>Fatal situations are represented by the Error class. </a:t>
            </a:r>
          </a:p>
          <a:p>
            <a:pPr>
              <a:defRPr/>
            </a:pPr>
            <a:endParaRPr lang="en-US" altLang="en-US" sz="2000" dirty="0"/>
          </a:p>
        </p:txBody>
      </p:sp>
      <p:sp>
        <p:nvSpPr>
          <p:cNvPr id="102404" name="Slide Number Placeholder 3">
            <a:extLst>
              <a:ext uri="{FF2B5EF4-FFF2-40B4-BE49-F238E27FC236}">
                <a16:creationId xmlns:a16="http://schemas.microsoft.com/office/drawing/2014/main" id="{B6DAE95E-AFEA-6E54-20E8-FB350684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D06AEC-8790-1F47-B57B-D45D10661AB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en-US" sz="14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>
            <a:extLst>
              <a:ext uri="{FF2B5EF4-FFF2-40B4-BE49-F238E27FC236}">
                <a16:creationId xmlns:a16="http://schemas.microsoft.com/office/drawing/2014/main" id="{1311F94C-2AC8-EB4E-D024-8E9376097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Handle or Declare Rule</a:t>
            </a:r>
          </a:p>
        </p:txBody>
      </p:sp>
      <p:sp>
        <p:nvSpPr>
          <p:cNvPr id="191491" name="Content Placeholder 2">
            <a:extLst>
              <a:ext uri="{FF2B5EF4-FFF2-40B4-BE49-F238E27FC236}">
                <a16:creationId xmlns:a16="http://schemas.microsoft.com/office/drawing/2014/main" id="{5ACE0A42-FBFA-FDA3-BBA6-597E8BEBA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>
              <a:defRPr/>
            </a:pPr>
            <a:r>
              <a:rPr lang="en-US" altLang="en-US" sz="1800" dirty="0"/>
              <a:t>Handle the exception by using the try-catch-finally block.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1400" dirty="0"/>
              <a:t>         </a:t>
            </a:r>
            <a:r>
              <a:rPr lang="en-US" altLang="en-US" sz="2400" dirty="0"/>
              <a:t>try{  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2400" dirty="0"/>
              <a:t>           // some code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2400" dirty="0"/>
              <a:t>            } catch(Exception e){ 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2400" dirty="0"/>
              <a:t>         }</a:t>
            </a:r>
          </a:p>
          <a:p>
            <a:pPr>
              <a:defRPr/>
            </a:pPr>
            <a:endParaRPr lang="en-US" altLang="en-US" sz="1800" dirty="0"/>
          </a:p>
          <a:p>
            <a:pPr>
              <a:defRPr/>
            </a:pPr>
            <a:r>
              <a:rPr lang="en-US" altLang="en-US" sz="1800" dirty="0"/>
              <a:t>Declare that the code causes an exception by using the throws clause.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dirty="0"/>
              <a:t>void trouble() </a:t>
            </a:r>
            <a:r>
              <a:rPr lang="en-US" altLang="en-US" b="1" dirty="0"/>
              <a:t>throws </a:t>
            </a:r>
            <a:r>
              <a:rPr lang="en-US" altLang="en-US" b="1" dirty="0" err="1"/>
              <a:t>IOException</a:t>
            </a:r>
            <a:r>
              <a:rPr lang="en-US" altLang="en-US" b="1" dirty="0"/>
              <a:t> { ... }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dirty="0"/>
              <a:t>void trouble() </a:t>
            </a:r>
            <a:r>
              <a:rPr lang="en-US" altLang="en-US" b="1" dirty="0"/>
              <a:t>throws </a:t>
            </a:r>
            <a:r>
              <a:rPr lang="en-US" altLang="en-US" b="1" dirty="0" err="1"/>
              <a:t>IOException</a:t>
            </a:r>
            <a:r>
              <a:rPr lang="en-US" altLang="en-US" b="1" dirty="0"/>
              <a:t>, </a:t>
            </a:r>
            <a:r>
              <a:rPr lang="en-US" altLang="en-US" b="1" dirty="0" err="1"/>
              <a:t>MyException</a:t>
            </a:r>
            <a:r>
              <a:rPr lang="en-US" altLang="en-US" b="1" dirty="0"/>
              <a:t> { ... }</a:t>
            </a:r>
          </a:p>
          <a:p>
            <a:pPr>
              <a:defRPr/>
            </a:pPr>
            <a:endParaRPr lang="en-US" altLang="en-US" sz="1800" dirty="0"/>
          </a:p>
          <a:p>
            <a:pPr>
              <a:defRPr/>
            </a:pPr>
            <a:r>
              <a:rPr lang="en-US" altLang="en-US" sz="1800" dirty="0"/>
              <a:t>Other Principles</a:t>
            </a:r>
          </a:p>
          <a:p>
            <a:pPr lvl="1">
              <a:defRPr/>
            </a:pPr>
            <a:r>
              <a:rPr lang="en-US" altLang="en-US" sz="1400" b="1" dirty="0">
                <a:solidFill>
                  <a:srgbClr val="FF0000"/>
                </a:solidFill>
              </a:rPr>
              <a:t>You do not need to declare runtime exceptions or errors.</a:t>
            </a:r>
          </a:p>
          <a:p>
            <a:pPr lvl="1">
              <a:defRPr/>
            </a:pPr>
            <a:r>
              <a:rPr lang="en-US" altLang="en-US" sz="1400" b="1" dirty="0">
                <a:solidFill>
                  <a:srgbClr val="FF0000"/>
                </a:solidFill>
              </a:rPr>
              <a:t>You can choose to handle runtime exceptions</a:t>
            </a:r>
          </a:p>
        </p:txBody>
      </p:sp>
      <p:sp>
        <p:nvSpPr>
          <p:cNvPr id="103428" name="Slide Number Placeholder 3">
            <a:extLst>
              <a:ext uri="{FF2B5EF4-FFF2-40B4-BE49-F238E27FC236}">
                <a16:creationId xmlns:a16="http://schemas.microsoft.com/office/drawing/2014/main" id="{0A55B664-0E84-9963-4B81-B8E54E4D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716393-07C6-E649-8EE3-24CA958EF02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en-US" sz="14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5D0CC309-E120-BA19-0C3A-0F0D4A042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try catch Work</a:t>
            </a:r>
          </a:p>
        </p:txBody>
      </p:sp>
      <p:pic>
        <p:nvPicPr>
          <p:cNvPr id="104451" name="Content Placeholder 4" descr="catchFlowChartA.gif">
            <a:extLst>
              <a:ext uri="{FF2B5EF4-FFF2-40B4-BE49-F238E27FC236}">
                <a16:creationId xmlns:a16="http://schemas.microsoft.com/office/drawing/2014/main" id="{42B1A9A8-49FC-28E6-49A3-891C245220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371600"/>
            <a:ext cx="7712075" cy="4419600"/>
          </a:xfrm>
        </p:spPr>
      </p:pic>
      <p:sp>
        <p:nvSpPr>
          <p:cNvPr id="104452" name="Slide Number Placeholder 3">
            <a:extLst>
              <a:ext uri="{FF2B5EF4-FFF2-40B4-BE49-F238E27FC236}">
                <a16:creationId xmlns:a16="http://schemas.microsoft.com/office/drawing/2014/main" id="{576BCFF9-DBB5-724B-F55B-7A3824179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18A61D-2D66-6A44-8B64-403F2CCA97D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en-US" sz="14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>
            <a:extLst>
              <a:ext uri="{FF2B5EF4-FFF2-40B4-BE49-F238E27FC236}">
                <a16:creationId xmlns:a16="http://schemas.microsoft.com/office/drawing/2014/main" id="{09172108-A5CA-B330-B486-7C9209D3B9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Exception Handling</a:t>
            </a:r>
            <a:endParaRPr lang="en-IN" altLang="en-US"/>
          </a:p>
        </p:txBody>
      </p:sp>
      <p:sp>
        <p:nvSpPr>
          <p:cNvPr id="105475" name="Content Placeholder 2">
            <a:extLst>
              <a:ext uri="{FF2B5EF4-FFF2-40B4-BE49-F238E27FC236}">
                <a16:creationId xmlns:a16="http://schemas.microsoft.com/office/drawing/2014/main" id="{1B1A3607-1FAF-5364-A548-6D2BF4509E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marL="857250" lvl="2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Object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altLang="en-US">
                <a:solidFill>
                  <a:srgbClr val="2A00FF"/>
                </a:solidFill>
                <a:latin typeface="Consolas" panose="020B0609020204030204" pitchFamily="49" charset="0"/>
              </a:rPr>
              <a:t>"twenty"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857250" lvl="2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Integer </a:t>
            </a:r>
            <a:r>
              <a:rPr lang="en-IN" altLang="en-US" u="sng">
                <a:solidFill>
                  <a:srgbClr val="6A3E3E"/>
                </a:solidFill>
                <a:latin typeface="Consolas" panose="020B0609020204030204" pitchFamily="49" charset="0"/>
              </a:rPr>
              <a:t>number</a:t>
            </a: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 = (Integer) </a:t>
            </a:r>
            <a:r>
              <a:rPr lang="en-IN" altLang="en-US" u="sng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( ClassCastException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) {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.printStackTrace();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IN" altLang="en-US" b="1" i="1" u="sng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b="1" i="1" u="sng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IN" altLang="en-US" b="1" i="1" u="sng">
                <a:solidFill>
                  <a:srgbClr val="2A00FF"/>
                </a:solidFill>
                <a:latin typeface="Consolas" panose="020B0609020204030204" pitchFamily="49" charset="0"/>
              </a:rPr>
              <a:t>"Good-bye"</a:t>
            </a:r>
            <a:r>
              <a:rPr lang="en-IN" altLang="en-US" b="1" i="1" u="sng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altLang="en-US"/>
          </a:p>
        </p:txBody>
      </p:sp>
      <p:sp>
        <p:nvSpPr>
          <p:cNvPr id="105476" name="Slide Number Placeholder 3">
            <a:extLst>
              <a:ext uri="{FF2B5EF4-FFF2-40B4-BE49-F238E27FC236}">
                <a16:creationId xmlns:a16="http://schemas.microsoft.com/office/drawing/2014/main" id="{92E0BC41-C9AE-4A3A-799C-24A219379F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653D09-9443-244F-9DF7-4320A001CD5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en-US" sz="14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Number Placeholder 5">
            <a:extLst>
              <a:ext uri="{FF2B5EF4-FFF2-40B4-BE49-F238E27FC236}">
                <a16:creationId xmlns:a16="http://schemas.microsoft.com/office/drawing/2014/main" id="{91007536-1FD7-652C-5525-91D4837C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3D1D0E-D44E-454F-B80D-4F736F2AE2D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en-US" sz="1400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3A54ED38-B1C3-40E0-DD94-98C2D81C9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Effective Exception Hierarchy</a:t>
            </a:r>
            <a:br>
              <a:rPr lang="en-US" altLang="en-US" sz="2800"/>
            </a:br>
            <a:endParaRPr lang="en-US" altLang="en-US" sz="2800"/>
          </a:p>
        </p:txBody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D702F7E1-F01D-9561-4515-63C09E13D0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The exception classes are arranged in a hierarchy.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Catches for specific exceptions should always be written prior to the generic handler.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 generic handler for Exception would cover any missing situation.</a:t>
            </a: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  <a:p>
            <a:pPr lvl="1">
              <a:buFontTx/>
              <a:buNone/>
            </a:pPr>
            <a:endParaRPr lang="en-US" altLang="en-US" sz="1800"/>
          </a:p>
          <a:p>
            <a:pPr lvl="1" eaLnBrk="1" hangingPunct="1">
              <a:buFontTx/>
              <a:buNone/>
            </a:pPr>
            <a:endParaRPr lang="en-US" altLang="en-US" sz="1800"/>
          </a:p>
        </p:txBody>
      </p:sp>
      <p:sp>
        <p:nvSpPr>
          <p:cNvPr id="108549" name="Rectangle 4">
            <a:extLst>
              <a:ext uri="{FF2B5EF4-FFF2-40B4-BE49-F238E27FC236}">
                <a16:creationId xmlns:a16="http://schemas.microsoft.com/office/drawing/2014/main" id="{00D6540D-7950-D59E-0A3A-E838DEA79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00400"/>
            <a:ext cx="3962400" cy="3124200"/>
          </a:xfrm>
          <a:prstGeom prst="rect">
            <a:avLst/>
          </a:prstGeom>
          <a:solidFill>
            <a:srgbClr val="33CC33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try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}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catch (NumberFormatException e) 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}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catch (Exception ex2) { 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 }</a:t>
            </a:r>
          </a:p>
        </p:txBody>
      </p:sp>
      <p:sp>
        <p:nvSpPr>
          <p:cNvPr id="108550" name="Rectangle 5">
            <a:extLst>
              <a:ext uri="{FF2B5EF4-FFF2-40B4-BE49-F238E27FC236}">
                <a16:creationId xmlns:a16="http://schemas.microsoft.com/office/drawing/2014/main" id="{88DE8CBC-20FB-4B79-5622-E0D796E44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276600"/>
            <a:ext cx="3810000" cy="304800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try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{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}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catch (Exception e1)     {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}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catch(NumberFormatException e2) {  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 }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0653BEBB-7D3E-C065-29B6-E39B2FBD8E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Catch</a:t>
            </a:r>
          </a:p>
        </p:txBody>
      </p:sp>
      <p:sp>
        <p:nvSpPr>
          <p:cNvPr id="109571" name="Content Placeholder 2">
            <a:extLst>
              <a:ext uri="{FF2B5EF4-FFF2-40B4-BE49-F238E27FC236}">
                <a16:creationId xmlns:a16="http://schemas.microsoft.com/office/drawing/2014/main" id="{E96B9853-B2A7-8384-32CC-6942BA2693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Object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altLang="en-US">
                <a:solidFill>
                  <a:srgbClr val="2A00FF"/>
                </a:solidFill>
                <a:latin typeface="Consolas" panose="020B0609020204030204" pitchFamily="49" charset="0"/>
              </a:rPr>
              <a:t>"twenty"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Integer </a:t>
            </a:r>
            <a:r>
              <a:rPr lang="en-IN" altLang="en-US" u="sng">
                <a:solidFill>
                  <a:srgbClr val="6A3E3E"/>
                </a:solidFill>
                <a:latin typeface="Consolas" panose="020B0609020204030204" pitchFamily="49" charset="0"/>
              </a:rPr>
              <a:t>number</a:t>
            </a: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 = (Integer) </a:t>
            </a:r>
            <a:r>
              <a:rPr lang="en-IN" altLang="en-US" u="sng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mark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=</a:t>
            </a:r>
            <a:r>
              <a:rPr lang="en-IN" altLang="en-US">
                <a:solidFill>
                  <a:srgbClr val="2A00FF"/>
                </a:solidFill>
                <a:latin typeface="Consolas" panose="020B0609020204030204" pitchFamily="49" charset="0"/>
              </a:rPr>
              <a:t>"50"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Integer.</a:t>
            </a:r>
            <a:r>
              <a:rPr lang="en-IN" altLang="en-US" i="1">
                <a:solidFill>
                  <a:srgbClr val="000000"/>
                </a:solidFill>
                <a:latin typeface="Consolas" panose="020B0609020204030204" pitchFamily="49" charset="0"/>
              </a:rPr>
              <a:t>parseInt(</a:t>
            </a:r>
            <a:r>
              <a:rPr lang="en-IN" altLang="en-US" i="1">
                <a:solidFill>
                  <a:srgbClr val="6A3E3E"/>
                </a:solidFill>
                <a:latin typeface="Consolas" panose="020B0609020204030204" pitchFamily="49" charset="0"/>
              </a:rPr>
              <a:t>mark</a:t>
            </a:r>
            <a:r>
              <a:rPr lang="en-IN" altLang="en-US" i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( </a:t>
            </a:r>
            <a:r>
              <a:rPr lang="en-IN" altLang="en-US" b="1">
                <a:solidFill>
                  <a:srgbClr val="0070C0"/>
                </a:solidFill>
                <a:latin typeface="Consolas" panose="020B0609020204030204" pitchFamily="49" charset="0"/>
              </a:rPr>
              <a:t>ClassCastException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| </a:t>
            </a:r>
            <a:r>
              <a:rPr lang="en-IN" altLang="en-US" b="1">
                <a:solidFill>
                  <a:srgbClr val="00B0F0"/>
                </a:solidFill>
                <a:latin typeface="Consolas" panose="020B0609020204030204" pitchFamily="49" charset="0"/>
              </a:rPr>
              <a:t>NumberFormatException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) {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.printStackTrace();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pPr marL="914400" lvl="2" indent="0">
              <a:buFontTx/>
              <a:buNone/>
            </a:pPr>
            <a:endParaRPr lang="en-US" altLang="en-US" sz="3600"/>
          </a:p>
        </p:txBody>
      </p:sp>
      <p:sp>
        <p:nvSpPr>
          <p:cNvPr id="109572" name="Slide Number Placeholder 3">
            <a:extLst>
              <a:ext uri="{FF2B5EF4-FFF2-40B4-BE49-F238E27FC236}">
                <a16:creationId xmlns:a16="http://schemas.microsoft.com/office/drawing/2014/main" id="{D8D2189F-FD68-61F3-6D3C-C3F40DA6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FB58D0-A43A-214B-9359-45F68278695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en-US" sz="14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itle 1">
            <a:extLst>
              <a:ext uri="{FF2B5EF4-FFF2-40B4-BE49-F238E27FC236}">
                <a16:creationId xmlns:a16="http://schemas.microsoft.com/office/drawing/2014/main" id="{F8AC21D8-C848-CEA1-A461-DF44E66A3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Finally  Block</a:t>
            </a:r>
          </a:p>
        </p:txBody>
      </p:sp>
      <p:pic>
        <p:nvPicPr>
          <p:cNvPr id="112643" name="Content Placeholder 4" descr="catchFlowChartB.gif">
            <a:extLst>
              <a:ext uri="{FF2B5EF4-FFF2-40B4-BE49-F238E27FC236}">
                <a16:creationId xmlns:a16="http://schemas.microsoft.com/office/drawing/2014/main" id="{0C0468FF-E312-7521-6489-8EA76FAC9D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14400"/>
            <a:ext cx="7924800" cy="5292725"/>
          </a:xfrm>
        </p:spPr>
      </p:pic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6038F2A8-9DCF-11D4-21C4-228371CD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0CB079-6E5D-F04E-9293-C0D838E97D9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en-US" sz="14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Number Placeholder 5">
            <a:extLst>
              <a:ext uri="{FF2B5EF4-FFF2-40B4-BE49-F238E27FC236}">
                <a16:creationId xmlns:a16="http://schemas.microsoft.com/office/drawing/2014/main" id="{5007024B-8AD7-0164-3012-6749D3691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2D10B3-7203-D04B-A377-63D2DE61F5F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en-US" sz="14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36984E2-101C-0AD1-0675-1EA8859E4B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Throws Clause</a:t>
            </a:r>
          </a:p>
        </p:txBody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E994BB7C-364F-9E36-F7BA-C64E4D0A45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A method is required to either catch or list all exceptions it might throw</a:t>
            </a:r>
          </a:p>
          <a:p>
            <a:pPr lvl="1" eaLnBrk="1" hangingPunct="1"/>
            <a:r>
              <a:rPr lang="en-US" altLang="en-US" sz="1800"/>
              <a:t> Except for </a:t>
            </a:r>
            <a:r>
              <a:rPr lang="en-US" altLang="en-US" sz="1800" i="1"/>
              <a:t>Error </a:t>
            </a:r>
            <a:r>
              <a:rPr lang="en-US" altLang="en-US" sz="1800"/>
              <a:t>or </a:t>
            </a:r>
            <a:r>
              <a:rPr lang="en-US" altLang="en-US" sz="1800" i="1"/>
              <a:t>RuntimeException</a:t>
            </a:r>
            <a:r>
              <a:rPr lang="en-US" altLang="en-US" sz="1800"/>
              <a:t>, or their subclasses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If a method may cause an exception to occur but does not catch it, then it  must say so using the </a:t>
            </a:r>
            <a:r>
              <a:rPr lang="en-US" altLang="en-US" sz="1800" i="1"/>
              <a:t>throws </a:t>
            </a:r>
            <a:r>
              <a:rPr lang="en-US" altLang="en-US" sz="1800"/>
              <a:t>keyword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Applies to checked exceptions only</a:t>
            </a:r>
          </a:p>
          <a:p>
            <a:pPr lvl="1" eaLnBrk="1" hangingPunct="1"/>
            <a:endParaRPr lang="en-US" altLang="en-US" sz="1800" b="1"/>
          </a:p>
          <a:p>
            <a:pPr lvl="1" eaLnBrk="1" hangingPunct="1">
              <a:buFontTx/>
              <a:buNone/>
            </a:pPr>
            <a:r>
              <a:rPr lang="en-US" altLang="en-US" sz="1800" b="1"/>
              <a:t>&lt;type&gt; &lt;methodName&gt; (&lt;parameterList&gt;)  throws &lt;exceptionList&gt;</a:t>
            </a:r>
          </a:p>
          <a:p>
            <a:pPr lvl="1" eaLnBrk="1" hangingPunct="1">
              <a:buFontTx/>
              <a:buNone/>
            </a:pPr>
            <a:r>
              <a:rPr lang="en-US" altLang="en-US" sz="1800" b="1"/>
              <a:t> {</a:t>
            </a:r>
          </a:p>
          <a:p>
            <a:pPr lvl="1" eaLnBrk="1" hangingPunct="1">
              <a:buFontTx/>
              <a:buNone/>
            </a:pPr>
            <a:r>
              <a:rPr lang="en-US" altLang="en-US" sz="1800" b="1"/>
              <a:t>       &lt;methodBody&gt;</a:t>
            </a:r>
          </a:p>
          <a:p>
            <a:pPr eaLnBrk="1" hangingPunct="1">
              <a:buFontTx/>
              <a:buNone/>
            </a:pPr>
            <a:r>
              <a:rPr lang="en-US" altLang="en-US" sz="1800" b="1"/>
              <a:t>        }</a:t>
            </a: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itle 1">
            <a:extLst>
              <a:ext uri="{FF2B5EF4-FFF2-40B4-BE49-F238E27FC236}">
                <a16:creationId xmlns:a16="http://schemas.microsoft.com/office/drawing/2014/main" id="{9C113753-AC83-8BF4-8E32-841954785F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sz="2800" b="1">
                <a:solidFill>
                  <a:schemeClr val="tx1"/>
                </a:solidFill>
              </a:rPr>
            </a:br>
            <a:r>
              <a:rPr lang="en-US" altLang="en-US" sz="2800" b="1">
                <a:solidFill>
                  <a:schemeClr val="tx1"/>
                </a:solidFill>
              </a:rPr>
              <a:t>The try-with-resources Statement</a:t>
            </a:r>
            <a:br>
              <a:rPr lang="en-US" altLang="en-US" sz="4000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116739" name="Content Placeholder 2">
            <a:extLst>
              <a:ext uri="{FF2B5EF4-FFF2-40B4-BE49-F238E27FC236}">
                <a16:creationId xmlns:a16="http://schemas.microsoft.com/office/drawing/2014/main" id="{73BBDB02-7B47-67AB-9DB9-E1B826D989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 try statement that declares one or more resources. </a:t>
            </a:r>
          </a:p>
          <a:p>
            <a:endParaRPr lang="en-US" altLang="en-US"/>
          </a:p>
          <a:p>
            <a:r>
              <a:rPr lang="en-US" altLang="en-US"/>
              <a:t>A </a:t>
            </a:r>
            <a:r>
              <a:rPr lang="en-US" altLang="en-US" i="1"/>
              <a:t>resource</a:t>
            </a:r>
            <a:r>
              <a:rPr lang="en-US" altLang="en-US"/>
              <a:t> is an object that must be closed after the program is finished with it. </a:t>
            </a:r>
          </a:p>
          <a:p>
            <a:endParaRPr lang="en-US" altLang="en-US"/>
          </a:p>
          <a:p>
            <a:r>
              <a:rPr lang="en-US" altLang="en-US"/>
              <a:t>Ensures the resource is closed at the end of the statement. </a:t>
            </a:r>
          </a:p>
          <a:p>
            <a:endParaRPr lang="en-US" altLang="en-US"/>
          </a:p>
          <a:p>
            <a:r>
              <a:rPr lang="en-US" altLang="en-US"/>
              <a:t>Any object that implements java.lang.AutoCloseable, and  java.io.Closeable, can be used as a resource.</a:t>
            </a:r>
          </a:p>
          <a:p>
            <a:endParaRPr lang="en-US" altLang="en-US"/>
          </a:p>
        </p:txBody>
      </p:sp>
      <p:sp>
        <p:nvSpPr>
          <p:cNvPr id="116740" name="Slide Number Placeholder 3">
            <a:extLst>
              <a:ext uri="{FF2B5EF4-FFF2-40B4-BE49-F238E27FC236}">
                <a16:creationId xmlns:a16="http://schemas.microsoft.com/office/drawing/2014/main" id="{D040D7E8-B679-ECCD-432C-2B8B6E5B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9D4157-DF41-BF41-ACC1-BF2426B45C9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en-US" sz="14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>
            <a:extLst>
              <a:ext uri="{FF2B5EF4-FFF2-40B4-BE49-F238E27FC236}">
                <a16:creationId xmlns:a16="http://schemas.microsoft.com/office/drawing/2014/main" id="{785706B7-7A20-E46A-FE23-5DCAC257B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Exception Handling- Closing the Resource</a:t>
            </a:r>
          </a:p>
        </p:txBody>
      </p:sp>
      <p:sp>
        <p:nvSpPr>
          <p:cNvPr id="117763" name="Content Placeholder 2">
            <a:extLst>
              <a:ext uri="{FF2B5EF4-FFF2-40B4-BE49-F238E27FC236}">
                <a16:creationId xmlns:a16="http://schemas.microsoft.com/office/drawing/2014/main" id="{B0F0F262-E650-851D-7FD9-38930F99E9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marL="457200" lvl="1" indent="0"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en-US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Scanner( System.</a:t>
            </a:r>
            <a:r>
              <a:rPr lang="en-US" altLang="en-US" sz="1800" b="1" i="1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sz="1800" b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;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System.</a:t>
            </a:r>
            <a:r>
              <a:rPr lang="en-IN" altLang="en-US" sz="1800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.print(</a:t>
            </a:r>
            <a:r>
              <a:rPr lang="en-IN" altLang="en-US" sz="1800" b="1" i="1">
                <a:solidFill>
                  <a:srgbClr val="2A00FF"/>
                </a:solidFill>
                <a:latin typeface="Consolas" panose="020B0609020204030204" pitchFamily="49" charset="0"/>
              </a:rPr>
              <a:t>"Enter an integer: "</a:t>
            </a:r>
            <a:r>
              <a:rPr lang="en-IN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marL="457200" lvl="1" indent="0">
              <a:buFontTx/>
              <a:buNone/>
            </a:pPr>
            <a:r>
              <a:rPr lang="en-IN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.nextInt(); </a:t>
            </a:r>
          </a:p>
          <a:p>
            <a:pPr marL="457200" lvl="1" indent="0"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System.</a:t>
            </a:r>
            <a:r>
              <a:rPr lang="en-US" altLang="en-US" sz="1800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1800" b="1" i="1">
                <a:solidFill>
                  <a:srgbClr val="2A00FF"/>
                </a:solidFill>
                <a:latin typeface="Consolas" panose="020B0609020204030204" pitchFamily="49" charset="0"/>
              </a:rPr>
              <a:t>"The square of "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1800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1800" b="1" i="1">
                <a:solidFill>
                  <a:srgbClr val="2A00FF"/>
                </a:solidFill>
                <a:latin typeface="Consolas" panose="020B0609020204030204" pitchFamily="49" charset="0"/>
              </a:rPr>
              <a:t>" is "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1800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1800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( InputMismatchException </a:t>
            </a:r>
            <a:r>
              <a:rPr lang="en-IN" altLang="en-US" sz="1800" b="1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) { </a:t>
            </a:r>
          </a:p>
          <a:p>
            <a:pPr marL="857250" lvl="2" indent="0"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22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US" altLang="en-US" sz="22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2200" b="1" i="1">
                <a:solidFill>
                  <a:srgbClr val="2A00FF"/>
                </a:solidFill>
                <a:latin typeface="Consolas" panose="020B0609020204030204" pitchFamily="49" charset="0"/>
              </a:rPr>
              <a:t>"You entered bad data."</a:t>
            </a:r>
            <a:r>
              <a:rPr lang="en-US" altLang="en-US" sz="22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857250" lvl="2" indent="0"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22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US" altLang="en-US" sz="22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2200" b="1" i="1">
                <a:solidFill>
                  <a:srgbClr val="2A00FF"/>
                </a:solidFill>
                <a:latin typeface="Consolas" panose="020B0609020204030204" pitchFamily="49" charset="0"/>
              </a:rPr>
              <a:t>"Run the program again."</a:t>
            </a:r>
            <a:r>
              <a:rPr lang="en-US" altLang="en-US" sz="22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IN" altLang="en-US" sz="18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IN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IN" altLang="en-US" sz="1800" b="1" i="1">
                <a:solidFill>
                  <a:srgbClr val="2A00FF"/>
                </a:solidFill>
                <a:latin typeface="Consolas" panose="020B0609020204030204" pitchFamily="49" charset="0"/>
              </a:rPr>
              <a:t>"Good-bye"</a:t>
            </a:r>
            <a:r>
              <a:rPr lang="en-IN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endParaRPr lang="en-IN" altLang="en-US" sz="180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.close();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2800"/>
          </a:p>
        </p:txBody>
      </p:sp>
      <p:sp>
        <p:nvSpPr>
          <p:cNvPr id="117764" name="Slide Number Placeholder 3">
            <a:extLst>
              <a:ext uri="{FF2B5EF4-FFF2-40B4-BE49-F238E27FC236}">
                <a16:creationId xmlns:a16="http://schemas.microsoft.com/office/drawing/2014/main" id="{83B19607-0508-44F7-ED3F-410164ED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D7F289-9F42-9C47-A071-768C85F4EA9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76</a:t>
            </a:fld>
            <a:endParaRPr lang="en-US" altLang="en-US" sz="14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itle 1">
            <a:extLst>
              <a:ext uri="{FF2B5EF4-FFF2-40B4-BE49-F238E27FC236}">
                <a16:creationId xmlns:a16="http://schemas.microsoft.com/office/drawing/2014/main" id="{2DF3050E-7D45-5612-2FA5-28049AB09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The try-with-resources Statement</a:t>
            </a:r>
            <a:br>
              <a:rPr lang="en-US" altLang="en-US" sz="4400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118787" name="Content Placeholder 2">
            <a:extLst>
              <a:ext uri="{FF2B5EF4-FFF2-40B4-BE49-F238E27FC236}">
                <a16:creationId xmlns:a16="http://schemas.microsoft.com/office/drawing/2014/main" id="{DA9F6B2C-0930-1A93-01C7-F63C9A8371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457200" lvl="1" indent="0">
              <a:buFontTx/>
              <a:buNone/>
            </a:pPr>
            <a:endParaRPr lang="en-IN" alt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IN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.print(</a:t>
            </a:r>
            <a:r>
              <a:rPr lang="en-IN" altLang="en-US" b="1" i="1">
                <a:solidFill>
                  <a:srgbClr val="2A00FF"/>
                </a:solidFill>
                <a:latin typeface="Consolas" panose="020B0609020204030204" pitchFamily="49" charset="0"/>
              </a:rPr>
              <a:t>"Enter an integer: "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marL="457200" lvl="1" indent="0">
              <a:buFontTx/>
              <a:buNone/>
            </a:pP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en-US" sz="2800" b="1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en-US" altLang="en-US" b="1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Scanner( System.</a:t>
            </a:r>
            <a:r>
              <a:rPr lang="en-US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)</a:t>
            </a:r>
            <a:r>
              <a:rPr lang="en-US" altLang="en-US" sz="2800" b="1" i="1">
                <a:solidFill>
                  <a:srgbClr val="00B0F0"/>
                </a:solidFill>
                <a:latin typeface="Consolas" panose="020B0609020204030204" pitchFamily="49" charset="0"/>
              </a:rPr>
              <a:t>)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.nextInt(); </a:t>
            </a:r>
          </a:p>
          <a:p>
            <a:pPr marL="457200" lvl="1" indent="0">
              <a:buFontTx/>
              <a:buNone/>
            </a:pPr>
            <a:endParaRPr lang="en-IN" alt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b="1" i="1">
                <a:solidFill>
                  <a:srgbClr val="2A00FF"/>
                </a:solidFill>
                <a:latin typeface="Consolas" panose="020B0609020204030204" pitchFamily="49" charset="0"/>
              </a:rPr>
              <a:t>"square"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b="1" i="1">
                <a:solidFill>
                  <a:srgbClr val="2A00FF"/>
                </a:solidFill>
                <a:latin typeface="Consolas" panose="020B0609020204030204" pitchFamily="49" charset="0"/>
              </a:rPr>
              <a:t>"is"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endParaRPr lang="en-IN" alt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( InputMismatchException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) { </a:t>
            </a:r>
          </a:p>
          <a:p>
            <a:pPr marL="857250" lvl="2" indent="0"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20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US" altLang="en-US" sz="20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2000" b="1" i="1">
                <a:solidFill>
                  <a:srgbClr val="2A00FF"/>
                </a:solidFill>
                <a:latin typeface="Consolas" panose="020B0609020204030204" pitchFamily="49" charset="0"/>
              </a:rPr>
              <a:t>"You entered bad data."</a:t>
            </a:r>
            <a:r>
              <a:rPr lang="en-US" altLang="en-US" sz="20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857250" lvl="2" indent="0"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20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US" altLang="en-US" sz="20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2000" b="1" i="1">
                <a:solidFill>
                  <a:srgbClr val="2A00FF"/>
                </a:solidFill>
                <a:latin typeface="Consolas" panose="020B0609020204030204" pitchFamily="49" charset="0"/>
              </a:rPr>
              <a:t>"Run the program again."</a:t>
            </a:r>
            <a:r>
              <a:rPr lang="en-US" altLang="en-US" sz="20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System.</a:t>
            </a:r>
            <a:r>
              <a:rPr lang="en-IN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IN" altLang="en-US" b="1" i="1">
                <a:solidFill>
                  <a:srgbClr val="2A00FF"/>
                </a:solidFill>
                <a:latin typeface="Consolas" panose="020B0609020204030204" pitchFamily="49" charset="0"/>
              </a:rPr>
              <a:t>"Good-bye"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altLang="en-US"/>
          </a:p>
        </p:txBody>
      </p:sp>
      <p:sp>
        <p:nvSpPr>
          <p:cNvPr id="118788" name="Slide Number Placeholder 3">
            <a:extLst>
              <a:ext uri="{FF2B5EF4-FFF2-40B4-BE49-F238E27FC236}">
                <a16:creationId xmlns:a16="http://schemas.microsoft.com/office/drawing/2014/main" id="{B01626D4-6730-E055-745F-310CDDB6F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A2C54C-646F-6247-895B-330A09DC6A4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77</a:t>
            </a:fld>
            <a:endParaRPr lang="en-US" altLang="en-US" sz="14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Number Placeholder 5">
            <a:extLst>
              <a:ext uri="{FF2B5EF4-FFF2-40B4-BE49-F238E27FC236}">
                <a16:creationId xmlns:a16="http://schemas.microsoft.com/office/drawing/2014/main" id="{889FD5EE-D004-10B1-9A28-AFB1A7EDD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012C3B-E1DC-4947-BC46-9CAD37A6CC7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78</a:t>
            </a:fld>
            <a:endParaRPr lang="en-US" altLang="en-US" sz="1400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4CF5EDE8-DE4B-71E6-898F-9C0E021E8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Throwing Exceptions</a:t>
            </a:r>
          </a:p>
        </p:txBody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54883569-FFE8-7E3B-AE3A-0440305B6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b="1"/>
              <a:t>The </a:t>
            </a:r>
            <a:r>
              <a:rPr lang="en-US" altLang="en-US" sz="1800" b="1" i="1"/>
              <a:t>throw </a:t>
            </a:r>
            <a:r>
              <a:rPr lang="en-US" altLang="en-US" sz="1800" b="1"/>
              <a:t>Keyword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Java allows you to throw exceptions (generate exceptions)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b="1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/>
              <a:t>throw &lt;exception object&gt;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An exception you throw is an object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 You have to create an exception object in the same way you create any other object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Example: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/>
              <a:t>throw new ArithmeticException(“testing...”);</a:t>
            </a: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itle 1">
            <a:extLst>
              <a:ext uri="{FF2B5EF4-FFF2-40B4-BE49-F238E27FC236}">
                <a16:creationId xmlns:a16="http://schemas.microsoft.com/office/drawing/2014/main" id="{D89408E7-3666-3B38-FE59-43D48CAA9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Re-throw Exception</a:t>
            </a:r>
          </a:p>
        </p:txBody>
      </p:sp>
      <p:sp>
        <p:nvSpPr>
          <p:cNvPr id="168963" name="Content Placeholder 2">
            <a:extLst>
              <a:ext uri="{FF2B5EF4-FFF2-40B4-BE49-F238E27FC236}">
                <a16:creationId xmlns:a16="http://schemas.microsoft.com/office/drawing/2014/main" id="{66DA5DA9-586A-4A2B-D542-BC353E3A4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Exception of the Catch Parameter type is the one that is </a:t>
            </a:r>
            <a:r>
              <a:rPr lang="en-US" sz="2000" dirty="0" err="1"/>
              <a:t>rethrown</a:t>
            </a:r>
            <a:r>
              <a:rPr lang="en-US" sz="2000" dirty="0"/>
              <a:t>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To intercept all exceptions and </a:t>
            </a:r>
            <a:r>
              <a:rPr lang="en-US" sz="2000" dirty="0" err="1"/>
              <a:t>rethrow</a:t>
            </a:r>
            <a:r>
              <a:rPr lang="en-US" sz="2000" dirty="0"/>
              <a:t> them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Can catch with </a:t>
            </a:r>
            <a:r>
              <a:rPr lang="en-US" dirty="0"/>
              <a:t> super class Exception</a:t>
            </a:r>
            <a:r>
              <a:rPr lang="en-US" dirty="0">
                <a:ea typeface="+mn-ea"/>
                <a:cs typeface="+mn-cs"/>
              </a:rPr>
              <a:t> 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Declare  method as throwing an </a:t>
            </a:r>
            <a:r>
              <a:rPr lang="en-US" dirty="0"/>
              <a:t>Exception</a:t>
            </a:r>
            <a:r>
              <a:rPr lang="en-US" dirty="0">
                <a:ea typeface="+mn-ea"/>
                <a:cs typeface="+mn-cs"/>
              </a:rPr>
              <a:t>. </a:t>
            </a:r>
          </a:p>
          <a:p>
            <a:pPr lvl="1">
              <a:defRPr/>
            </a:pPr>
            <a:endParaRPr lang="en-US" dirty="0">
              <a:ea typeface="+mn-ea"/>
              <a:cs typeface="+mn-cs"/>
            </a:endParaRPr>
          </a:p>
          <a:p>
            <a:pPr>
              <a:defRPr/>
            </a:pPr>
            <a:r>
              <a:rPr lang="en-US" sz="2000" dirty="0"/>
              <a:t>"imprecise </a:t>
            </a:r>
            <a:r>
              <a:rPr lang="en-US" sz="2000" dirty="0" err="1"/>
              <a:t>rethrow</a:t>
            </a:r>
            <a:r>
              <a:rPr lang="en-US" sz="2000" dirty="0"/>
              <a:t>“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Throwing a general </a:t>
            </a:r>
            <a:r>
              <a:rPr lang="en-US" dirty="0"/>
              <a:t>Exception</a:t>
            </a:r>
            <a:r>
              <a:rPr lang="en-US" dirty="0">
                <a:ea typeface="+mn-ea"/>
                <a:cs typeface="+mn-cs"/>
              </a:rPr>
              <a:t> type (instead of specific ones)</a:t>
            </a:r>
          </a:p>
        </p:txBody>
      </p:sp>
      <p:sp>
        <p:nvSpPr>
          <p:cNvPr id="120836" name="Slide Number Placeholder 3">
            <a:extLst>
              <a:ext uri="{FF2B5EF4-FFF2-40B4-BE49-F238E27FC236}">
                <a16:creationId xmlns:a16="http://schemas.microsoft.com/office/drawing/2014/main" id="{62A6AC70-8454-E61D-0321-5BC0C9C8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2CB692-9F70-C947-A145-57E6019A78B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79</a:t>
            </a:fld>
            <a:endParaRPr lang="en-US" altLang="en-US" sz="14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itle 1">
            <a:extLst>
              <a:ext uri="{FF2B5EF4-FFF2-40B4-BE49-F238E27FC236}">
                <a16:creationId xmlns:a16="http://schemas.microsoft.com/office/drawing/2014/main" id="{2583FB21-1DDA-C587-D133-DB17C35688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Re-Throw Exception</a:t>
            </a:r>
          </a:p>
        </p:txBody>
      </p:sp>
      <p:sp>
        <p:nvSpPr>
          <p:cNvPr id="121859" name="Content Placeholder 2">
            <a:extLst>
              <a:ext uri="{FF2B5EF4-FFF2-40B4-BE49-F238E27FC236}">
                <a16:creationId xmlns:a16="http://schemas.microsoft.com/office/drawing/2014/main" id="{7E962282-2CD3-5A76-3C16-D046F34B9E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Java 7, can be more precise about the exception types being rethrown from a method. </a:t>
            </a:r>
          </a:p>
          <a:p>
            <a:endParaRPr lang="en-US" altLang="en-US" sz="2000"/>
          </a:p>
          <a:p>
            <a:r>
              <a:rPr lang="en-US" altLang="en-US" sz="2000"/>
              <a:t>This leads to improved checking for rethrown exceptions. </a:t>
            </a:r>
          </a:p>
          <a:p>
            <a:endParaRPr lang="en-US" altLang="en-US" sz="2000"/>
          </a:p>
          <a:p>
            <a:r>
              <a:rPr lang="en-US" altLang="en-US" sz="2000"/>
              <a:t>Can handle them a lot better at the calling side</a:t>
            </a:r>
          </a:p>
          <a:p>
            <a:endParaRPr lang="en-US" altLang="en-US" sz="2000"/>
          </a:p>
        </p:txBody>
      </p:sp>
      <p:sp>
        <p:nvSpPr>
          <p:cNvPr id="121860" name="Slide Number Placeholder 3">
            <a:extLst>
              <a:ext uri="{FF2B5EF4-FFF2-40B4-BE49-F238E27FC236}">
                <a16:creationId xmlns:a16="http://schemas.microsoft.com/office/drawing/2014/main" id="{992EFEAE-E456-A6B9-12BC-C4C92FF40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7A13B3-BBAA-464F-A839-50966022340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80</a:t>
            </a:fld>
            <a:endParaRPr lang="en-US" altLang="en-US" sz="14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itle 1">
            <a:extLst>
              <a:ext uri="{FF2B5EF4-FFF2-40B4-BE49-F238E27FC236}">
                <a16:creationId xmlns:a16="http://schemas.microsoft.com/office/drawing/2014/main" id="{103E79C2-9EFB-CEAD-A299-A6918F2B3E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Re-throw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0A96B-AC00-5202-4C23-A0C24622E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static void </a:t>
            </a:r>
            <a:r>
              <a:rPr lang="en-US" b="1" dirty="0" err="1">
                <a:ea typeface="+mn-ea"/>
                <a:cs typeface="+mn-cs"/>
              </a:rPr>
              <a:t>myExample</a:t>
            </a:r>
            <a:r>
              <a:rPr lang="en-US" b="1" dirty="0">
                <a:ea typeface="+mn-ea"/>
                <a:cs typeface="+mn-cs"/>
              </a:rPr>
              <a:t>() throws  </a:t>
            </a:r>
            <a:r>
              <a:rPr lang="en-US" b="1" dirty="0" err="1">
                <a:ea typeface="+mn-ea"/>
                <a:cs typeface="+mn-cs"/>
              </a:rPr>
              <a:t>ParseException,IOException</a:t>
            </a:r>
            <a:r>
              <a:rPr lang="en-US" b="1" dirty="0">
                <a:ea typeface="+mn-ea"/>
                <a:cs typeface="+mn-cs"/>
              </a:rPr>
              <a:t>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try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new </a:t>
            </a:r>
            <a:r>
              <a:rPr lang="en-US" b="1" dirty="0" err="1">
                <a:ea typeface="+mn-ea"/>
                <a:cs typeface="+mn-cs"/>
              </a:rPr>
              <a:t>SimpleDateFormat</a:t>
            </a:r>
            <a:r>
              <a:rPr lang="en-US" b="1" dirty="0">
                <a:ea typeface="+mn-ea"/>
                <a:cs typeface="+mn-cs"/>
              </a:rPr>
              <a:t>("</a:t>
            </a:r>
            <a:r>
              <a:rPr lang="en-US" b="1" dirty="0" err="1">
                <a:ea typeface="+mn-ea"/>
                <a:cs typeface="+mn-cs"/>
              </a:rPr>
              <a:t>yyyyMMdd</a:t>
            </a:r>
            <a:r>
              <a:rPr lang="en-US" b="1" dirty="0">
                <a:ea typeface="+mn-ea"/>
                <a:cs typeface="+mn-cs"/>
              </a:rPr>
              <a:t>").parse("date");</a:t>
            </a: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new </a:t>
            </a:r>
            <a:r>
              <a:rPr lang="en-US" b="1" dirty="0" err="1">
                <a:ea typeface="+mn-ea"/>
                <a:cs typeface="+mn-cs"/>
              </a:rPr>
              <a:t>FileReader</a:t>
            </a:r>
            <a:r>
              <a:rPr lang="en-US" b="1" dirty="0">
                <a:ea typeface="+mn-ea"/>
                <a:cs typeface="+mn-cs"/>
              </a:rPr>
              <a:t>("Abc.txt").read();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 </a:t>
            </a:r>
            <a:r>
              <a:rPr lang="en-US" b="1" dirty="0">
                <a:ea typeface="+mn-ea"/>
                <a:cs typeface="+mn-cs"/>
              </a:rPr>
              <a:t>catch (Exception e)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	throw e;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}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dirty="0"/>
          </a:p>
        </p:txBody>
      </p:sp>
      <p:sp>
        <p:nvSpPr>
          <p:cNvPr id="122884" name="Slide Number Placeholder 3">
            <a:extLst>
              <a:ext uri="{FF2B5EF4-FFF2-40B4-BE49-F238E27FC236}">
                <a16:creationId xmlns:a16="http://schemas.microsoft.com/office/drawing/2014/main" id="{8CA1C2F1-0587-32C8-7309-54A8CD85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CEEB88-EC8C-874E-A06F-B7611400B03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81</a:t>
            </a:fld>
            <a:endParaRPr lang="en-US" altLang="en-US" sz="14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">
            <a:extLst>
              <a:ext uri="{FF2B5EF4-FFF2-40B4-BE49-F238E27FC236}">
                <a16:creationId xmlns:a16="http://schemas.microsoft.com/office/drawing/2014/main" id="{A7905B25-FCBB-669C-7F18-A7EC81F5F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Method Overriding and Exceptions</a:t>
            </a:r>
          </a:p>
        </p:txBody>
      </p:sp>
      <p:sp>
        <p:nvSpPr>
          <p:cNvPr id="123907" name="Content Placeholder 2">
            <a:extLst>
              <a:ext uri="{FF2B5EF4-FFF2-40B4-BE49-F238E27FC236}">
                <a16:creationId xmlns:a16="http://schemas.microsoft.com/office/drawing/2014/main" id="{7D0BC728-77B1-FDBB-7755-3BB0340DDB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u="sng"/>
              <a:t>The overriding method can throw:</a:t>
            </a:r>
          </a:p>
          <a:p>
            <a:endParaRPr lang="en-US" altLang="en-US" sz="2000"/>
          </a:p>
          <a:p>
            <a:pPr lvl="1"/>
            <a:r>
              <a:rPr lang="en-US" altLang="en-US"/>
              <a:t> No exceptions</a:t>
            </a:r>
          </a:p>
          <a:p>
            <a:pPr lvl="1"/>
            <a:r>
              <a:rPr lang="en-US" altLang="en-US"/>
              <a:t>One or more of the exceptions thrown by the overridden method</a:t>
            </a:r>
          </a:p>
          <a:p>
            <a:pPr lvl="1"/>
            <a:r>
              <a:rPr lang="en-US" altLang="en-US"/>
              <a:t> One or more subclasses of the exceptions thrown by the overridden method</a:t>
            </a:r>
          </a:p>
          <a:p>
            <a:endParaRPr lang="en-US" altLang="en-US" sz="2000"/>
          </a:p>
          <a:p>
            <a:r>
              <a:rPr lang="en-US" altLang="en-US" sz="2000" b="1" u="sng"/>
              <a:t>The overriding method cannot throw:</a:t>
            </a:r>
          </a:p>
          <a:p>
            <a:endParaRPr lang="en-US" altLang="en-US" sz="2000"/>
          </a:p>
          <a:p>
            <a:pPr lvl="1"/>
            <a:r>
              <a:rPr lang="en-US" altLang="en-US"/>
              <a:t>Additional exceptions not thrown by the overridden method</a:t>
            </a:r>
          </a:p>
          <a:p>
            <a:pPr lvl="1"/>
            <a:r>
              <a:rPr lang="en-US" altLang="en-US"/>
              <a:t>Superclasses of the exceptions thrown by the overridden method</a:t>
            </a:r>
          </a:p>
        </p:txBody>
      </p:sp>
      <p:sp>
        <p:nvSpPr>
          <p:cNvPr id="123908" name="Slide Number Placeholder 3">
            <a:extLst>
              <a:ext uri="{FF2B5EF4-FFF2-40B4-BE49-F238E27FC236}">
                <a16:creationId xmlns:a16="http://schemas.microsoft.com/office/drawing/2014/main" id="{936A1ABB-4FE1-ED5C-D79E-5D89BCBE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CBC69E-28E4-9F45-90BA-C7AFA9B4585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82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Number Placeholder 5">
            <a:extLst>
              <a:ext uri="{FF2B5EF4-FFF2-40B4-BE49-F238E27FC236}">
                <a16:creationId xmlns:a16="http://schemas.microsoft.com/office/drawing/2014/main" id="{27E2B11B-6F0E-D25C-D96C-BED7E321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4DFCD0-E33D-1F46-9510-A62835DE37E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83</a:t>
            </a:fld>
            <a:endParaRPr lang="en-US" altLang="en-US" sz="1400"/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286E1403-EA3F-885C-F1C3-D6E675E84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Overriding –When Method Has Exceptions</a:t>
            </a:r>
          </a:p>
        </p:txBody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15E734F-C001-41A7-2ED6-639EA8B73C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Any exceptions declared in overriding method must be of the same type as those thrown by the super class, or a subclass of that type.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class</a:t>
            </a:r>
            <a:r>
              <a:rPr lang="en-US" altLang="en-US">
                <a:latin typeface="Courier New" panose="02070309020205020404" pitchFamily="49" charset="0"/>
              </a:rPr>
              <a:t> MyBase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  </a:t>
            </a:r>
            <a:r>
              <a:rPr lang="en-US" altLang="en-US" b="1">
                <a:latin typeface="Courier New" panose="02070309020205020404" pitchFamily="49" charset="0"/>
              </a:rPr>
              <a:t>public void</a:t>
            </a:r>
            <a:r>
              <a:rPr lang="en-US" altLang="en-US">
                <a:latin typeface="Courier New" panose="02070309020205020404" pitchFamily="49" charset="0"/>
              </a:rPr>
              <a:t> method1() </a:t>
            </a:r>
            <a:r>
              <a:rPr lang="en-US" altLang="en-US" b="1">
                <a:latin typeface="Courier New" panose="02070309020205020404" pitchFamily="49" charset="0"/>
              </a:rPr>
              <a:t>throws Exception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  {  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  <a:r>
              <a:rPr lang="en-US" altLang="en-US" b="1">
                <a:latin typeface="Courier New" panose="02070309020205020404" pitchFamily="49" charset="0"/>
              </a:rPr>
              <a:t>public void</a:t>
            </a:r>
            <a:r>
              <a:rPr lang="en-US" altLang="en-US">
                <a:latin typeface="Courier New" panose="02070309020205020404" pitchFamily="49" charset="0"/>
              </a:rPr>
              <a:t> method2() </a:t>
            </a:r>
            <a:r>
              <a:rPr lang="en-US" altLang="en-US" b="1">
                <a:latin typeface="Courier New" panose="02070309020205020404" pitchFamily="49" charset="0"/>
              </a:rPr>
              <a:t>throws RuntimeException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  {  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class</a:t>
            </a:r>
            <a:r>
              <a:rPr lang="en-US" altLang="en-US">
                <a:latin typeface="Courier New" panose="02070309020205020404" pitchFamily="49" charset="0"/>
              </a:rPr>
              <a:t> Sub </a:t>
            </a:r>
            <a:r>
              <a:rPr lang="en-US" altLang="en-US" b="1">
                <a:latin typeface="Courier New" panose="02070309020205020404" pitchFamily="49" charset="0"/>
              </a:rPr>
              <a:t>extends</a:t>
            </a:r>
            <a:r>
              <a:rPr lang="en-US" altLang="en-US">
                <a:latin typeface="Courier New" panose="02070309020205020404" pitchFamily="49" charset="0"/>
              </a:rPr>
              <a:t> MyBase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  <a:r>
              <a:rPr lang="en-US" altLang="en-US" b="1">
                <a:latin typeface="Courier New" panose="02070309020205020404" pitchFamily="49" charset="0"/>
              </a:rPr>
              <a:t>public void</a:t>
            </a:r>
            <a:r>
              <a:rPr lang="en-US" altLang="en-US">
                <a:latin typeface="Courier New" panose="02070309020205020404" pitchFamily="49" charset="0"/>
              </a:rPr>
              <a:t> method1() </a:t>
            </a:r>
            <a:r>
              <a:rPr lang="en-US" altLang="en-US" b="1">
                <a:latin typeface="Courier New" panose="02070309020205020404" pitchFamily="49" charset="0"/>
              </a:rPr>
              <a:t>throws Throwable</a:t>
            </a:r>
            <a:r>
              <a:rPr lang="en-US" altLang="en-US">
                <a:latin typeface="Courier New" panose="02070309020205020404" pitchFamily="49" charset="0"/>
              </a:rPr>
              <a:t>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 	</a:t>
            </a:r>
            <a:r>
              <a:rPr lang="en-US" altLang="en-US" b="1">
                <a:latin typeface="Courier New" panose="02070309020205020404" pitchFamily="49" charset="0"/>
              </a:rPr>
              <a:t>public void</a:t>
            </a:r>
            <a:r>
              <a:rPr lang="en-US" altLang="en-US">
                <a:latin typeface="Courier New" panose="02070309020205020404" pitchFamily="49" charset="0"/>
              </a:rPr>
              <a:t> method2() </a:t>
            </a:r>
            <a:r>
              <a:rPr lang="en-US" altLang="en-US" b="1">
                <a:latin typeface="Courier New" panose="02070309020205020404" pitchFamily="49" charset="0"/>
              </a:rPr>
              <a:t>throws                   				ArithmeticException</a:t>
            </a:r>
            <a:r>
              <a:rPr lang="en-US" altLang="en-US">
                <a:latin typeface="Courier New" panose="02070309020205020404" pitchFamily="49" charset="0"/>
              </a:rPr>
              <a:t>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4933" name="AutoShape 4">
            <a:extLst>
              <a:ext uri="{FF2B5EF4-FFF2-40B4-BE49-F238E27FC236}">
                <a16:creationId xmlns:a16="http://schemas.microsoft.com/office/drawing/2014/main" id="{91B6E7DD-0B28-A698-0EA1-FBD01CBAD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819400"/>
            <a:ext cx="2133600" cy="609600"/>
          </a:xfrm>
          <a:prstGeom prst="wedgeRoundRectCallout">
            <a:avLst>
              <a:gd name="adj1" fmla="val -45981"/>
              <a:gd name="adj2" fmla="val 145051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This is compile Time Exception</a:t>
            </a:r>
          </a:p>
        </p:txBody>
      </p:sp>
      <p:sp>
        <p:nvSpPr>
          <p:cNvPr id="124934" name="AutoShape 5">
            <a:extLst>
              <a:ext uri="{FF2B5EF4-FFF2-40B4-BE49-F238E27FC236}">
                <a16:creationId xmlns:a16="http://schemas.microsoft.com/office/drawing/2014/main" id="{AE72B800-DF15-6F43-F3EC-6D7642EA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257800"/>
            <a:ext cx="2362200" cy="457200"/>
          </a:xfrm>
          <a:prstGeom prst="wedgeRoundRectCallout">
            <a:avLst>
              <a:gd name="adj1" fmla="val -61694"/>
              <a:gd name="adj2" fmla="val -19097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This is Allowed</a:t>
            </a: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3164A9F0-B98C-0FA5-3772-324F4BE28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Defined Exception</a:t>
            </a:r>
            <a:endParaRPr lang="en-IN" altLang="en-US"/>
          </a:p>
        </p:txBody>
      </p:sp>
      <p:sp>
        <p:nvSpPr>
          <p:cNvPr id="125955" name="Content Placeholder 2">
            <a:extLst>
              <a:ext uri="{FF2B5EF4-FFF2-40B4-BE49-F238E27FC236}">
                <a16:creationId xmlns:a16="http://schemas.microsoft.com/office/drawing/2014/main" id="{3E6E0EF2-7315-1876-7115-B5D1D9427A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User Defined Exception  must be a child of Throwable. </a:t>
            </a:r>
          </a:p>
          <a:p>
            <a:endParaRPr lang="en-US" altLang="en-US"/>
          </a:p>
          <a:p>
            <a:r>
              <a:rPr lang="en-US" altLang="en-US"/>
              <a:t>To write a checked exception that is automatically enforced by the Handle or Declare Rule, need to extend the Exception class. </a:t>
            </a:r>
          </a:p>
          <a:p>
            <a:endParaRPr lang="en-IN" altLang="en-US"/>
          </a:p>
          <a:p>
            <a:r>
              <a:rPr lang="en-IN" altLang="en-US"/>
              <a:t>To </a:t>
            </a:r>
            <a:r>
              <a:rPr lang="en-US" altLang="en-US"/>
              <a:t>write a runtime exception, need to extend the RuntimeException class.</a:t>
            </a:r>
          </a:p>
          <a:p>
            <a:endParaRPr lang="en-IN" altLang="en-US"/>
          </a:p>
        </p:txBody>
      </p:sp>
      <p:sp>
        <p:nvSpPr>
          <p:cNvPr id="125956" name="Slide Number Placeholder 3">
            <a:extLst>
              <a:ext uri="{FF2B5EF4-FFF2-40B4-BE49-F238E27FC236}">
                <a16:creationId xmlns:a16="http://schemas.microsoft.com/office/drawing/2014/main" id="{4F9B684F-9D39-4F11-0766-8368F20844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E9B13A-916B-1A4A-BC4B-28197B897AC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84</a:t>
            </a:fld>
            <a:endParaRPr lang="en-US" altLang="en-US" sz="14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36A09272-481E-2539-0B67-D94C3AF63FF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 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02E6DA8E-C04F-FAF0-F261-CD764D64A6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95400" y="3886200"/>
            <a:ext cx="6324600" cy="99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3600"/>
              <a:t>Functional Interfaces</a:t>
            </a:r>
            <a:endParaRPr lang="en-US" altLang="en-US" sz="2800"/>
          </a:p>
        </p:txBody>
      </p:sp>
      <p:pic>
        <p:nvPicPr>
          <p:cNvPr id="7171" name="Picture 5" descr="java8.jpg">
            <a:extLst>
              <a:ext uri="{FF2B5EF4-FFF2-40B4-BE49-F238E27FC236}">
                <a16:creationId xmlns:a16="http://schemas.microsoft.com/office/drawing/2014/main" id="{94642205-FA66-D10D-BA7E-27D80AABF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2076450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AA7DF1B7-CD56-E5DD-11C4-E21643806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Functional Programming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C5174-8450-7ABC-1DEB-1A2D8C9C0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Java always remained </a:t>
            </a:r>
            <a:r>
              <a:rPr lang="en-US" sz="2000" b="1" dirty="0"/>
              <a:t>Object first language.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Functions are not important for Java. 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cannot live on their own in Java world.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i="1" dirty="0"/>
              <a:t>JavaScript is one of the best example of an FP language.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There is no way of passing a method as argument or returning a method body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invList.forEach</a:t>
            </a:r>
            <a:r>
              <a:rPr lang="en-US" sz="2000" dirty="0">
                <a:solidFill>
                  <a:srgbClr val="FF0000"/>
                </a:solidFill>
              </a:rPr>
              <a:t>((inv)-&gt;{</a:t>
            </a:r>
            <a:r>
              <a:rPr lang="en-US" sz="2000" dirty="0" err="1">
                <a:solidFill>
                  <a:srgbClr val="FF0000"/>
                </a:solidFill>
              </a:rPr>
              <a:t>System.</a:t>
            </a:r>
            <a:r>
              <a:rPr lang="en-US" sz="2000" b="1" i="1" dirty="0" err="1">
                <a:solidFill>
                  <a:srgbClr val="FF0000"/>
                </a:solidFill>
              </a:rPr>
              <a:t>out.println</a:t>
            </a:r>
            <a:r>
              <a:rPr lang="en-US" sz="2000" b="1" i="1" dirty="0">
                <a:solidFill>
                  <a:srgbClr val="FF0000"/>
                </a:solidFill>
              </a:rPr>
              <a:t>(inv);});</a:t>
            </a:r>
            <a:endParaRPr lang="en-US" sz="200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b="1" dirty="0"/>
              <a:t>Lambda expression adds that missing link of functional programming</a:t>
            </a:r>
            <a:r>
              <a:rPr lang="en-US" sz="2000" dirty="0"/>
              <a:t> to Java.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>
            <a:extLst>
              <a:ext uri="{FF2B5EF4-FFF2-40B4-BE49-F238E27FC236}">
                <a16:creationId xmlns:a16="http://schemas.microsoft.com/office/drawing/2014/main" id="{2F2C4540-1739-1095-1414-762BE660A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Functional interface</a:t>
            </a:r>
            <a:endParaRPr lang="en-US" altLang="en-US"/>
          </a:p>
        </p:txBody>
      </p:sp>
      <p:sp>
        <p:nvSpPr>
          <p:cNvPr id="10242" name="Content Placeholder 2">
            <a:extLst>
              <a:ext uri="{FF2B5EF4-FFF2-40B4-BE49-F238E27FC236}">
                <a16:creationId xmlns:a16="http://schemas.microsoft.com/office/drawing/2014/main" id="{634C0612-3325-2D7B-7FD5-5B8D46096F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An  interface with only one method.</a:t>
            </a:r>
          </a:p>
          <a:p>
            <a:endParaRPr lang="en-US" altLang="en-US" sz="2000"/>
          </a:p>
          <a:p>
            <a:r>
              <a:rPr lang="en-US" altLang="en-US" sz="2000" b="1"/>
              <a:t>@FunctionalInterface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Used to enforce the intent of the interface  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Existing interfaces are annotated with  @FunctionalInterface</a:t>
            </a:r>
          </a:p>
          <a:p>
            <a:pPr marL="742950" lvl="2" indent="-342900">
              <a:lnSpc>
                <a:spcPct val="150000"/>
              </a:lnSpc>
            </a:pPr>
            <a:r>
              <a:rPr lang="en-US" altLang="en-US" sz="1800"/>
              <a:t>Adding another method to the interface definition, will not be functional and compilation process will fail. </a:t>
            </a:r>
          </a:p>
          <a:p>
            <a:endParaRPr lang="en-US" altLang="en-US" sz="2000"/>
          </a:p>
          <a:p>
            <a:r>
              <a:rPr lang="en-US" altLang="en-US" sz="2000" b="1" i="1"/>
              <a:t>Used with lambda expressions.</a:t>
            </a:r>
          </a:p>
          <a:p>
            <a:endParaRPr lang="en-US" altLang="en-US" sz="2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3">
            <a:extLst>
              <a:ext uri="{FF2B5EF4-FFF2-40B4-BE49-F238E27FC236}">
                <a16:creationId xmlns:a16="http://schemas.microsoft.com/office/drawing/2014/main" id="{2F50B3DF-2763-DF18-7B92-CF04627A33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Built-in Functional Interfaces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D87DAE-7D66-5ACF-B8D4-B80CC2100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Earlier Versions of Java has several functional interfaces </a:t>
            </a:r>
          </a:p>
          <a:p>
            <a:pPr lvl="1">
              <a:defRPr/>
            </a:pPr>
            <a:r>
              <a:rPr lang="en-US" sz="2000" b="1" i="1" dirty="0">
                <a:ea typeface="+mn-ea"/>
                <a:cs typeface="+mn-cs"/>
              </a:rPr>
              <a:t>Prominent because of Lambda expressions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Existing functional interfaces 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Comparator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Callable </a:t>
            </a:r>
          </a:p>
          <a:p>
            <a:pPr lvl="1">
              <a:defRPr/>
            </a:pPr>
            <a:r>
              <a:rPr lang="en-US" sz="2000" dirty="0" err="1">
                <a:ea typeface="+mn-ea"/>
                <a:cs typeface="+mn-cs"/>
              </a:rPr>
              <a:t>Runnable</a:t>
            </a:r>
            <a:endParaRPr lang="en-US" sz="2000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sz="2000" dirty="0" err="1"/>
              <a:t>ActionListener</a:t>
            </a: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Collections API has been rewritten and new Stream API uses a lot of functional interfaces.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 err="1"/>
              <a:t>java.util.function</a:t>
            </a:r>
            <a:r>
              <a:rPr lang="en-US" sz="2000" dirty="0"/>
              <a:t> </a:t>
            </a:r>
          </a:p>
          <a:p>
            <a:pPr lvl="1">
              <a:defRPr/>
            </a:pPr>
            <a:r>
              <a:rPr lang="en-US" sz="2000" i="1" dirty="0"/>
              <a:t>Consumer, Supplier, Function and Predicate.</a:t>
            </a:r>
          </a:p>
          <a:p>
            <a:pPr>
              <a:buFontTx/>
              <a:buNone/>
              <a:defRPr/>
            </a:pPr>
            <a:br>
              <a:rPr lang="en-US" sz="2000" dirty="0"/>
            </a:br>
            <a:endParaRPr lang="en-US" sz="2000" dirty="0"/>
          </a:p>
          <a:p>
            <a:pPr lvl="1">
              <a:defRPr/>
            </a:pPr>
            <a:endParaRPr lang="en-US" sz="1200" dirty="0"/>
          </a:p>
          <a:p>
            <a:pPr lvl="1">
              <a:defRPr/>
            </a:pPr>
            <a:endParaRPr lang="en-US" sz="2000" dirty="0"/>
          </a:p>
          <a:p>
            <a:pPr>
              <a:defRPr/>
            </a:pP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A5CF64-2736-D7A3-177B-03535D583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lambdas</a:t>
            </a:r>
          </a:p>
        </p:txBody>
      </p:sp>
      <p:pic>
        <p:nvPicPr>
          <p:cNvPr id="12290" name="Picture 4" descr="java8.jpg">
            <a:extLst>
              <a:ext uri="{FF2B5EF4-FFF2-40B4-BE49-F238E27FC236}">
                <a16:creationId xmlns:a16="http://schemas.microsoft.com/office/drawing/2014/main" id="{D7F3E321-5C48-A746-8642-5479E2FDE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40386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>
            <a:extLst>
              <a:ext uri="{FF2B5EF4-FFF2-40B4-BE49-F238E27FC236}">
                <a16:creationId xmlns:a16="http://schemas.microsoft.com/office/drawing/2014/main" id="{581B8D09-05A6-763B-CCE1-D8D492777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Benefits of Lambda Expression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3FA92-5BB6-92B0-7463-B638D8F24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Fewer Lines of Code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It reduced amount of code.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Sequential and Parallel Execution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Support by passing behavior in methods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Higher Efficiency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Utilizing </a:t>
            </a:r>
            <a:r>
              <a:rPr lang="en-US" sz="2000" dirty="0" err="1">
                <a:ea typeface="+mn-ea"/>
                <a:cs typeface="+mn-cs"/>
              </a:rPr>
              <a:t>Multicore</a:t>
            </a:r>
            <a:r>
              <a:rPr lang="en-US" sz="2000" dirty="0">
                <a:ea typeface="+mn-ea"/>
                <a:cs typeface="+mn-cs"/>
              </a:rPr>
              <a:t> CPU’s  using Streams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Streams API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Handling Collection of data much efficiently</a:t>
            </a:r>
          </a:p>
          <a:p>
            <a:pPr lvl="1">
              <a:lnSpc>
                <a:spcPct val="150000"/>
              </a:lnSpc>
              <a:defRPr/>
            </a:pPr>
            <a:endParaRPr lang="en-US" sz="2000" dirty="0">
              <a:ea typeface="+mn-ea"/>
              <a:cs typeface="+mn-cs"/>
            </a:endParaRPr>
          </a:p>
          <a:p>
            <a:pPr>
              <a:buFontTx/>
              <a:buNone/>
              <a:defRPr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4B5B3E5B-3D8C-ECEE-39C2-AC34E149E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Where to use Lambda expressions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57620-DD42-F13A-199D-95EC0C799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Lambda expressions can be used where there is a target type.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The following are the target type in Java </a:t>
            </a:r>
          </a:p>
          <a:p>
            <a:pPr lvl="1">
              <a:lnSpc>
                <a:spcPct val="200000"/>
              </a:lnSpc>
              <a:defRPr/>
            </a:pPr>
            <a:r>
              <a:rPr lang="en-US" sz="2000" dirty="0">
                <a:solidFill>
                  <a:srgbClr val="C00000"/>
                </a:solidFill>
                <a:ea typeface="+mn-ea"/>
                <a:cs typeface="+mn-cs"/>
              </a:rPr>
              <a:t>Variable declarations </a:t>
            </a:r>
            <a:r>
              <a:rPr lang="en-US" sz="2000" dirty="0">
                <a:ea typeface="+mn-ea"/>
                <a:cs typeface="+mn-cs"/>
              </a:rPr>
              <a:t>and assignments</a:t>
            </a:r>
          </a:p>
          <a:p>
            <a:pPr lvl="1">
              <a:lnSpc>
                <a:spcPct val="200000"/>
              </a:lnSpc>
              <a:defRPr/>
            </a:pPr>
            <a:r>
              <a:rPr lang="en-US" sz="2000" dirty="0">
                <a:solidFill>
                  <a:srgbClr val="C00000"/>
                </a:solidFill>
                <a:ea typeface="+mn-ea"/>
                <a:cs typeface="+mn-cs"/>
              </a:rPr>
              <a:t>Return</a:t>
            </a:r>
            <a:r>
              <a:rPr lang="en-US" sz="2000" dirty="0">
                <a:ea typeface="+mn-ea"/>
                <a:cs typeface="+mn-cs"/>
              </a:rPr>
              <a:t> statements</a:t>
            </a:r>
          </a:p>
          <a:p>
            <a:pPr lvl="1">
              <a:lnSpc>
                <a:spcPct val="200000"/>
              </a:lnSpc>
              <a:defRPr/>
            </a:pPr>
            <a:r>
              <a:rPr lang="en-US" sz="2000" dirty="0">
                <a:solidFill>
                  <a:srgbClr val="C00000"/>
                </a:solidFill>
                <a:ea typeface="+mn-ea"/>
                <a:cs typeface="+mn-cs"/>
              </a:rPr>
              <a:t>Method or constructor </a:t>
            </a:r>
            <a:r>
              <a:rPr lang="en-US" sz="2000" dirty="0">
                <a:ea typeface="+mn-ea"/>
                <a:cs typeface="+mn-cs"/>
              </a:rPr>
              <a:t>arguments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F90E7951-B997-BC6F-B742-41C592218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Expressions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E1C48840-051B-45CC-10DD-71BBD5528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b="1" i="1" dirty="0"/>
              <a:t>Lambda Expressions are: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chemeClr val="accent5">
                    <a:lumMod val="50000"/>
                  </a:schemeClr>
                </a:solidFill>
              </a:rPr>
              <a:t>Anonymous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It doesn’t have an explicit name like a method 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chemeClr val="accent5">
                    <a:lumMod val="50000"/>
                  </a:schemeClr>
                </a:solidFill>
              </a:rPr>
              <a:t>Function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i="1" dirty="0">
                <a:ea typeface="+mn-ea"/>
                <a:cs typeface="+mn-cs"/>
              </a:rPr>
              <a:t>Not associated with a particular class like a method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Has a list of parameters, a body, a return type, and list of exceptions that can be thrown.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chemeClr val="accent5">
                    <a:lumMod val="50000"/>
                  </a:schemeClr>
                </a:solidFill>
              </a:rPr>
              <a:t>Passed around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i="1" dirty="0">
                <a:ea typeface="+mn-ea"/>
                <a:cs typeface="+mn-cs"/>
              </a:rPr>
              <a:t>Can be passed as argument to a method or stored in a </a:t>
            </a:r>
            <a:r>
              <a:rPr lang="en-US" sz="2000" dirty="0">
                <a:ea typeface="+mn-ea"/>
                <a:cs typeface="+mn-cs"/>
              </a:rPr>
              <a:t>variable.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chemeClr val="accent5">
                    <a:lumMod val="50000"/>
                  </a:schemeClr>
                </a:solidFill>
              </a:rPr>
              <a:t>Concise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No need to write a lot of boilerplate like anonymous classes.</a:t>
            </a: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buFontTx/>
              <a:buNone/>
              <a:defRPr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59FCE58A-429C-284E-AD11-3FC22CEC9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Expressions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A0DC991D-0BD1-229E-6159-73538E94ED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 lambda expression is composed of three parts.</a:t>
            </a:r>
          </a:p>
          <a:p>
            <a:pPr lvl="1"/>
            <a:endParaRPr lang="en-US" altLang="en-US" sz="2000" b="1"/>
          </a:p>
          <a:p>
            <a:pPr lvl="1"/>
            <a:r>
              <a:rPr lang="en-US" altLang="en-US" sz="2000" b="1"/>
              <a:t>Argument List</a:t>
            </a:r>
            <a:r>
              <a:rPr lang="en-US" altLang="en-US" sz="2000"/>
              <a:t>  </a:t>
            </a:r>
            <a:r>
              <a:rPr lang="en-US" altLang="en-US" sz="2000" b="1">
                <a:solidFill>
                  <a:srgbClr val="C00000"/>
                </a:solidFill>
              </a:rPr>
              <a:t>(int x, int y)</a:t>
            </a:r>
            <a:r>
              <a:rPr lang="en-US" altLang="en-US" sz="2000"/>
              <a:t>   </a:t>
            </a:r>
          </a:p>
          <a:p>
            <a:pPr lvl="1"/>
            <a:endParaRPr lang="en-US" altLang="en-US" sz="2000" b="1"/>
          </a:p>
          <a:p>
            <a:pPr lvl="1"/>
            <a:r>
              <a:rPr lang="en-US" altLang="en-US" sz="2000" b="1"/>
              <a:t>Arrow Token</a:t>
            </a:r>
            <a:r>
              <a:rPr lang="en-US" altLang="en-US" sz="2000" b="1">
                <a:solidFill>
                  <a:srgbClr val="C00000"/>
                </a:solidFill>
              </a:rPr>
              <a:t>  -&gt;</a:t>
            </a:r>
            <a:r>
              <a:rPr lang="en-US" altLang="en-US" sz="2000"/>
              <a:t>  </a:t>
            </a:r>
            <a:r>
              <a:rPr lang="en-US" altLang="en-US" sz="2000" b="1"/>
              <a:t> </a:t>
            </a:r>
          </a:p>
          <a:p>
            <a:pPr lvl="1"/>
            <a:endParaRPr lang="en-US" altLang="en-US" sz="2000" b="1"/>
          </a:p>
          <a:p>
            <a:pPr lvl="1"/>
            <a:r>
              <a:rPr lang="en-US" altLang="en-US" sz="2000" b="1"/>
              <a:t>Body</a:t>
            </a:r>
            <a:r>
              <a:rPr lang="en-US" altLang="en-US" sz="2000"/>
              <a:t> </a:t>
            </a:r>
            <a:r>
              <a:rPr lang="en-US" altLang="en-US" sz="2000" b="1">
                <a:solidFill>
                  <a:srgbClr val="C00000"/>
                </a:solidFill>
              </a:rPr>
              <a:t>x + y</a:t>
            </a:r>
            <a:r>
              <a:rPr lang="en-US" altLang="en-US" sz="2000"/>
              <a:t> </a:t>
            </a:r>
          </a:p>
          <a:p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23F6A221-C05E-94CD-2D13-305A21B3C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– Argument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AE006-B796-AA3C-8BE7-BCEB39F80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rgbClr val="C00000"/>
                </a:solidFill>
              </a:rPr>
              <a:t>Can have zero, one or more parameters.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 </a:t>
            </a:r>
            <a:r>
              <a:rPr lang="en-US" sz="2000" b="1" dirty="0"/>
              <a:t>(</a:t>
            </a:r>
            <a:r>
              <a:rPr lang="en-US" sz="2000" b="1" dirty="0" err="1"/>
              <a:t>int</a:t>
            </a:r>
            <a:r>
              <a:rPr lang="en-US" sz="2000" b="1" dirty="0"/>
              <a:t> x, </a:t>
            </a:r>
            <a:r>
              <a:rPr lang="en-US" sz="2000" b="1" dirty="0" err="1"/>
              <a:t>int</a:t>
            </a:r>
            <a:r>
              <a:rPr lang="en-US" sz="2000" b="1" dirty="0"/>
              <a:t> y)</a:t>
            </a:r>
            <a:r>
              <a:rPr lang="en-US" sz="2000" dirty="0"/>
              <a:t> </a:t>
            </a:r>
            <a:endParaRPr lang="en-US" sz="2000" b="1" i="1" dirty="0"/>
          </a:p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Parameters can be explicitly declared or it can be inferred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 (</a:t>
            </a:r>
            <a:r>
              <a:rPr lang="en-US" sz="2000" dirty="0" err="1"/>
              <a:t>int</a:t>
            </a:r>
            <a:r>
              <a:rPr lang="en-US" sz="2000" dirty="0"/>
              <a:t> a) is same as just (a)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rgbClr val="7030A0"/>
                </a:solidFill>
              </a:rPr>
              <a:t>Parameters are separated by commas.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 (a, b) or (</a:t>
            </a:r>
            <a:r>
              <a:rPr lang="en-US" sz="2000" dirty="0" err="1"/>
              <a:t>int</a:t>
            </a:r>
            <a:r>
              <a:rPr lang="en-US" sz="2000" dirty="0"/>
              <a:t> a, </a:t>
            </a:r>
            <a:r>
              <a:rPr lang="en-US" sz="2000" dirty="0" err="1"/>
              <a:t>int</a:t>
            </a:r>
            <a:r>
              <a:rPr lang="en-US" sz="2000" dirty="0"/>
              <a:t> b) or (String a, </a:t>
            </a:r>
            <a:r>
              <a:rPr lang="en-US" sz="2000" dirty="0" err="1"/>
              <a:t>int</a:t>
            </a:r>
            <a:r>
              <a:rPr lang="en-US" sz="2000" dirty="0"/>
              <a:t> b, float c)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rgbClr val="00B050"/>
                </a:solidFill>
              </a:rPr>
              <a:t>Empty parentheses to represent an empty set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1800" dirty="0"/>
              <a:t> () -&gt; 42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It is not mandatory to use parentheses.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 a -&gt; return a*a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A03022D4-81DC-3B59-E9EF-D9AB0C0B0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Expression -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3DA57-E257-E8C8-9155-87ADFFE87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lnSpc>
                <a:spcPct val="150000"/>
              </a:lnSpc>
              <a:buFontTx/>
              <a:buChar char="•"/>
              <a:defRPr/>
            </a:pPr>
            <a:r>
              <a:rPr lang="en-US" sz="2000" dirty="0"/>
              <a:t>The body of the lambda expressions can contain zero, one or more statements.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Lambdas may return a value.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The type of the return value will be inferred by compiler.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Body is evaluated like a method body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return statement returns control to the caller of the anonymous method.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The </a:t>
            </a:r>
            <a:r>
              <a:rPr lang="en-US" sz="2000" b="1" dirty="0"/>
              <a:t>return</a:t>
            </a:r>
            <a:r>
              <a:rPr lang="en-US" sz="2000" dirty="0"/>
              <a:t> statement is not required if the lambda body is just a one-liner.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dirty="0"/>
              <a:t>If the return is an expression curly braces are required </a:t>
            </a:r>
          </a:p>
          <a:p>
            <a:pPr>
              <a:lnSpc>
                <a:spcPct val="150000"/>
              </a:lnSpc>
              <a:defRPr/>
            </a:pP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C5CF693F-FB82-D5BF-7800-9667654D6D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with Built-in Functional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2489B-61C2-238E-F949-F7C5C26AE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public static void main(String[] </a:t>
            </a:r>
            <a:r>
              <a:rPr lang="en-US" sz="2000" b="1" dirty="0" err="1">
                <a:ea typeface="+mn-ea"/>
                <a:cs typeface="+mn-cs"/>
              </a:rPr>
              <a:t>args</a:t>
            </a:r>
            <a:r>
              <a:rPr lang="en-US" sz="2000" b="1" dirty="0">
                <a:ea typeface="+mn-ea"/>
                <a:cs typeface="+mn-cs"/>
              </a:rPr>
              <a:t>) {</a:t>
            </a:r>
          </a:p>
          <a:p>
            <a:pPr lvl="2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Runnable </a:t>
            </a:r>
            <a:r>
              <a:rPr lang="en-IN" sz="2000" dirty="0">
                <a:solidFill>
                  <a:srgbClr val="6A3E3E"/>
                </a:solidFill>
                <a:latin typeface="Consolas" panose="020B0609020204030204" pitchFamily="49" charset="0"/>
              </a:rPr>
              <a:t>task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= () -&gt; {</a:t>
            </a: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FontTx/>
              <a:buNone/>
              <a:defRPr/>
            </a:pPr>
            <a:r>
              <a:rPr lang="en-IN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=0;</a:t>
            </a:r>
            <a:r>
              <a:rPr lang="en-IN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&lt;10;</a:t>
            </a:r>
            <a:r>
              <a:rPr lang="en-IN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FontTx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World"</a:t>
            </a:r>
            <a:r>
              <a:rPr lang="en-US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457200" lvl="1" indent="0">
              <a:buFontTx/>
              <a:buNone/>
              <a:defRPr/>
            </a:pPr>
            <a:endParaRPr lang="en-IN" sz="2000" dirty="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Thread </a:t>
            </a:r>
            <a:r>
              <a:rPr lang="en-US" sz="2000" dirty="0">
                <a:solidFill>
                  <a:srgbClr val="6A3E3E"/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Thread(</a:t>
            </a:r>
            <a:r>
              <a:rPr lang="en-US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task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FontTx/>
              <a:buNone/>
              <a:defRPr/>
            </a:pPr>
            <a:endParaRPr lang="en-IN" sz="2000" dirty="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6A3E3E"/>
                </a:solidFill>
                <a:latin typeface="Consolas" panose="020B0609020204030204" pitchFamily="49" charset="0"/>
              </a:rPr>
              <a:t>     </a:t>
            </a:r>
            <a:r>
              <a:rPr lang="en-IN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t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.start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}</a:t>
            </a:r>
          </a:p>
          <a:p>
            <a:pPr lvl="2">
              <a:buFontTx/>
              <a:buNone/>
              <a:defRPr/>
            </a:pP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565326AC-FBFF-866D-36FC-FA8C94934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Custom Functional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0AB70-6360-BD9E-E664-2A1B852B0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interface Converter&lt;T,R&gt;{</a:t>
            </a:r>
          </a:p>
          <a:p>
            <a:pPr lvl="2"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		public R calculate(T </a:t>
            </a:r>
            <a:r>
              <a:rPr lang="en-US" sz="2000" b="1" dirty="0" err="1">
                <a:ea typeface="+mn-ea"/>
                <a:cs typeface="+mn-cs"/>
              </a:rPr>
              <a:t>frm</a:t>
            </a:r>
            <a:r>
              <a:rPr lang="en-US" sz="2000" b="1" dirty="0">
                <a:ea typeface="+mn-ea"/>
                <a:cs typeface="+mn-cs"/>
              </a:rPr>
              <a:t>);</a:t>
            </a:r>
          </a:p>
          <a:p>
            <a:pPr lvl="2"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r>
              <a:rPr lang="fr-FR" b="1" dirty="0">
                <a:ea typeface="+mn-ea"/>
                <a:cs typeface="+mn-cs"/>
              </a:rPr>
              <a:t>public </a:t>
            </a:r>
            <a:r>
              <a:rPr lang="fr-FR" b="1" dirty="0" err="1">
                <a:ea typeface="+mn-ea"/>
                <a:cs typeface="+mn-cs"/>
              </a:rPr>
              <a:t>static</a:t>
            </a:r>
            <a:r>
              <a:rPr lang="fr-FR" b="1" dirty="0">
                <a:ea typeface="+mn-ea"/>
                <a:cs typeface="+mn-cs"/>
              </a:rPr>
              <a:t> </a:t>
            </a:r>
            <a:r>
              <a:rPr lang="fr-FR" b="1" dirty="0" err="1">
                <a:ea typeface="+mn-ea"/>
                <a:cs typeface="+mn-cs"/>
              </a:rPr>
              <a:t>void</a:t>
            </a:r>
            <a:r>
              <a:rPr lang="fr-FR" b="1" dirty="0">
                <a:ea typeface="+mn-ea"/>
                <a:cs typeface="+mn-cs"/>
              </a:rPr>
              <a:t>  </a:t>
            </a:r>
            <a:r>
              <a:rPr lang="fr-FR" b="1" dirty="0" err="1">
                <a:ea typeface="+mn-ea"/>
                <a:cs typeface="+mn-cs"/>
              </a:rPr>
              <a:t>doConvert</a:t>
            </a:r>
            <a:r>
              <a:rPr lang="fr-FR" b="1" dirty="0">
                <a:ea typeface="+mn-ea"/>
                <a:cs typeface="+mn-cs"/>
              </a:rPr>
              <a:t>(</a:t>
            </a:r>
            <a:r>
              <a:rPr lang="fr-FR" b="1" dirty="0" err="1">
                <a:ea typeface="+mn-ea"/>
                <a:cs typeface="+mn-cs"/>
              </a:rPr>
              <a:t>Converter</a:t>
            </a:r>
            <a:r>
              <a:rPr lang="fr-FR" b="1" dirty="0">
                <a:ea typeface="+mn-ea"/>
                <a:cs typeface="+mn-cs"/>
              </a:rPr>
              <a:t>&lt;</a:t>
            </a:r>
            <a:r>
              <a:rPr lang="fr-FR" b="1" dirty="0" err="1">
                <a:ea typeface="+mn-ea"/>
                <a:cs typeface="+mn-cs"/>
              </a:rPr>
              <a:t>Double,Double</a:t>
            </a:r>
            <a:r>
              <a:rPr lang="fr-FR" b="1" dirty="0">
                <a:ea typeface="+mn-ea"/>
                <a:cs typeface="+mn-cs"/>
              </a:rPr>
              <a:t>&gt; </a:t>
            </a:r>
            <a:r>
              <a:rPr lang="fr-FR" b="1" dirty="0" err="1">
                <a:ea typeface="+mn-ea"/>
                <a:cs typeface="+mn-cs"/>
              </a:rPr>
              <a:t>conv,Double</a:t>
            </a:r>
            <a:r>
              <a:rPr lang="fr-FR" b="1" dirty="0">
                <a:ea typeface="+mn-ea"/>
                <a:cs typeface="+mn-cs"/>
              </a:rPr>
              <a:t> </a:t>
            </a:r>
            <a:r>
              <a:rPr lang="fr-FR" b="1" dirty="0" err="1">
                <a:ea typeface="+mn-ea"/>
                <a:cs typeface="+mn-cs"/>
              </a:rPr>
              <a:t>frm</a:t>
            </a:r>
            <a:r>
              <a:rPr lang="fr-FR" b="1" dirty="0">
                <a:ea typeface="+mn-ea"/>
                <a:cs typeface="+mn-cs"/>
              </a:rPr>
              <a:t>){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	    </a:t>
            </a:r>
            <a:r>
              <a:rPr lang="en-US" dirty="0" err="1">
                <a:ea typeface="+mn-ea"/>
                <a:cs typeface="+mn-cs"/>
              </a:rPr>
              <a:t>System.</a:t>
            </a:r>
            <a:r>
              <a:rPr lang="en-US" b="1" i="1" dirty="0" err="1">
                <a:ea typeface="+mn-ea"/>
                <a:cs typeface="+mn-cs"/>
              </a:rPr>
              <a:t>out.println</a:t>
            </a:r>
            <a:r>
              <a:rPr lang="en-US" b="1" i="1" dirty="0">
                <a:ea typeface="+mn-ea"/>
                <a:cs typeface="+mn-cs"/>
              </a:rPr>
              <a:t>(</a:t>
            </a:r>
            <a:r>
              <a:rPr lang="en-US" b="1" i="1" dirty="0" err="1">
                <a:ea typeface="+mn-ea"/>
                <a:cs typeface="+mn-cs"/>
              </a:rPr>
              <a:t>conv.calculate</a:t>
            </a:r>
            <a:r>
              <a:rPr lang="en-US" b="1" i="1" dirty="0">
                <a:ea typeface="+mn-ea"/>
                <a:cs typeface="+mn-cs"/>
              </a:rPr>
              <a:t>(</a:t>
            </a:r>
            <a:r>
              <a:rPr lang="en-US" b="1" i="1" dirty="0" err="1">
                <a:ea typeface="+mn-ea"/>
                <a:cs typeface="+mn-cs"/>
              </a:rPr>
              <a:t>frm</a:t>
            </a:r>
            <a:r>
              <a:rPr lang="en-US" b="1" i="1" dirty="0">
                <a:ea typeface="+mn-ea"/>
                <a:cs typeface="+mn-cs"/>
              </a:rPr>
              <a:t>));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static void main(String[] </a:t>
            </a:r>
            <a:r>
              <a:rPr lang="en-US" b="1" dirty="0" err="1">
                <a:ea typeface="+mn-ea"/>
                <a:cs typeface="+mn-cs"/>
              </a:rPr>
              <a:t>args</a:t>
            </a:r>
            <a:r>
              <a:rPr lang="en-US" b="1" dirty="0">
                <a:ea typeface="+mn-ea"/>
                <a:cs typeface="+mn-cs"/>
              </a:rPr>
              <a:t>)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Converter&lt;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Double,Double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&gt; </a:t>
            </a:r>
            <a:r>
              <a:rPr lang="en-US" b="1" dirty="0" err="1">
                <a:solidFill>
                  <a:srgbClr val="7030A0"/>
                </a:solidFill>
                <a:ea typeface="+mn-ea"/>
                <a:cs typeface="+mn-cs"/>
              </a:rPr>
              <a:t>currencyConverter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= (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val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)-&gt;{return 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val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* 45.0;};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i="1" dirty="0" err="1">
                <a:ea typeface="+mn-ea"/>
                <a:cs typeface="+mn-cs"/>
              </a:rPr>
              <a:t>doConvert</a:t>
            </a:r>
            <a:r>
              <a:rPr lang="en-US" i="1" dirty="0">
                <a:ea typeface="+mn-ea"/>
                <a:cs typeface="+mn-cs"/>
              </a:rPr>
              <a:t>(</a:t>
            </a:r>
            <a:r>
              <a:rPr lang="en-US" b="1" i="1" dirty="0" err="1">
                <a:solidFill>
                  <a:srgbClr val="7030A0"/>
                </a:solidFill>
                <a:ea typeface="+mn-ea"/>
                <a:cs typeface="+mn-cs"/>
              </a:rPr>
              <a:t>currencyConverter</a:t>
            </a:r>
            <a:r>
              <a:rPr lang="en-US" i="1" dirty="0">
                <a:ea typeface="+mn-ea"/>
                <a:cs typeface="+mn-cs"/>
              </a:rPr>
              <a:t>, 100.00);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   Converter&lt;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Double,Double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&gt;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a typeface="+mn-ea"/>
                <a:cs typeface="+mn-cs"/>
              </a:rPr>
              <a:t>farenToCel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a typeface="+mn-ea"/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= (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faren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)-&gt;{return (faren-32) * 5/9;};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i="1" dirty="0">
                <a:ea typeface="+mn-ea"/>
                <a:cs typeface="+mn-cs"/>
              </a:rPr>
              <a:t>          </a:t>
            </a:r>
            <a:r>
              <a:rPr lang="en-US" i="1" dirty="0" err="1">
                <a:ea typeface="+mn-ea"/>
                <a:cs typeface="+mn-cs"/>
              </a:rPr>
              <a:t>doConvert</a:t>
            </a:r>
            <a:r>
              <a:rPr lang="en-US" i="1" dirty="0">
                <a:ea typeface="+mn-ea"/>
                <a:cs typeface="+mn-cs"/>
              </a:rPr>
              <a:t>(</a:t>
            </a:r>
            <a:r>
              <a:rPr lang="en-US" b="1" i="1" dirty="0" err="1">
                <a:solidFill>
                  <a:schemeClr val="accent6">
                    <a:lumMod val="50000"/>
                  </a:schemeClr>
                </a:solidFill>
                <a:ea typeface="+mn-ea"/>
                <a:cs typeface="+mn-cs"/>
              </a:rPr>
              <a:t>farenToCel</a:t>
            </a:r>
            <a:r>
              <a:rPr lang="en-US" i="1" dirty="0">
                <a:ea typeface="+mn-ea"/>
                <a:cs typeface="+mn-cs"/>
              </a:rPr>
              <a:t>, 84.00);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D0D9A3-6798-517D-14E6-F8FA773F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Built-in Functional Interfaces</a:t>
            </a:r>
          </a:p>
        </p:txBody>
      </p:sp>
      <p:sp>
        <p:nvSpPr>
          <p:cNvPr id="21506" name="Text Placeholder 4">
            <a:extLst>
              <a:ext uri="{FF2B5EF4-FFF2-40B4-BE49-F238E27FC236}">
                <a16:creationId xmlns:a16="http://schemas.microsoft.com/office/drawing/2014/main" id="{20E644D1-636E-F0B7-7796-800999474A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4947DBF7-71C1-D20B-B51C-61E46B5FF0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Need for Built In Functional Interfaces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727D73C9-9585-D9C2-E59B-A8AF534D73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Lambda expressions must correspond to one functional interface.</a:t>
            </a:r>
          </a:p>
          <a:p>
            <a:endParaRPr lang="en-US" altLang="en-US" sz="2000"/>
          </a:p>
          <a:p>
            <a:r>
              <a:rPr lang="en-US" altLang="en-US" sz="2000"/>
              <a:t>Java 8  also has new functional interfaces covering the most common scenarios usages.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 b="1"/>
              <a:t>Each developer need not define</a:t>
            </a:r>
            <a:r>
              <a:rPr lang="en-US" altLang="en-US" sz="2000"/>
              <a:t> functional interface of types which are already in this package.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They are </a:t>
            </a:r>
            <a:r>
              <a:rPr lang="en-US" altLang="en-US" sz="2000" b="1"/>
              <a:t>Defined with Generic types</a:t>
            </a:r>
            <a:r>
              <a:rPr lang="en-US" altLang="en-US" sz="2000"/>
              <a:t> and are re-usable for specific use cases. </a:t>
            </a:r>
          </a:p>
          <a:p>
            <a:pPr lvl="1"/>
            <a:endParaRPr lang="en-US" altLang="en-US" sz="2000"/>
          </a:p>
          <a:p>
            <a:pPr lvl="1"/>
            <a:endParaRPr lang="en-US" altLang="en-US" sz="2000"/>
          </a:p>
          <a:p>
            <a:endParaRPr lang="en-US" altLang="en-US" sz="3600"/>
          </a:p>
          <a:p>
            <a:endParaRPr lang="en-US" altLang="en-US" sz="2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3">
            <a:extLst>
              <a:ext uri="{FF2B5EF4-FFF2-40B4-BE49-F238E27FC236}">
                <a16:creationId xmlns:a16="http://schemas.microsoft.com/office/drawing/2014/main" id="{2578BFD0-AFAB-EC91-E97C-7B70ABD2D1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Built-in Functional Interfaces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CDDB64-34B1-F0EA-89DF-43D44AF0A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Located inside the </a:t>
            </a:r>
            <a:r>
              <a:rPr lang="en-US" sz="2000" b="1" u="sng" dirty="0" err="1">
                <a:solidFill>
                  <a:srgbClr val="C00000"/>
                </a:solidFill>
              </a:rPr>
              <a:t>java.util.function</a:t>
            </a:r>
            <a:r>
              <a:rPr lang="en-US" sz="2000" u="sng" dirty="0">
                <a:solidFill>
                  <a:srgbClr val="C00000"/>
                </a:solidFill>
              </a:rPr>
              <a:t>  </a:t>
            </a:r>
            <a:r>
              <a:rPr lang="en-US" sz="2000" dirty="0"/>
              <a:t> package.</a:t>
            </a:r>
          </a:p>
          <a:p>
            <a:pPr>
              <a:defRPr/>
            </a:pPr>
            <a:endParaRPr lang="en-US" sz="2000" b="1" dirty="0"/>
          </a:p>
          <a:p>
            <a:pPr lvl="1">
              <a:lnSpc>
                <a:spcPct val="150000"/>
              </a:lnSpc>
              <a:defRPr/>
            </a:pPr>
            <a:r>
              <a:rPr lang="en-US" sz="2000" b="1" dirty="0">
                <a:ea typeface="+mn-ea"/>
                <a:cs typeface="+mn-cs"/>
              </a:rPr>
              <a:t>Predicate&lt;T&gt;</a:t>
            </a:r>
            <a:endParaRPr lang="en-US" sz="2000" dirty="0">
              <a:ea typeface="+mn-ea"/>
              <a:cs typeface="+mn-cs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sz="2000" b="1" dirty="0">
                <a:ea typeface="+mn-ea"/>
                <a:cs typeface="+mn-cs"/>
              </a:rPr>
              <a:t>Consumer&lt;T&gt;</a:t>
            </a:r>
            <a:endParaRPr lang="en-US" sz="2000" dirty="0">
              <a:ea typeface="+mn-ea"/>
              <a:cs typeface="+mn-cs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sz="2000" b="1" dirty="0">
                <a:ea typeface="+mn-ea"/>
                <a:cs typeface="+mn-cs"/>
              </a:rPr>
              <a:t>Function&lt;T, R&gt;</a:t>
            </a:r>
            <a:endParaRPr lang="en-US" sz="2000" dirty="0">
              <a:ea typeface="+mn-ea"/>
              <a:cs typeface="+mn-cs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sz="2000" b="1" dirty="0">
                <a:ea typeface="+mn-ea"/>
                <a:cs typeface="+mn-cs"/>
              </a:rPr>
              <a:t>Supplier&lt;T&gt;</a:t>
            </a:r>
            <a:endParaRPr lang="en-US" sz="2000" dirty="0">
              <a:ea typeface="+mn-ea"/>
              <a:cs typeface="+mn-cs"/>
            </a:endParaRP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Where T and R represent generic types </a:t>
            </a:r>
          </a:p>
          <a:p>
            <a:pPr lvl="1">
              <a:defRPr/>
            </a:pPr>
            <a:r>
              <a:rPr lang="en-US" sz="2000" b="1" dirty="0">
                <a:solidFill>
                  <a:srgbClr val="FF0000"/>
                </a:solidFill>
                <a:ea typeface="+mn-ea"/>
                <a:cs typeface="+mn-cs"/>
              </a:rPr>
              <a:t>T</a:t>
            </a:r>
            <a:r>
              <a:rPr lang="en-US" sz="2000" dirty="0">
                <a:ea typeface="+mn-ea"/>
                <a:cs typeface="+mn-cs"/>
              </a:rPr>
              <a:t> represents a parameter type </a:t>
            </a:r>
          </a:p>
          <a:p>
            <a:pPr lvl="1">
              <a:defRPr/>
            </a:pPr>
            <a:r>
              <a:rPr lang="en-US" sz="2000" b="1" dirty="0">
                <a:solidFill>
                  <a:srgbClr val="7030A0"/>
                </a:solidFill>
                <a:ea typeface="+mn-ea"/>
                <a:cs typeface="+mn-cs"/>
              </a:rPr>
              <a:t>R</a:t>
            </a:r>
            <a:r>
              <a:rPr lang="en-US" sz="2000" dirty="0">
                <a:ea typeface="+mn-ea"/>
                <a:cs typeface="+mn-cs"/>
              </a:rPr>
              <a:t> the return type.</a:t>
            </a:r>
          </a:p>
          <a:p>
            <a:pPr lvl="1">
              <a:defRPr/>
            </a:pP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664C7004-8607-03FE-D48E-28686DC56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Predicate&lt;T&gt;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B4E63FC2-5910-8064-A83A-E026F47446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1800"/>
              <a:t>A predicate is a function that receives a value and evaluates it.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It has a method test(T obj) to  evaluate and return a Boolean value.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It also has some default Methods</a:t>
            </a:r>
          </a:p>
          <a:p>
            <a:pPr>
              <a:buFontTx/>
              <a:buNone/>
            </a:pPr>
            <a:endParaRPr lang="en-US" altLang="en-US" sz="2000"/>
          </a:p>
          <a:p>
            <a:pPr>
              <a:buFontTx/>
              <a:buNone/>
            </a:pPr>
            <a:endParaRPr lang="en-US" altLang="en-US" sz="2000"/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000"/>
              <a:t>@FunctionalInterface</a:t>
            </a:r>
            <a:br>
              <a:rPr lang="en-US" altLang="en-US" sz="2000"/>
            </a:br>
            <a:r>
              <a:rPr lang="en-US" altLang="en-US" sz="2000"/>
              <a:t>public interface Predicate&lt;T&gt; {</a:t>
            </a:r>
            <a:br>
              <a:rPr lang="en-US" altLang="en-US" sz="2000"/>
            </a:br>
            <a:r>
              <a:rPr lang="en-US" altLang="en-US" sz="2000"/>
              <a:t>    </a:t>
            </a:r>
            <a:r>
              <a:rPr lang="en-US" altLang="en-US" sz="2000" b="1">
                <a:solidFill>
                  <a:srgbClr val="C00000"/>
                </a:solidFill>
              </a:rPr>
              <a:t>boolean test</a:t>
            </a:r>
            <a:r>
              <a:rPr lang="en-US" altLang="en-US" sz="2000"/>
              <a:t>(T t);</a:t>
            </a:r>
            <a:br>
              <a:rPr lang="en-US" altLang="en-US" sz="2000"/>
            </a:br>
            <a:r>
              <a:rPr lang="en-US" altLang="en-US" sz="2000"/>
              <a:t>    // Other default and static methods</a:t>
            </a:r>
            <a:br>
              <a:rPr lang="en-US" altLang="en-US" sz="2000"/>
            </a:br>
            <a:r>
              <a:rPr lang="en-US" altLang="en-US" sz="2000"/>
              <a:t>}</a:t>
            </a:r>
          </a:p>
          <a:p>
            <a:pPr>
              <a:buFontTx/>
              <a:buNone/>
            </a:pPr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75758141-F95A-9D52-19FA-CE5D03D4FA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Predicate&lt;T&gt;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F8D1A-A609-E226-5323-6743B335A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b="1" dirty="0">
                <a:solidFill>
                  <a:srgbClr val="C00000"/>
                </a:solidFill>
              </a:rPr>
              <a:t>Using Anonymous Class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buFontTx/>
              <a:buNone/>
              <a:defRPr/>
            </a:pPr>
            <a:r>
              <a:rPr lang="en-US" sz="2000" dirty="0"/>
              <a:t>Predicate&lt;String&gt; </a:t>
            </a:r>
            <a:r>
              <a:rPr lang="en-US" sz="2000" dirty="0" err="1"/>
              <a:t>startsWithA</a:t>
            </a:r>
            <a:r>
              <a:rPr lang="en-US" sz="2000" dirty="0"/>
              <a:t> = </a:t>
            </a:r>
            <a:r>
              <a:rPr lang="en-US" sz="2000" b="1" dirty="0"/>
              <a:t>new Predicate&lt;String&gt;()</a:t>
            </a:r>
            <a:r>
              <a:rPr lang="en-US" sz="2000" dirty="0"/>
              <a:t> {</a:t>
            </a:r>
            <a:br>
              <a:rPr lang="en-US" sz="2000" dirty="0"/>
            </a:br>
            <a:endParaRPr lang="en-US" sz="2000" dirty="0"/>
          </a:p>
          <a:p>
            <a:pPr>
              <a:buFontTx/>
              <a:buNone/>
              <a:defRPr/>
            </a:pPr>
            <a:r>
              <a:rPr lang="en-US" sz="2000" dirty="0"/>
              <a:t>    public </a:t>
            </a:r>
            <a:r>
              <a:rPr lang="en-US" sz="2000" dirty="0" err="1"/>
              <a:t>boolean</a:t>
            </a:r>
            <a:r>
              <a:rPr lang="en-US" sz="2000" dirty="0"/>
              <a:t> </a:t>
            </a:r>
            <a:r>
              <a:rPr lang="en-US" sz="2000" b="1" dirty="0">
                <a:solidFill>
                  <a:srgbClr val="FF0000"/>
                </a:solidFill>
              </a:rPr>
              <a:t>test</a:t>
            </a:r>
            <a:r>
              <a:rPr lang="en-US" sz="2000" dirty="0"/>
              <a:t>(String t) {</a:t>
            </a:r>
            <a:br>
              <a:rPr lang="en-US" sz="2000" dirty="0"/>
            </a:br>
            <a:r>
              <a:rPr lang="en-US" sz="2000" dirty="0"/>
              <a:t>        return </a:t>
            </a:r>
            <a:r>
              <a:rPr lang="en-US" sz="2000" dirty="0" err="1"/>
              <a:t>t.startsWith</a:t>
            </a:r>
            <a:r>
              <a:rPr lang="en-US" sz="2000" dirty="0"/>
              <a:t>("A");</a:t>
            </a:r>
            <a:br>
              <a:rPr lang="en-US" sz="2000" dirty="0"/>
            </a:br>
            <a:r>
              <a:rPr lang="en-US" sz="2000" dirty="0"/>
              <a:t>    } };</a:t>
            </a:r>
            <a:br>
              <a:rPr lang="en-US" sz="2000" dirty="0"/>
            </a:br>
            <a:endParaRPr lang="en-US" sz="2000" dirty="0"/>
          </a:p>
          <a:p>
            <a:pPr>
              <a:buFontTx/>
              <a:buNone/>
              <a:defRPr/>
            </a:pPr>
            <a:r>
              <a:rPr lang="en-US" sz="2000" b="1" dirty="0" err="1"/>
              <a:t>boolean</a:t>
            </a:r>
            <a:r>
              <a:rPr lang="en-US" sz="2000" b="1" dirty="0"/>
              <a:t> result = </a:t>
            </a:r>
            <a:r>
              <a:rPr lang="en-US" sz="2000" b="1" dirty="0" err="1"/>
              <a:t>startsWithA.</a:t>
            </a:r>
            <a:r>
              <a:rPr lang="en-US" sz="2000" b="1" dirty="0" err="1">
                <a:solidFill>
                  <a:srgbClr val="FF0000"/>
                </a:solidFill>
              </a:rPr>
              <a:t>test</a:t>
            </a:r>
            <a:r>
              <a:rPr lang="en-US" sz="2000" b="1" dirty="0"/>
              <a:t>("</a:t>
            </a:r>
            <a:r>
              <a:rPr lang="en-US" sz="2000" b="1" dirty="0" err="1"/>
              <a:t>Anand</a:t>
            </a:r>
            <a:r>
              <a:rPr lang="en-US" sz="2000" b="1" dirty="0"/>
              <a:t>");</a:t>
            </a:r>
          </a:p>
          <a:p>
            <a:pPr>
              <a:buFontTx/>
              <a:buNone/>
              <a:defRPr/>
            </a:pPr>
            <a:endParaRPr lang="en-US" sz="2000" b="1" dirty="0"/>
          </a:p>
          <a:p>
            <a:pPr>
              <a:defRPr/>
            </a:pPr>
            <a:r>
              <a:rPr lang="en-US" sz="2000" b="1" dirty="0">
                <a:solidFill>
                  <a:srgbClr val="C00000"/>
                </a:solidFill>
              </a:rPr>
              <a:t>Using Lambda Expression </a:t>
            </a:r>
          </a:p>
          <a:p>
            <a:pPr lvl="1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ea typeface="+mn-ea"/>
                <a:cs typeface="+mn-cs"/>
              </a:rPr>
              <a:t> 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a typeface="+mn-ea"/>
                <a:cs typeface="+mn-cs"/>
              </a:rPr>
              <a:t>Predicate&lt;String&gt;</a:t>
            </a:r>
            <a:r>
              <a:rPr lang="en-US" sz="1800" dirty="0">
                <a:ea typeface="+mn-ea"/>
                <a:cs typeface="+mn-cs"/>
              </a:rPr>
              <a:t> </a:t>
            </a:r>
            <a:r>
              <a:rPr lang="en-US" sz="1800" dirty="0" err="1">
                <a:ea typeface="+mn-ea"/>
                <a:cs typeface="+mn-cs"/>
              </a:rPr>
              <a:t>testWithLambda</a:t>
            </a:r>
            <a:r>
              <a:rPr lang="en-US" sz="1800" dirty="0">
                <a:ea typeface="+mn-ea"/>
                <a:cs typeface="+mn-cs"/>
              </a:rPr>
              <a:t> = </a:t>
            </a:r>
            <a:r>
              <a:rPr lang="en-US" sz="1800" b="1" u="sng" dirty="0">
                <a:solidFill>
                  <a:srgbClr val="7030A0"/>
                </a:solidFill>
                <a:ea typeface="+mn-ea"/>
                <a:cs typeface="+mn-cs"/>
              </a:rPr>
              <a:t>(name)-&gt;</a:t>
            </a:r>
            <a:r>
              <a:rPr lang="en-US" sz="1800" b="1" u="sng" dirty="0" err="1">
                <a:solidFill>
                  <a:srgbClr val="7030A0"/>
                </a:solidFill>
                <a:ea typeface="+mn-ea"/>
                <a:cs typeface="+mn-cs"/>
              </a:rPr>
              <a:t>name.startsWith</a:t>
            </a:r>
            <a:r>
              <a:rPr lang="en-US" sz="1800" b="1" u="sng" dirty="0">
                <a:solidFill>
                  <a:srgbClr val="7030A0"/>
                </a:solidFill>
                <a:ea typeface="+mn-ea"/>
                <a:cs typeface="+mn-cs"/>
              </a:rPr>
              <a:t>("A")</a:t>
            </a:r>
            <a:r>
              <a:rPr lang="en-US" sz="1800" u="sng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 </a:t>
            </a:r>
            <a:r>
              <a:rPr lang="en-US" sz="2000" dirty="0">
                <a:ea typeface="+mn-ea"/>
                <a:cs typeface="+mn-cs"/>
              </a:rPr>
              <a:t>              </a:t>
            </a:r>
            <a:r>
              <a:rPr lang="en-US" sz="2000" u="sng" dirty="0" err="1">
                <a:ea typeface="+mn-ea"/>
                <a:cs typeface="+mn-cs"/>
              </a:rPr>
              <a:t>System.</a:t>
            </a:r>
            <a:r>
              <a:rPr lang="en-US" sz="2000" b="1" i="1" u="sng" dirty="0" err="1">
                <a:ea typeface="+mn-ea"/>
                <a:cs typeface="+mn-cs"/>
              </a:rPr>
              <a:t>out.println</a:t>
            </a:r>
            <a:r>
              <a:rPr lang="en-US" sz="2000" b="1" i="1" u="sng" dirty="0">
                <a:ea typeface="+mn-ea"/>
                <a:cs typeface="+mn-cs"/>
              </a:rPr>
              <a:t>(</a:t>
            </a:r>
            <a:r>
              <a:rPr lang="en-US" sz="2000" b="1" i="1" u="sng" dirty="0" err="1">
                <a:ea typeface="+mn-ea"/>
                <a:cs typeface="+mn-cs"/>
              </a:rPr>
              <a:t>testWithLambda.</a:t>
            </a:r>
            <a:r>
              <a:rPr lang="en-US" sz="2000" b="1" i="1" u="sng" dirty="0" err="1">
                <a:solidFill>
                  <a:srgbClr val="FF0000"/>
                </a:solidFill>
                <a:ea typeface="+mn-ea"/>
                <a:cs typeface="+mn-cs"/>
              </a:rPr>
              <a:t>test</a:t>
            </a:r>
            <a:r>
              <a:rPr lang="en-US" sz="2000" b="1" i="1" u="sng" dirty="0">
                <a:ea typeface="+mn-ea"/>
                <a:cs typeface="+mn-cs"/>
              </a:rPr>
              <a:t>("</a:t>
            </a:r>
            <a:r>
              <a:rPr lang="en-US" sz="2000" b="1" i="1" u="sng" dirty="0" err="1">
                <a:ea typeface="+mn-ea"/>
                <a:cs typeface="+mn-cs"/>
              </a:rPr>
              <a:t>Anand</a:t>
            </a:r>
            <a:r>
              <a:rPr lang="en-US" sz="2000" b="1" i="1" u="sng" dirty="0">
                <a:ea typeface="+mn-ea"/>
                <a:cs typeface="+mn-cs"/>
              </a:rPr>
              <a:t>"));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C6B9C06E-7F87-97F2-D621-A6045849F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Predicate&lt;T&gt;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CFF5CE2C-3151-EB23-539E-F75E1171B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endParaRPr lang="en-US" b="1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void </a:t>
            </a:r>
            <a:r>
              <a:rPr lang="en-US" b="1" dirty="0" err="1">
                <a:ea typeface="+mn-ea"/>
                <a:cs typeface="+mn-cs"/>
              </a:rPr>
              <a:t>usingPredicate</a:t>
            </a:r>
            <a:r>
              <a:rPr lang="en-US" b="1" dirty="0">
                <a:ea typeface="+mn-ea"/>
                <a:cs typeface="+mn-cs"/>
              </a:rPr>
              <a:t>(){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List&lt;String&gt; countries =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          </a:t>
            </a:r>
            <a:r>
              <a:rPr lang="en-US" dirty="0" err="1">
                <a:ea typeface="+mn-ea"/>
                <a:cs typeface="+mn-cs"/>
              </a:rPr>
              <a:t>Arrays.</a:t>
            </a:r>
            <a:r>
              <a:rPr lang="en-US" i="1" dirty="0" err="1">
                <a:ea typeface="+mn-ea"/>
                <a:cs typeface="+mn-cs"/>
              </a:rPr>
              <a:t>asList</a:t>
            </a:r>
            <a:r>
              <a:rPr lang="en-US" i="1" dirty="0">
                <a:ea typeface="+mn-ea"/>
                <a:cs typeface="+mn-cs"/>
              </a:rPr>
              <a:t>("</a:t>
            </a:r>
            <a:r>
              <a:rPr lang="en-US" i="1" dirty="0" err="1">
                <a:ea typeface="+mn-ea"/>
                <a:cs typeface="+mn-cs"/>
              </a:rPr>
              <a:t>India","Nepal","srilanka","SouthAfrica","Indonesia</a:t>
            </a:r>
            <a:r>
              <a:rPr lang="en-US" i="1" dirty="0">
                <a:ea typeface="+mn-ea"/>
                <a:cs typeface="+mn-cs"/>
              </a:rPr>
              <a:t>");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Predicate&lt;String&gt; 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pref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= </a:t>
            </a:r>
            <a:r>
              <a:rPr lang="en-US" b="1" u="sng" dirty="0">
                <a:solidFill>
                  <a:srgbClr val="FF0000"/>
                </a:solidFill>
                <a:ea typeface="+mn-ea"/>
                <a:cs typeface="+mn-cs"/>
              </a:rPr>
              <a:t>(country)-&gt;</a:t>
            </a:r>
            <a:r>
              <a:rPr lang="en-US" b="1" u="sng" dirty="0" err="1">
                <a:solidFill>
                  <a:srgbClr val="FF0000"/>
                </a:solidFill>
                <a:ea typeface="+mn-ea"/>
                <a:cs typeface="+mn-cs"/>
              </a:rPr>
              <a:t>country.startsWith</a:t>
            </a:r>
            <a:r>
              <a:rPr lang="en-US" b="1" u="sng" dirty="0">
                <a:solidFill>
                  <a:srgbClr val="FF0000"/>
                </a:solidFill>
                <a:ea typeface="+mn-ea"/>
                <a:cs typeface="+mn-cs"/>
              </a:rPr>
              <a:t>("I");</a:t>
            </a:r>
          </a:p>
          <a:p>
            <a:pPr lvl="1">
              <a:buFontTx/>
              <a:buNone/>
              <a:defRPr/>
            </a:pP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countries.forEach</a:t>
            </a:r>
            <a:r>
              <a:rPr lang="en-US" dirty="0">
                <a:ea typeface="+mn-ea"/>
                <a:cs typeface="+mn-cs"/>
              </a:rPr>
              <a:t>(</a:t>
            </a:r>
            <a:r>
              <a:rPr lang="en-US" u="sng" dirty="0">
                <a:ea typeface="+mn-ea"/>
                <a:cs typeface="+mn-cs"/>
              </a:rPr>
              <a:t>(</a:t>
            </a:r>
            <a:r>
              <a:rPr lang="en-US" u="sng" dirty="0" err="1">
                <a:ea typeface="+mn-ea"/>
                <a:cs typeface="+mn-cs"/>
              </a:rPr>
              <a:t>eachCountry</a:t>
            </a:r>
            <a:r>
              <a:rPr lang="en-US" u="sng" dirty="0">
                <a:ea typeface="+mn-ea"/>
                <a:cs typeface="+mn-cs"/>
              </a:rPr>
              <a:t>)-&gt;{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        </a:t>
            </a:r>
            <a:r>
              <a:rPr lang="en-US" b="1" dirty="0">
                <a:ea typeface="+mn-ea"/>
                <a:cs typeface="+mn-cs"/>
              </a:rPr>
              <a:t>if(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pref.test</a:t>
            </a:r>
            <a:r>
              <a:rPr lang="en-US" b="1" dirty="0">
                <a:ea typeface="+mn-ea"/>
                <a:cs typeface="+mn-cs"/>
              </a:rPr>
              <a:t>(</a:t>
            </a:r>
            <a:r>
              <a:rPr lang="en-US" b="1" dirty="0" err="1">
                <a:ea typeface="+mn-ea"/>
                <a:cs typeface="+mn-cs"/>
              </a:rPr>
              <a:t>eachCountry</a:t>
            </a:r>
            <a:r>
              <a:rPr lang="en-US" b="1" dirty="0">
                <a:ea typeface="+mn-ea"/>
                <a:cs typeface="+mn-cs"/>
              </a:rPr>
              <a:t>))  </a:t>
            </a:r>
            <a:r>
              <a:rPr lang="en-US" dirty="0">
                <a:ea typeface="+mn-ea"/>
                <a:cs typeface="+mn-cs"/>
              </a:rPr>
              <a:t> {</a:t>
            </a:r>
          </a:p>
          <a:p>
            <a:pPr lvl="2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</a:t>
            </a:r>
            <a:r>
              <a:rPr lang="en-US" u="sng" dirty="0" err="1">
                <a:ea typeface="+mn-ea"/>
                <a:cs typeface="+mn-cs"/>
              </a:rPr>
              <a:t>System.</a:t>
            </a:r>
            <a:r>
              <a:rPr lang="en-US" b="1" i="1" u="sng" dirty="0" err="1">
                <a:ea typeface="+mn-ea"/>
                <a:cs typeface="+mn-cs"/>
              </a:rPr>
              <a:t>out.println</a:t>
            </a:r>
            <a:r>
              <a:rPr lang="en-US" b="1" i="1" u="sng" dirty="0">
                <a:ea typeface="+mn-ea"/>
                <a:cs typeface="+mn-cs"/>
              </a:rPr>
              <a:t>(</a:t>
            </a:r>
            <a:r>
              <a:rPr lang="en-US" b="1" i="1" u="sng" dirty="0" err="1">
                <a:ea typeface="+mn-ea"/>
                <a:cs typeface="+mn-cs"/>
              </a:rPr>
              <a:t>eachCountry</a:t>
            </a:r>
            <a:r>
              <a:rPr lang="en-US" b="1" i="1" u="sng" dirty="0">
                <a:ea typeface="+mn-ea"/>
                <a:cs typeface="+mn-cs"/>
              </a:rPr>
              <a:t>);</a:t>
            </a:r>
          </a:p>
          <a:p>
            <a:pPr lvl="2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}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}); 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 </a:t>
            </a:r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8671DC52-93C4-93B6-AFAF-38D2528595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981200"/>
            <a:ext cx="6934200" cy="3200400"/>
          </a:xfrm>
        </p:spPr>
        <p:txBody>
          <a:bodyPr/>
          <a:lstStyle/>
          <a:p>
            <a:pPr eaLnBrk="1" hangingPunct="1"/>
            <a:br>
              <a:rPr lang="en-US" altLang="en-US" sz="3800" b="1"/>
            </a:br>
            <a:br>
              <a:rPr lang="en-US" altLang="en-US" sz="3800" b="1"/>
            </a:br>
            <a:r>
              <a:rPr lang="en-US" altLang="en-US" sz="3800" b="1"/>
              <a:t> </a:t>
            </a:r>
            <a:r>
              <a:rPr lang="en-US" altLang="en-US" sz="3600" b="1"/>
              <a:t>Files &amp; IO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08D36BC2-837E-289A-6E41-F7C0F7D38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Overview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F5170DDE-49A4-DED6-4C13-E91454E95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At its lowest level, all Java I/O involves a stream of bytes either entering or leaving memory</a:t>
            </a:r>
          </a:p>
          <a:p>
            <a:pPr eaLnBrk="1" hangingPunct="1"/>
            <a:endParaRPr lang="en-US" altLang="ko-KR" sz="1800">
              <a:solidFill>
                <a:srgbClr val="000000"/>
              </a:solidFill>
              <a:ea typeface="Batang" panose="02030600000101010101" pitchFamily="18" charset="-127"/>
            </a:endParaRPr>
          </a:p>
          <a:p>
            <a:pPr eaLnBrk="1" hangingPunct="1"/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Packaged classes exist to  make it easy for a program to read and write larger units of data.</a:t>
            </a:r>
          </a:p>
          <a:p>
            <a:pPr eaLnBrk="1" hangingPunct="1"/>
            <a:endParaRPr lang="en-US" altLang="ko-KR" sz="1800">
              <a:solidFill>
                <a:srgbClr val="000000"/>
              </a:solidFill>
              <a:ea typeface="Batang" panose="02030600000101010101" pitchFamily="18" charset="-127"/>
            </a:endParaRPr>
          </a:p>
          <a:p>
            <a:pPr eaLnBrk="1" hangingPunct="1"/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Low-level stream class object are used to  handle byte I/O</a:t>
            </a:r>
          </a:p>
          <a:p>
            <a:pPr eaLnBrk="1" hangingPunct="1">
              <a:buFontTx/>
              <a:buNone/>
            </a:pPr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 </a:t>
            </a:r>
          </a:p>
          <a:p>
            <a:pPr eaLnBrk="1" hangingPunct="1"/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High-level stream class object will allow the program to read and write primitive data values and  objects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E586AEDE-26D0-FA96-F921-6282E6485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5763"/>
            <a:ext cx="8229600" cy="223837"/>
          </a:xfrm>
        </p:spPr>
        <p:txBody>
          <a:bodyPr/>
          <a:lstStyle/>
          <a:p>
            <a:pPr eaLnBrk="1" hangingPunct="1"/>
            <a:r>
              <a:rPr lang="en-US" altLang="en-US" sz="2400" b="1"/>
              <a:t>File Classes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1CAF1838-663B-59BB-7E45-BBEE2D490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696200" cy="5638800"/>
          </a:xfrm>
        </p:spPr>
        <p:txBody>
          <a:bodyPr/>
          <a:lstStyle/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Java views the data in files as a stream of bytes. </a:t>
            </a:r>
          </a:p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A stream of bytes from which data are read is called an </a:t>
            </a:r>
            <a:r>
              <a:rPr lang="en-US" altLang="en-US" sz="1800" b="1" i="1">
                <a:cs typeface="Times New Roman" panose="02020603050405020304" pitchFamily="18" charset="0"/>
              </a:rPr>
              <a:t>input stream.</a:t>
            </a:r>
            <a:r>
              <a:rPr lang="en-US" altLang="en-US" sz="1800">
                <a:cs typeface="Times New Roman" panose="02020603050405020304" pitchFamily="18" charset="0"/>
              </a:rPr>
              <a:t> </a:t>
            </a:r>
          </a:p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A stream of bytes to which data are written is called an </a:t>
            </a:r>
            <a:r>
              <a:rPr lang="en-US" altLang="en-US" sz="1800" b="1" i="1">
                <a:cs typeface="Times New Roman" panose="02020603050405020304" pitchFamily="18" charset="0"/>
              </a:rPr>
              <a:t>output stream</a:t>
            </a:r>
            <a:r>
              <a:rPr lang="en-US" altLang="en-US" sz="1800">
                <a:cs typeface="Times New Roman" panose="02020603050405020304" pitchFamily="18" charset="0"/>
              </a:rPr>
              <a:t>. </a:t>
            </a:r>
          </a:p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Java provides classes for connecting to and manipulating data in a stream. </a:t>
            </a:r>
          </a:p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The classes are defined in the package </a:t>
            </a:r>
            <a:r>
              <a:rPr lang="en-US" altLang="en-US" sz="1800">
                <a:latin typeface="Century Gothic" panose="020B0502020202020204" pitchFamily="34" charset="0"/>
                <a:cs typeface="Times New Roman" panose="02020603050405020304" pitchFamily="18" charset="0"/>
              </a:rPr>
              <a:t>java.io</a:t>
            </a:r>
            <a:r>
              <a:rPr lang="en-US" altLang="en-US" sz="1800">
                <a:cs typeface="Times New Roman" panose="02020603050405020304" pitchFamily="18" charset="0"/>
              </a:rPr>
              <a:t> and are organized in a large complex hierarchy.</a:t>
            </a:r>
          </a:p>
        </p:txBody>
      </p:sp>
      <p:pic>
        <p:nvPicPr>
          <p:cNvPr id="131076" name="Picture 4" descr="19stream">
            <a:extLst>
              <a:ext uri="{FF2B5EF4-FFF2-40B4-BE49-F238E27FC236}">
                <a16:creationId xmlns:a16="http://schemas.microsoft.com/office/drawing/2014/main" id="{4F0949F7-D683-B7B9-3648-A5FC7C197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57600"/>
            <a:ext cx="5006975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1077" name="Picture 5" descr="20stream2">
            <a:extLst>
              <a:ext uri="{FF2B5EF4-FFF2-40B4-BE49-F238E27FC236}">
                <a16:creationId xmlns:a16="http://schemas.microsoft.com/office/drawing/2014/main" id="{B9039469-BC56-6600-D244-E8FDBE33F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724400"/>
            <a:ext cx="4903788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64457DCA-CDF0-FAFB-5744-2678759C9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File Class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61A40550-1ECE-F3BA-D001-013270DF6E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This is an abstract representation  file and directory pathnames</a:t>
            </a:r>
          </a:p>
          <a:p>
            <a:pPr lvl="1" eaLnBrk="1" hangingPunct="1"/>
            <a:endParaRPr lang="en-US" altLang="en-US" sz="1800"/>
          </a:p>
          <a:p>
            <a:pPr lvl="1" eaLnBrk="1" hangingPunct="1"/>
            <a:r>
              <a:rPr lang="en-US" altLang="en-US" sz="1800"/>
              <a:t>Not used to read and write data</a:t>
            </a:r>
          </a:p>
          <a:p>
            <a:pPr lvl="1" eaLnBrk="1" hangingPunct="1"/>
            <a:endParaRPr lang="en-US" altLang="en-US" sz="1800"/>
          </a:p>
          <a:p>
            <a:pPr lvl="1" eaLnBrk="1" hangingPunct="1"/>
            <a:r>
              <a:rPr lang="en-US" altLang="en-US" sz="1800"/>
              <a:t>Used for searching and deleting of files, creating directories and working with path and making directories</a:t>
            </a:r>
          </a:p>
          <a:p>
            <a:pPr lvl="1" eaLnBrk="1" hangingPunct="1"/>
            <a:endParaRPr lang="en-US" altLang="en-US" sz="1800"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>
                <a:cs typeface="Times New Roman" panose="02020603050405020304" pitchFamily="18" charset="0"/>
              </a:rPr>
              <a:t>has methods for getting file/directory info. </a:t>
            </a:r>
          </a:p>
          <a:p>
            <a:pPr lvl="1" eaLnBrk="1" hangingPunct="1"/>
            <a:endParaRPr lang="en-US" altLang="en-US" sz="1800"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>
                <a:cs typeface="Times New Roman" panose="02020603050405020304" pitchFamily="18" charset="0"/>
              </a:rPr>
              <a:t>cannot be used to read or write to a file.</a:t>
            </a:r>
            <a:endParaRPr lang="en-US" altLang="en-US" sz="1800"/>
          </a:p>
          <a:p>
            <a:pPr lvl="1" eaLnBrk="1" hangingPunct="1"/>
            <a:endParaRPr lang="en-US" altLang="en-US" sz="1800"/>
          </a:p>
          <a:p>
            <a:pPr eaLnBrk="1" hangingPunct="1"/>
            <a:r>
              <a:rPr lang="en-US" altLang="en-US" sz="1800">
                <a:cs typeface="Times New Roman" panose="02020603050405020304" pitchFamily="18" charset="0"/>
              </a:rPr>
              <a:t>To make a </a:t>
            </a:r>
            <a:r>
              <a:rPr lang="en-US" altLang="en-US" sz="1800" b="1">
                <a:cs typeface="Times New Roman" panose="02020603050405020304" pitchFamily="18" charset="0"/>
              </a:rPr>
              <a:t>File</a:t>
            </a:r>
            <a:r>
              <a:rPr lang="en-US" altLang="en-US" sz="1800">
                <a:cs typeface="Times New Roman" panose="02020603050405020304" pitchFamily="18" charset="0"/>
              </a:rPr>
              <a:t> object, there are three commonly used constructors </a:t>
            </a: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File </a:t>
            </a:r>
          </a:p>
          <a:p>
            <a:pPr lvl="1" eaLnBrk="1" hangingPunct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File file1 =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File(</a:t>
            </a:r>
            <a:r>
              <a:rPr lang="en-US" altLang="en-US">
                <a:solidFill>
                  <a:srgbClr val="993300"/>
                </a:solidFill>
                <a:cs typeface="Courier New" panose="02070309020205020404" pitchFamily="49" charset="0"/>
              </a:rPr>
              <a:t>"C:\\Data\\myFile.dat"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>
                <a:cs typeface="Times New Roman" panose="02020603050405020304" pitchFamily="18" charset="0"/>
              </a:rPr>
            </a:br>
            <a:endParaRPr lang="en-US" altLang="en-US"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/>
              <a:t>public File(String directory, String filename) </a:t>
            </a: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 sz="180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EE2B6AC3-2009-F674-8EEC-C51642A85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File Class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5BD3B9F6-67EE-D66F-D74C-00E9863F6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 b="1"/>
              <a:t>The static File[] listRoots( ) </a:t>
            </a:r>
          </a:p>
          <a:p>
            <a:pPr lvl="1" eaLnBrk="1" hangingPunct="1"/>
            <a:r>
              <a:rPr lang="en-US" altLang="en-US"/>
              <a:t>returns an array containing the roots of the filesystem as File objects:</a:t>
            </a:r>
          </a:p>
          <a:p>
            <a:pPr eaLnBrk="1" hangingPunct="1"/>
            <a:endParaRPr lang="en-US" altLang="en-US" sz="180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b="1"/>
              <a:t>public boolean exists( )</a:t>
            </a:r>
          </a:p>
          <a:p>
            <a:pPr lvl="1" eaLnBrk="1" hangingPunct="1"/>
            <a:r>
              <a:rPr lang="en-US" altLang="en-US"/>
              <a:t>returns true if the file named in this file object's path field exists or false if it doesn't: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 b="1"/>
              <a:t>Public boolean isFile( )</a:t>
            </a:r>
            <a:r>
              <a:rPr lang="en-US" altLang="en-US" sz="1800"/>
              <a:t> </a:t>
            </a:r>
          </a:p>
          <a:p>
            <a:pPr eaLnBrk="1" hangingPunct="1"/>
            <a:r>
              <a:rPr lang="en-US" altLang="en-US" sz="1800" b="1"/>
              <a:t>public boolean isDirectory( )</a:t>
            </a:r>
            <a:r>
              <a:rPr lang="en-US" altLang="en-US" sz="1800"/>
              <a:t> </a:t>
            </a:r>
            <a:br>
              <a:rPr lang="en-US" altLang="en-US" sz="1800"/>
            </a:br>
            <a:endParaRPr lang="en-US" altLang="en-US" sz="1800"/>
          </a:p>
          <a:p>
            <a:pPr eaLnBrk="1" hangingPunct="1"/>
            <a:r>
              <a:rPr lang="en-US" altLang="en-US" sz="1800" b="1"/>
              <a:t>public boolean canRead( ) </a:t>
            </a:r>
          </a:p>
          <a:p>
            <a:pPr lvl="1" eaLnBrk="1" hangingPunct="1"/>
            <a:r>
              <a:rPr lang="en-US" altLang="en-US"/>
              <a:t>The canRead( ) method indicates whether the program can read from the file.</a:t>
            </a:r>
          </a:p>
          <a:p>
            <a:pPr eaLnBrk="1" hangingPunct="1"/>
            <a:endParaRPr lang="en-US" altLang="en-US" sz="1800" b="1"/>
          </a:p>
          <a:p>
            <a:pPr eaLnBrk="1" hangingPunct="1"/>
            <a:r>
              <a:rPr lang="en-US" altLang="en-US" sz="1800" b="1"/>
              <a:t>public boolean canWrite( )</a:t>
            </a:r>
            <a:r>
              <a:rPr lang="en-US" altLang="en-US" sz="1800"/>
              <a:t> </a:t>
            </a:r>
          </a:p>
          <a:p>
            <a:pPr lvl="1" eaLnBrk="1" hangingPunct="1"/>
            <a:r>
              <a:rPr lang="en-US" altLang="en-US"/>
              <a:t>The canWrite( ) method indicates whether the program can write into the file referred to by this File object. </a:t>
            </a:r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76D7DB3F-A473-FDCE-FD80-42CE5CC35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File Class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FDE2172D-F728-A9D8-15B9-B43175665C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 b="1">
                <a:cs typeface="Times New Roman" panose="02020603050405020304" pitchFamily="18" charset="0"/>
              </a:rPr>
              <a:t>To Make a New Directory</a:t>
            </a:r>
          </a:p>
          <a:p>
            <a:pPr lvl="1" eaLnBrk="1" hangingPunct="1"/>
            <a:r>
              <a:rPr lang="en-US" altLang="en-US">
                <a:cs typeface="Times New Roman" panose="02020603050405020304" pitchFamily="18" charset="0"/>
              </a:rPr>
              <a:t>File dir = new File(“JavaIO”);</a:t>
            </a:r>
          </a:p>
          <a:p>
            <a:pPr lvl="1" eaLnBrk="1" hangingPunct="1"/>
            <a:r>
              <a:rPr lang="en-US" altLang="en-US">
                <a:cs typeface="Times New Roman" panose="02020603050405020304" pitchFamily="18" charset="0"/>
              </a:rPr>
              <a:t>dir.mkdir();</a:t>
            </a:r>
          </a:p>
          <a:p>
            <a:pPr lvl="1" eaLnBrk="1" hangingPunct="1"/>
            <a:endParaRPr lang="en-US" altLang="en-US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b="1"/>
              <a:t>public boolean createNewFile( ) throws IOException </a:t>
            </a:r>
            <a:br>
              <a:rPr lang="en-US" altLang="en-US" sz="1800" b="1"/>
            </a:br>
            <a:endParaRPr lang="en-US" altLang="en-US" sz="1800" b="1"/>
          </a:p>
          <a:p>
            <a:pPr lvl="1" eaLnBrk="1" hangingPunct="1"/>
            <a:r>
              <a:rPr lang="en-US" altLang="en-US"/>
              <a:t>checks to see whether the file exists and creates the file if it doesn't already exist.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 It returns true if the file was created and false if it wasn't created, either because it couldn't be created or because the file already existed.</a:t>
            </a:r>
          </a:p>
          <a:p>
            <a:pPr eaLnBrk="1" hangingPunct="1"/>
            <a:endParaRPr lang="en-US" altLang="en-US" sz="1800"/>
          </a:p>
          <a:p>
            <a:pPr lvl="1" eaLnBrk="1" hangingPunct="1"/>
            <a:r>
              <a:rPr lang="en-US" altLang="en-US" sz="1800">
                <a:latin typeface="Courier New" panose="02070309020205020404" pitchFamily="49" charset="0"/>
              </a:rPr>
              <a:t>File f = new File("output.dat"); </a:t>
            </a:r>
          </a:p>
          <a:p>
            <a:pPr lvl="1" eaLnBrk="1" hangingPunct="1"/>
            <a:r>
              <a:rPr lang="en-US" altLang="en-US" sz="1800">
                <a:latin typeface="Courier New" panose="02070309020205020404" pitchFamily="49" charset="0"/>
              </a:rPr>
              <a:t>boolean success = f.createNewFile( ); </a:t>
            </a:r>
          </a:p>
          <a:p>
            <a:pPr lvl="1" eaLnBrk="1" hangingPunct="1"/>
            <a:r>
              <a:rPr lang="en-US" altLang="en-US" sz="1800">
                <a:latin typeface="Courier New" panose="02070309020205020404" pitchFamily="49" charset="0"/>
              </a:rPr>
              <a:t>if (success) { //... } else { //... 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FD8D7640-28A2-1BC6-95AD-2FF340D649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5763"/>
            <a:ext cx="8229600" cy="223837"/>
          </a:xfrm>
        </p:spPr>
        <p:txBody>
          <a:bodyPr/>
          <a:lstStyle/>
          <a:p>
            <a:pPr eaLnBrk="1" hangingPunct="1"/>
            <a:r>
              <a:rPr lang="en-US" altLang="en-US" sz="2400" b="1"/>
              <a:t>File Input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8D6DD3D6-48DB-9F9C-6198-8DA4B1B8AC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924800" cy="58674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en-US" sz="1800">
                <a:cs typeface="Times New Roman" panose="02020603050405020304" pitchFamily="18" charset="0"/>
              </a:rPr>
              <a:t>Reading Data from a Text File </a:t>
            </a:r>
            <a:r>
              <a:rPr lang="en-US" altLang="en-US" sz="2000">
                <a:cs typeface="Times New Roman" panose="02020603050405020304" pitchFamily="18" charset="0"/>
              </a:rPr>
              <a:t>contains nothing but characters. </a:t>
            </a:r>
          </a:p>
          <a:p>
            <a:pPr marL="990600" lvl="1" indent="-533400" eaLnBrk="1" hangingPunct="1">
              <a:spcBef>
                <a:spcPct val="5000"/>
              </a:spcBef>
            </a:pPr>
            <a:r>
              <a:rPr lang="en-US" altLang="en-US" sz="1800">
                <a:cs typeface="Times New Roman" panose="02020603050405020304" pitchFamily="18" charset="0"/>
              </a:rPr>
              <a:t>Java provides several ways to read characters from a file:</a:t>
            </a: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endParaRPr lang="en-US" altLang="en-US" sz="1800">
              <a:cs typeface="Times New Roman" panose="02020603050405020304" pitchFamily="18" charset="0"/>
            </a:endParaRP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r>
              <a:rPr lang="en-US" altLang="en-US" sz="1800">
                <a:cs typeface="Times New Roman" panose="02020603050405020304" pitchFamily="18" charset="0"/>
              </a:rPr>
              <a:t>one character at a time, using the class </a:t>
            </a:r>
            <a:r>
              <a:rPr lang="en-US" altLang="en-US" sz="1800">
                <a:latin typeface="Century Gothic" panose="020B0502020202020204" pitchFamily="34" charset="0"/>
                <a:cs typeface="Times New Roman" panose="02020603050405020304" pitchFamily="18" charset="0"/>
              </a:rPr>
              <a:t>InputStreamReader</a:t>
            </a: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endParaRPr lang="en-US" altLang="en-US" sz="1800">
              <a:cs typeface="Times New Roman" panose="02020603050405020304" pitchFamily="18" charset="0"/>
            </a:endParaRP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r>
              <a:rPr lang="en-US" altLang="en-US" sz="1800">
                <a:cs typeface="Times New Roman" panose="02020603050405020304" pitchFamily="18" charset="0"/>
              </a:rPr>
              <a:t>one word at a time, using the class </a:t>
            </a:r>
            <a:r>
              <a:rPr lang="en-US" altLang="en-US" sz="1800">
                <a:latin typeface="Century Gothic" panose="020B0502020202020204" pitchFamily="34" charset="0"/>
                <a:cs typeface="Times New Roman" panose="02020603050405020304" pitchFamily="18" charset="0"/>
              </a:rPr>
              <a:t>StreamTokenizer</a:t>
            </a: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endParaRPr lang="en-US" altLang="en-US" sz="1800">
              <a:cs typeface="Times New Roman" panose="02020603050405020304" pitchFamily="18" charset="0"/>
            </a:endParaRP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r>
              <a:rPr lang="en-US" altLang="en-US" sz="1800">
                <a:cs typeface="Times New Roman" panose="02020603050405020304" pitchFamily="18" charset="0"/>
              </a:rPr>
              <a:t>one line at a time, using the class </a:t>
            </a:r>
            <a:r>
              <a:rPr lang="en-US" altLang="en-US" sz="1800">
                <a:latin typeface="Century Gothic" panose="020B0502020202020204" pitchFamily="34" charset="0"/>
                <a:cs typeface="Times New Roman" panose="02020603050405020304" pitchFamily="18" charset="0"/>
              </a:rPr>
              <a:t>BufferedReader</a:t>
            </a:r>
          </a:p>
          <a:p>
            <a:pPr marL="609600" indent="-609600" eaLnBrk="1" hangingPunct="1"/>
            <a:endParaRPr lang="en-US" altLang="en-US" sz="1800"/>
          </a:p>
          <a:p>
            <a:pPr marL="609600" indent="-609600" eaLnBrk="1" hangingPunct="1"/>
            <a:r>
              <a:rPr lang="en-US" altLang="en-US" sz="1800" b="1"/>
              <a:t>If Files are  Viewed and Created with Text Editors </a:t>
            </a:r>
          </a:p>
          <a:p>
            <a:pPr marL="990600" lvl="1" indent="-533400" eaLnBrk="1" hangingPunct="1"/>
            <a:r>
              <a:rPr lang="en-US" altLang="en-US"/>
              <a:t>A  print writer for output </a:t>
            </a:r>
          </a:p>
          <a:p>
            <a:pPr marL="990600" lvl="1" indent="-533400" eaLnBrk="1" hangingPunct="1"/>
            <a:r>
              <a:rPr lang="en-US" altLang="en-US"/>
              <a:t>A stream tokenize for input </a:t>
            </a:r>
          </a:p>
          <a:p>
            <a:pPr marL="609600" indent="-609600" eaLnBrk="1" hangingPunct="1"/>
            <a:endParaRPr lang="en-US" altLang="en-US" sz="1800" b="1"/>
          </a:p>
          <a:p>
            <a:pPr marL="609600" indent="-609600" eaLnBrk="1" hangingPunct="1"/>
            <a:r>
              <a:rPr lang="en-US" altLang="en-US" sz="1800" b="1"/>
              <a:t>When the data type is known</a:t>
            </a:r>
          </a:p>
          <a:p>
            <a:pPr marL="990600" lvl="1" indent="-533400" eaLnBrk="1" hangingPunct="1"/>
            <a:r>
              <a:rPr lang="en-US" altLang="en-US"/>
              <a:t>use a data input stream for input </a:t>
            </a:r>
          </a:p>
          <a:p>
            <a:pPr marL="990600" lvl="1" indent="-533400" eaLnBrk="1" hangingPunct="1"/>
            <a:r>
              <a:rPr lang="en-US" altLang="en-US"/>
              <a:t>a data output stream for output </a:t>
            </a:r>
          </a:p>
          <a:p>
            <a:pPr marL="609600" indent="-609600" eaLnBrk="1" hangingPunct="1"/>
            <a:endParaRPr lang="en-US" altLang="en-US" sz="1800"/>
          </a:p>
          <a:p>
            <a:pPr marL="1371600" lvl="2" indent="-457200" eaLnBrk="1" hangingPunct="1"/>
            <a:endParaRPr lang="en-US" altLang="en-US" sz="1800"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 marL="1371600" lvl="2" indent="-457200" eaLnBrk="1" hangingPunct="1"/>
            <a:endParaRPr lang="en-US" altLang="en-US" sz="1800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itle 1">
            <a:extLst>
              <a:ext uri="{FF2B5EF4-FFF2-40B4-BE49-F238E27FC236}">
                <a16:creationId xmlns:a16="http://schemas.microsoft.com/office/drawing/2014/main" id="{E316C1EF-D062-4874-5CC3-37E37E861A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8A844-8A4D-DEBC-4FE7-D3D48A8AD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r>
              <a:rPr lang="en-US" sz="1800" b="1" dirty="0">
                <a:ea typeface="+mn-ea"/>
                <a:cs typeface="+mn-cs"/>
              </a:rPr>
              <a:t>public static void read(){</a:t>
            </a:r>
          </a:p>
          <a:p>
            <a:pPr lvl="1">
              <a:buFontTx/>
              <a:buNone/>
              <a:defRPr/>
            </a:pPr>
            <a:endParaRPr lang="en-US" sz="18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1800" dirty="0" err="1">
                <a:ea typeface="+mn-ea"/>
                <a:cs typeface="+mn-cs"/>
              </a:rPr>
              <a:t>InputStreamReader</a:t>
            </a:r>
            <a:r>
              <a:rPr lang="en-US" sz="1800" dirty="0">
                <a:ea typeface="+mn-ea"/>
                <a:cs typeface="+mn-cs"/>
              </a:rPr>
              <a:t> reader=</a:t>
            </a:r>
            <a:r>
              <a:rPr lang="en-US" sz="1800" b="1" dirty="0">
                <a:ea typeface="+mn-ea"/>
                <a:cs typeface="+mn-cs"/>
              </a:rPr>
              <a:t>null;</a:t>
            </a:r>
          </a:p>
          <a:p>
            <a:pPr lvl="1">
              <a:buFontTx/>
              <a:buNone/>
              <a:defRPr/>
            </a:pPr>
            <a:r>
              <a:rPr lang="en-US" sz="1800" b="1" dirty="0">
                <a:ea typeface="+mn-ea"/>
                <a:cs typeface="+mn-cs"/>
              </a:rPr>
              <a:t>try {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reader =</a:t>
            </a:r>
            <a:r>
              <a:rPr lang="en-US" sz="1800" b="1" dirty="0">
                <a:ea typeface="+mn-ea"/>
                <a:cs typeface="+mn-cs"/>
              </a:rPr>
              <a:t>new </a:t>
            </a:r>
            <a:r>
              <a:rPr lang="en-US" sz="1800" b="1" dirty="0" err="1">
                <a:ea typeface="+mn-ea"/>
                <a:cs typeface="+mn-cs"/>
              </a:rPr>
              <a:t>InputStreamReader</a:t>
            </a:r>
            <a:r>
              <a:rPr lang="en-US" sz="1800" b="1" dirty="0">
                <a:ea typeface="+mn-ea"/>
                <a:cs typeface="+mn-cs"/>
              </a:rPr>
              <a:t>(new </a:t>
            </a:r>
            <a:r>
              <a:rPr lang="en-US" sz="1800" b="1" dirty="0" err="1">
                <a:ea typeface="+mn-ea"/>
                <a:cs typeface="+mn-cs"/>
              </a:rPr>
              <a:t>FileInputStream</a:t>
            </a:r>
            <a:r>
              <a:rPr lang="en-US" sz="1800" b="1" dirty="0">
                <a:ea typeface="+mn-ea"/>
                <a:cs typeface="+mn-cs"/>
              </a:rPr>
              <a:t>("TestList.txt"));</a:t>
            </a:r>
          </a:p>
          <a:p>
            <a:pPr lvl="1">
              <a:buFontTx/>
              <a:buNone/>
              <a:defRPr/>
            </a:pPr>
            <a:r>
              <a:rPr lang="en-US" sz="1800" b="1" dirty="0" err="1">
                <a:ea typeface="+mn-ea"/>
                <a:cs typeface="+mn-cs"/>
              </a:rPr>
              <a:t>int</a:t>
            </a:r>
            <a:r>
              <a:rPr lang="en-US" sz="1800" b="1" dirty="0">
                <a:ea typeface="+mn-ea"/>
                <a:cs typeface="+mn-cs"/>
              </a:rPr>
              <a:t> </a:t>
            </a:r>
            <a:r>
              <a:rPr lang="en-US" sz="1800" b="1" dirty="0" err="1">
                <a:ea typeface="+mn-ea"/>
                <a:cs typeface="+mn-cs"/>
              </a:rPr>
              <a:t>i</a:t>
            </a:r>
            <a:r>
              <a:rPr lang="en-US" sz="1800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sz="1800" b="1" dirty="0">
                <a:ea typeface="+mn-ea"/>
                <a:cs typeface="+mn-cs"/>
              </a:rPr>
              <a:t>while((</a:t>
            </a:r>
            <a:r>
              <a:rPr lang="en-US" sz="1800" b="1" dirty="0" err="1">
                <a:ea typeface="+mn-ea"/>
                <a:cs typeface="+mn-cs"/>
              </a:rPr>
              <a:t>i</a:t>
            </a:r>
            <a:r>
              <a:rPr lang="en-US" sz="1800" b="1" dirty="0">
                <a:ea typeface="+mn-ea"/>
                <a:cs typeface="+mn-cs"/>
              </a:rPr>
              <a:t>= </a:t>
            </a:r>
            <a:r>
              <a:rPr lang="en-US" sz="1800" b="1" dirty="0" err="1">
                <a:ea typeface="+mn-ea"/>
                <a:cs typeface="+mn-cs"/>
              </a:rPr>
              <a:t>reader.read</a:t>
            </a:r>
            <a:r>
              <a:rPr lang="en-US" sz="1800" b="1" dirty="0">
                <a:ea typeface="+mn-ea"/>
                <a:cs typeface="+mn-cs"/>
              </a:rPr>
              <a:t>())!=-1)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{</a:t>
            </a:r>
          </a:p>
          <a:p>
            <a:pPr lvl="1">
              <a:buFontTx/>
              <a:buNone/>
              <a:defRPr/>
            </a:pPr>
            <a:r>
              <a:rPr lang="en-US" sz="1800" b="1" dirty="0">
                <a:ea typeface="+mn-ea"/>
                <a:cs typeface="+mn-cs"/>
              </a:rPr>
              <a:t>char c=(char)</a:t>
            </a:r>
            <a:r>
              <a:rPr lang="en-US" sz="1800" b="1" dirty="0" err="1">
                <a:ea typeface="+mn-ea"/>
                <a:cs typeface="+mn-cs"/>
              </a:rPr>
              <a:t>i</a:t>
            </a:r>
            <a:r>
              <a:rPr lang="en-US" sz="1800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sz="1800" dirty="0" err="1">
                <a:ea typeface="+mn-ea"/>
                <a:cs typeface="+mn-cs"/>
              </a:rPr>
              <a:t>System.</a:t>
            </a:r>
            <a:r>
              <a:rPr lang="en-US" sz="1800" b="1" i="1" dirty="0" err="1">
                <a:ea typeface="+mn-ea"/>
                <a:cs typeface="+mn-cs"/>
              </a:rPr>
              <a:t>out.println</a:t>
            </a:r>
            <a:r>
              <a:rPr lang="en-US" sz="1800" b="1" i="1" dirty="0">
                <a:ea typeface="+mn-ea"/>
                <a:cs typeface="+mn-cs"/>
              </a:rPr>
              <a:t>(c);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sz="18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} </a:t>
            </a:r>
            <a:r>
              <a:rPr lang="en-US" sz="1800" b="1" dirty="0">
                <a:ea typeface="+mn-ea"/>
                <a:cs typeface="+mn-cs"/>
              </a:rPr>
              <a:t>catch (Exception e) {</a:t>
            </a:r>
          </a:p>
          <a:p>
            <a:pPr lvl="1">
              <a:buFontTx/>
              <a:buNone/>
              <a:defRPr/>
            </a:pPr>
            <a:r>
              <a:rPr lang="en-US" sz="1800" dirty="0" err="1">
                <a:ea typeface="+mn-ea"/>
                <a:cs typeface="+mn-cs"/>
              </a:rPr>
              <a:t>e.printStackTrace</a:t>
            </a:r>
            <a:r>
              <a:rPr lang="en-US" sz="1800" dirty="0">
                <a:ea typeface="+mn-ea"/>
                <a:cs typeface="+mn-cs"/>
              </a:rPr>
              <a:t>();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}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0530D74E-996E-6273-E6DA-85829DA5B3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Classes in I/O Package 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3069C771-9FD1-894C-0FE2-5DDC9D2CC2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 b="1"/>
              <a:t>File Reader</a:t>
            </a:r>
          </a:p>
          <a:p>
            <a:pPr lvl="1" eaLnBrk="1" hangingPunct="1"/>
            <a:endParaRPr lang="en-US" altLang="en-US"/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Used to read characters from  files 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The read() method of this class  is used to read characters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These are wrapped by BufferedReader to improve the performance</a:t>
            </a: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 b="1"/>
          </a:p>
          <a:p>
            <a:pPr eaLnBrk="1" hangingPunct="1"/>
            <a:r>
              <a:rPr lang="en-US" altLang="en-US" sz="1800" b="1"/>
              <a:t>File Writer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Used to write character to files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The Write method() of this classes is used to write characters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Wrapped by BufferedWriter to improve the performance</a:t>
            </a:r>
          </a:p>
          <a:p>
            <a:pPr lvl="1" eaLnBrk="1" hangingPunct="1">
              <a:lnSpc>
                <a:spcPct val="200000"/>
              </a:lnSpc>
            </a:pPr>
            <a:endParaRPr lang="en-US" altLang="en-US"/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1A7439A1-5E97-AD78-05BF-17DE9FC27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FileWriter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1DA109C6-9715-499D-6132-7733A4AA01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/>
              <a:t>Constructors: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en-US" altLang="en-US" sz="2000"/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FileWriter(File file) 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FileWriter(File file, boolean append) 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FileWriter(String fileName)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FileWriter(String fileName, boolean append)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en-US" altLang="en-US" sz="2000" u="sng"/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/>
              <a:t>Same methods of  </a:t>
            </a:r>
            <a:r>
              <a:rPr lang="en-US" altLang="en-US" sz="2000" b="1">
                <a:solidFill>
                  <a:srgbClr val="000000"/>
                </a:solidFill>
              </a:rPr>
              <a:t>Writer</a:t>
            </a:r>
            <a:r>
              <a:rPr lang="en-US" altLang="en-US" sz="2000"/>
              <a:t> 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en-US" altLang="en-US" sz="2000"/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IN" altLang="en-US" sz="2000" b="1">
                <a:solidFill>
                  <a:srgbClr val="000000"/>
                </a:solidFill>
              </a:rPr>
              <a:t>public void write(int c)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altLang="en-US" sz="2000">
                <a:solidFill>
                  <a:srgbClr val="000000"/>
                </a:solidFill>
              </a:rPr>
              <a:t> </a:t>
            </a:r>
            <a:r>
              <a:rPr lang="en-US" altLang="en-US" sz="2000"/>
              <a:t>All constructors and methods throw </a:t>
            </a:r>
            <a:r>
              <a:rPr lang="en-US" altLang="en-US" sz="2000" b="1">
                <a:solidFill>
                  <a:srgbClr val="000000"/>
                </a:solidFill>
              </a:rPr>
              <a:t>IOException</a:t>
            </a: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57700" name="Slide Number Placeholder 5">
            <a:extLst>
              <a:ext uri="{FF2B5EF4-FFF2-40B4-BE49-F238E27FC236}">
                <a16:creationId xmlns:a16="http://schemas.microsoft.com/office/drawing/2014/main" id="{12C6BBB1-BADD-1A72-6014-8CF8997830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6D95F64A-3A20-C24B-B9B6-8221518FDB66}" type="slidenum">
              <a:rPr lang="en-US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113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DE964B6E-58FD-E3D0-EF82-ADEE799EC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FileReader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E12BA250-3DB0-3F14-02E9-E34CFAAE78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/>
              <a:t>Constructors</a:t>
            </a:r>
            <a:r>
              <a:rPr lang="en-US" altLang="en-US" sz="2000" b="1"/>
              <a:t>:</a:t>
            </a:r>
          </a:p>
          <a:p>
            <a:pPr eaLnBrk="1" hangingPunct="1">
              <a:buFontTx/>
              <a:buNone/>
            </a:pPr>
            <a:endParaRPr lang="en-US" altLang="en-US" sz="2000" b="1"/>
          </a:p>
          <a:p>
            <a:pPr eaLnBrk="1" hangingPunct="1"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FileReader(File file) throws FileNotFoundException </a:t>
            </a:r>
          </a:p>
          <a:p>
            <a:pPr eaLnBrk="1" hangingPunct="1">
              <a:buFontTx/>
              <a:buNone/>
            </a:pPr>
            <a:endParaRPr lang="en-US" altLang="en-US" sz="2000" b="1">
              <a:solidFill>
                <a:srgbClr val="00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FileReader(String fileName) throws FileNotFoundException </a:t>
            </a:r>
          </a:p>
          <a:p>
            <a:pPr eaLnBrk="1" hangingPunct="1">
              <a:buFontTx/>
              <a:buNone/>
            </a:pPr>
            <a:endParaRPr lang="en-US" altLang="en-US" sz="2000" b="1">
              <a:solidFill>
                <a:srgbClr val="000000"/>
              </a:solidFill>
            </a:endParaRPr>
          </a:p>
        </p:txBody>
      </p:sp>
      <p:sp>
        <p:nvSpPr>
          <p:cNvPr id="159748" name="Slide Number Placeholder 5">
            <a:extLst>
              <a:ext uri="{FF2B5EF4-FFF2-40B4-BE49-F238E27FC236}">
                <a16:creationId xmlns:a16="http://schemas.microsoft.com/office/drawing/2014/main" id="{896B2443-024C-E67B-063C-5B3653A0D0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EEC4E6DF-3197-A749-96E2-76E3B5174DAA}" type="slidenum">
              <a:rPr lang="en-US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114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D82D0D38-A623-8794-D510-DEB227274E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Classes in I/O Package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DAADCA17-237C-F071-93F9-AF45F1EF1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229600" cy="5287963"/>
          </a:xfrm>
        </p:spPr>
        <p:txBody>
          <a:bodyPr/>
          <a:lstStyle/>
          <a:p>
            <a:pPr eaLnBrk="1" hangingPunct="1"/>
            <a:r>
              <a:rPr lang="en-US" altLang="en-US" sz="1800" b="1"/>
              <a:t>BufferedReader</a:t>
            </a:r>
            <a:r>
              <a:rPr lang="en-US" altLang="en-US" sz="1800"/>
              <a:t>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Buffers give a temporary holding place to group  until it reaches final place.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It helps in efficent reading of files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Reads a large amount of data from a file at once and keep that data in buffer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Minimizes the number of times of file access.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Provides a readLine() method , which reads a line of characters from the file</a:t>
            </a:r>
          </a:p>
          <a:p>
            <a:pPr lvl="1" eaLnBrk="1" hangingPunct="1">
              <a:lnSpc>
                <a:spcPct val="120000"/>
              </a:lnSpc>
            </a:pPr>
            <a:endParaRPr lang="en-US" altLang="en-US">
              <a:latin typeface="Arial Unicode MS" panose="020B0604020202020204" pitchFamily="34" charset="-128"/>
            </a:endParaRPr>
          </a:p>
          <a:p>
            <a:pPr lvl="1" eaLnBrk="1" hangingPunct="1"/>
            <a:r>
              <a:rPr lang="en-US" altLang="en-US" sz="1800" b="1">
                <a:latin typeface="Courier New" panose="02070309020205020404" pitchFamily="49" charset="0"/>
              </a:rPr>
              <a:t>BufferedReader</a:t>
            </a:r>
            <a:r>
              <a:rPr lang="en-US" altLang="en-US" sz="1800">
                <a:latin typeface="Courier New" panose="02070309020205020404" pitchFamily="49" charset="0"/>
              </a:rPr>
              <a:t> in = </a:t>
            </a:r>
          </a:p>
          <a:p>
            <a:pPr lvl="2" eaLnBrk="1" hangingPunct="1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       </a:t>
            </a:r>
            <a:r>
              <a:rPr lang="en-US" altLang="en-US" sz="1600" b="1">
                <a:latin typeface="Courier New" panose="02070309020205020404" pitchFamily="49" charset="0"/>
              </a:rPr>
              <a:t>new BufferedReader(new FileReader</a:t>
            </a:r>
            <a:r>
              <a:rPr lang="en-US" altLang="en-US" sz="1600">
                <a:latin typeface="Courier New" panose="02070309020205020404" pitchFamily="49" charset="0"/>
              </a:rPr>
              <a:t>(“file.txt"));</a:t>
            </a:r>
            <a:r>
              <a:rPr lang="en-US" altLang="en-US">
                <a:latin typeface="Arial Unicode MS" panose="020B0604020202020204" pitchFamily="34" charset="-128"/>
              </a:rPr>
              <a:t> 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 sz="1800" b="1"/>
              <a:t>BufferedWriter</a:t>
            </a:r>
          </a:p>
          <a:p>
            <a:pPr lvl="1" eaLnBrk="1" hangingPunct="1"/>
            <a:r>
              <a:rPr lang="en-US" altLang="en-US"/>
              <a:t>Provides a newLine() method , which that creates line separators automatically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>
              <a:latin typeface="Arial Unicode MS" panose="020B0604020202020204" pitchFamily="34" charset="-128"/>
            </a:endParaRP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B0ECD5B3-2D55-00E2-12AE-436E07B74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Handling file input and output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F0332494-7BC3-FE91-A26B-381133F736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927100"/>
            <a:ext cx="8001000" cy="5075238"/>
          </a:xfrm>
        </p:spPr>
        <p:txBody>
          <a:bodyPr/>
          <a:lstStyle/>
          <a:p>
            <a:pPr lvl="1" eaLnBrk="1" hangingPunct="1">
              <a:buFontTx/>
              <a:buNone/>
            </a:pPr>
            <a:endParaRPr lang="en-US" altLang="en-US"/>
          </a:p>
          <a:p>
            <a:pPr lvl="1" eaLnBrk="1" hangingPunct="1"/>
            <a:endParaRPr lang="en-US" altLang="en-US" sz="700"/>
          </a:p>
          <a:p>
            <a:pPr eaLnBrk="1" hangingPunct="1"/>
            <a:r>
              <a:rPr lang="en-US" altLang="en-US" sz="1800" b="1"/>
              <a:t>PrintWriter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Provides number of flexible and powerful methods to write data to files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Methods like format(),printf() and append() are used to work with data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>
                <a:cs typeface="Times New Roman" panose="02020603050405020304" pitchFamily="18" charset="0"/>
              </a:rPr>
              <a:t>print() or println() of this class take a single parameter of any data type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>
                <a:cs typeface="Times New Roman" panose="02020603050405020304" pitchFamily="18" charset="0"/>
              </a:rPr>
              <a:t>PrintWriter wraps the FileWriter</a:t>
            </a:r>
            <a:r>
              <a:rPr lang="en-US" altLang="en-US"/>
              <a:t> 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>
                <a:cs typeface="Times New Roman" panose="02020603050405020304" pitchFamily="18" charset="0"/>
              </a:rPr>
              <a:t>The resulting file can be read with a text editor or an input stream reader. </a:t>
            </a:r>
          </a:p>
          <a:p>
            <a:pPr lvl="1" eaLnBrk="1" hangingPunct="1">
              <a:lnSpc>
                <a:spcPct val="200000"/>
              </a:lnSpc>
            </a:pPr>
            <a:endParaRPr lang="en-US" altLang="en-US"/>
          </a:p>
          <a:p>
            <a:pPr eaLnBrk="1" hangingPunct="1">
              <a:lnSpc>
                <a:spcPct val="200000"/>
              </a:lnSpc>
            </a:pPr>
            <a:endParaRPr lang="en-US" altLang="en-US" sz="180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5BD8BB5A-CE21-6933-435A-639CC308C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 To File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3AF1789D-40DF-8EA8-0282-7ADBAD02A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public static void main(String</a:t>
            </a:r>
            <a:r>
              <a:rPr lang="en-US" altLang="en-US" sz="1800">
                <a:latin typeface="Courier New" panose="02070309020205020404" pitchFamily="49" charset="0"/>
              </a:rPr>
              <a:t> args[]) {</a:t>
            </a:r>
          </a:p>
          <a:p>
            <a:pPr eaLnBrk="1" hangingPunct="1"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</a:t>
            </a:r>
            <a:r>
              <a:rPr lang="en-US" altLang="en-US" sz="1800" b="1">
                <a:latin typeface="Courier New" panose="02070309020205020404" pitchFamily="49" charset="0"/>
              </a:rPr>
              <a:t>try</a:t>
            </a:r>
            <a:r>
              <a:rPr lang="en-US" altLang="en-US" sz="180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</a:t>
            </a:r>
            <a:r>
              <a:rPr lang="en-US" altLang="en-US" sz="1800" b="1">
                <a:latin typeface="Courier New" panose="02070309020205020404" pitchFamily="49" charset="0"/>
              </a:rPr>
              <a:t>PrintWriter</a:t>
            </a:r>
            <a:r>
              <a:rPr lang="en-US" altLang="en-US" sz="1800">
                <a:latin typeface="Courier New" panose="02070309020205020404" pitchFamily="49" charset="0"/>
              </a:rPr>
              <a:t> out = </a:t>
            </a:r>
            <a:r>
              <a:rPr lang="en-US" altLang="en-US" sz="1800" b="1">
                <a:latin typeface="Courier New" panose="02070309020205020404" pitchFamily="49" charset="0"/>
              </a:rPr>
              <a:t>new PrintWriter(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            </a:t>
            </a:r>
            <a:r>
              <a:rPr lang="en-US" altLang="en-US" sz="1800" b="1">
                <a:latin typeface="Courier New" panose="02070309020205020404" pitchFamily="49" charset="0"/>
              </a:rPr>
              <a:t>new FileWriter</a:t>
            </a:r>
            <a:r>
              <a:rPr lang="en-US" altLang="en-US" sz="1800">
                <a:latin typeface="Courier New" panose="02070309020205020404" pitchFamily="49" charset="0"/>
              </a:rPr>
              <a:t>("myAccount2.dat"));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out.</a:t>
            </a:r>
            <a:r>
              <a:rPr lang="en-US" altLang="en-US" sz="1800" b="1">
                <a:latin typeface="Courier New" panose="02070309020205020404" pitchFamily="49" charset="0"/>
              </a:rPr>
              <a:t>println</a:t>
            </a:r>
            <a:r>
              <a:rPr lang="en-US" altLang="en-US" sz="1800">
                <a:latin typeface="Courier New" panose="02070309020205020404" pitchFamily="49" charset="0"/>
              </a:rPr>
              <a:t>("srivatsan");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out.</a:t>
            </a:r>
            <a:r>
              <a:rPr lang="en-US" altLang="en-US" sz="1800" b="1">
                <a:latin typeface="Courier New" panose="02070309020205020404" pitchFamily="49" charset="0"/>
              </a:rPr>
              <a:t>println</a:t>
            </a:r>
            <a:r>
              <a:rPr lang="en-US" altLang="en-US" sz="1800">
                <a:latin typeface="Courier New" panose="02070309020205020404" pitchFamily="49" charset="0"/>
              </a:rPr>
              <a:t>("10099");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out.</a:t>
            </a:r>
            <a:r>
              <a:rPr lang="en-US" altLang="en-US" sz="1800" b="1">
                <a:latin typeface="Courier New" panose="02070309020205020404" pitchFamily="49" charset="0"/>
              </a:rPr>
              <a:t>println(</a:t>
            </a:r>
            <a:r>
              <a:rPr lang="en-US" altLang="en-US" sz="1800">
                <a:latin typeface="Courier New" panose="02070309020205020404" pitchFamily="49" charset="0"/>
              </a:rPr>
              <a:t>5000);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out.</a:t>
            </a:r>
            <a:r>
              <a:rPr lang="en-US" altLang="en-US" sz="1800" b="1">
                <a:latin typeface="Courier New" panose="02070309020205020404" pitchFamily="49" charset="0"/>
              </a:rPr>
              <a:t>close</a:t>
            </a:r>
            <a:r>
              <a:rPr lang="en-US" altLang="en-US" sz="180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} </a:t>
            </a:r>
          </a:p>
          <a:p>
            <a:pPr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	catch</a:t>
            </a:r>
            <a:r>
              <a:rPr lang="en-US" altLang="en-US" sz="1800">
                <a:latin typeface="Courier New" panose="02070309020205020404" pitchFamily="49" charset="0"/>
              </a:rPr>
              <a:t> (</a:t>
            </a:r>
            <a:r>
              <a:rPr lang="en-US" altLang="en-US" sz="1800" b="1">
                <a:latin typeface="Courier New" panose="02070309020205020404" pitchFamily="49" charset="0"/>
              </a:rPr>
              <a:t>FileNotFoundException</a:t>
            </a:r>
            <a:r>
              <a:rPr lang="en-US" altLang="en-US" sz="1800">
                <a:latin typeface="Courier New" panose="02070309020205020404" pitchFamily="49" charset="0"/>
              </a:rPr>
              <a:t> e){ 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} </a:t>
            </a:r>
          </a:p>
          <a:p>
            <a:pPr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	catch</a:t>
            </a:r>
            <a:r>
              <a:rPr lang="en-US" altLang="en-US" sz="1800">
                <a:latin typeface="Courier New" panose="02070309020205020404" pitchFamily="49" charset="0"/>
              </a:rPr>
              <a:t> (</a:t>
            </a:r>
            <a:r>
              <a:rPr lang="en-US" altLang="en-US" sz="1800" b="1">
                <a:latin typeface="Courier New" panose="02070309020205020404" pitchFamily="49" charset="0"/>
              </a:rPr>
              <a:t>IOException</a:t>
            </a:r>
            <a:r>
              <a:rPr lang="en-US" altLang="en-US" sz="1800">
                <a:latin typeface="Courier New" panose="02070309020205020404" pitchFamily="49" charset="0"/>
              </a:rPr>
              <a:t> e) {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}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}</a:t>
            </a:r>
          </a:p>
          <a:p>
            <a:pPr eaLnBrk="1" hangingPunct="1"/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F97A7480-9AA1-2127-FCA9-04800F10C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Read From File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2FEE9D10-56BC-350F-8FA4-4934463A8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5257800"/>
          </a:xfrm>
        </p:spPr>
        <p:txBody>
          <a:bodyPr/>
          <a:lstStyle/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public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static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void</a:t>
            </a:r>
            <a:r>
              <a:rPr lang="en-US" altLang="en-US">
                <a:latin typeface="Courier New" panose="02070309020205020404" pitchFamily="49" charset="0"/>
              </a:rPr>
              <a:t> main(String[] args)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try</a:t>
            </a:r>
            <a:r>
              <a:rPr lang="en-US" altLang="en-US">
                <a:latin typeface="Courier New" panose="02070309020205020404" pitchFamily="49" charset="0"/>
              </a:rPr>
              <a:t>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FileReader</a:t>
            </a:r>
            <a:r>
              <a:rPr lang="en-US" altLang="en-US">
                <a:latin typeface="Courier New" panose="02070309020205020404" pitchFamily="49" charset="0"/>
              </a:rPr>
              <a:t> fr = </a:t>
            </a:r>
            <a:r>
              <a:rPr lang="en-US" altLang="en-US" b="1">
                <a:latin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FileReader</a:t>
            </a:r>
            <a:r>
              <a:rPr lang="en-US" altLang="en-US">
                <a:latin typeface="Courier New" panose="02070309020205020404" pitchFamily="49" charset="0"/>
              </a:rPr>
              <a:t>("TextFile.txt");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BufferedReader</a:t>
            </a:r>
            <a:r>
              <a:rPr lang="en-US" altLang="en-US">
                <a:latin typeface="Courier New" panose="02070309020205020404" pitchFamily="49" charset="0"/>
              </a:rPr>
              <a:t> br = </a:t>
            </a:r>
            <a:r>
              <a:rPr lang="en-US" altLang="en-US" b="1">
                <a:latin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BufferedReader</a:t>
            </a:r>
            <a:r>
              <a:rPr lang="en-US" altLang="en-US">
                <a:latin typeface="Courier New" panose="02070309020205020404" pitchFamily="49" charset="0"/>
              </a:rPr>
              <a:t>(fr);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String line=</a:t>
            </a:r>
            <a:r>
              <a:rPr lang="en-US" altLang="en-US" b="1">
                <a:latin typeface="Courier New" panose="02070309020205020404" pitchFamily="49" charset="0"/>
              </a:rPr>
              <a:t>null</a:t>
            </a:r>
            <a:r>
              <a:rPr lang="en-US" altLang="en-US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try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while</a:t>
            </a:r>
            <a:r>
              <a:rPr lang="en-US" altLang="en-US">
                <a:latin typeface="Courier New" panose="02070309020205020404" pitchFamily="49" charset="0"/>
              </a:rPr>
              <a:t>(( line=br.readLine()) !=</a:t>
            </a:r>
            <a:r>
              <a:rPr lang="en-US" altLang="en-US" b="1">
                <a:latin typeface="Courier New" panose="02070309020205020404" pitchFamily="49" charset="0"/>
              </a:rPr>
              <a:t>null</a:t>
            </a:r>
            <a:r>
              <a:rPr lang="en-US" altLang="en-US">
                <a:latin typeface="Courier New" panose="02070309020205020404" pitchFamily="49" charset="0"/>
              </a:rPr>
              <a:t>)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  <a:r>
              <a:rPr lang="en-US" altLang="en-US" b="1">
                <a:latin typeface="Courier New" panose="02070309020205020404" pitchFamily="49" charset="0"/>
              </a:rPr>
              <a:t>System.</a:t>
            </a:r>
            <a:r>
              <a:rPr lang="en-US" altLang="en-US" b="1" i="1">
                <a:latin typeface="Courier New" panose="02070309020205020404" pitchFamily="49" charset="0"/>
              </a:rPr>
              <a:t>out</a:t>
            </a:r>
            <a:r>
              <a:rPr lang="en-US" altLang="en-US" b="1">
                <a:latin typeface="Courier New" panose="02070309020205020404" pitchFamily="49" charset="0"/>
              </a:rPr>
              <a:t>.println</a:t>
            </a:r>
            <a:r>
              <a:rPr lang="en-US" altLang="en-US">
                <a:latin typeface="Courier New" panose="02070309020205020404" pitchFamily="49" charset="0"/>
              </a:rPr>
              <a:t>(line); }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catch</a:t>
            </a:r>
            <a:r>
              <a:rPr lang="en-US" altLang="en-US">
                <a:latin typeface="Courier New" panose="02070309020205020404" pitchFamily="49" charset="0"/>
              </a:rPr>
              <a:t> (</a:t>
            </a:r>
            <a:r>
              <a:rPr lang="en-US" altLang="en-US" b="1">
                <a:latin typeface="Courier New" panose="02070309020205020404" pitchFamily="49" charset="0"/>
              </a:rPr>
              <a:t>IOException </a:t>
            </a:r>
            <a:r>
              <a:rPr lang="en-US" altLang="en-US">
                <a:latin typeface="Courier New" panose="02070309020205020404" pitchFamily="49" charset="0"/>
              </a:rPr>
              <a:t>e)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e.printStackTrace();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catch</a:t>
            </a:r>
            <a:r>
              <a:rPr lang="en-US" altLang="en-US">
                <a:latin typeface="Courier New" panose="02070309020205020404" pitchFamily="49" charset="0"/>
              </a:rPr>
              <a:t> (</a:t>
            </a:r>
            <a:r>
              <a:rPr lang="en-US" altLang="en-US" b="1">
                <a:latin typeface="Courier New" panose="02070309020205020404" pitchFamily="49" charset="0"/>
              </a:rPr>
              <a:t>FileNotFoundException</a:t>
            </a:r>
            <a:r>
              <a:rPr lang="en-US" altLang="en-US">
                <a:latin typeface="Courier New" panose="02070309020205020404" pitchFamily="49" charset="0"/>
              </a:rPr>
              <a:t> e)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e.printStackTrace();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endParaRPr lang="en-US" altLang="en-US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040</Template>
  <TotalTime>12467</TotalTime>
  <Words>6791</Words>
  <Application>Microsoft Macintosh PowerPoint</Application>
  <PresentationFormat>On-screen Show (4:3)</PresentationFormat>
  <Paragraphs>1398</Paragraphs>
  <Slides>118</Slides>
  <Notes>37</Notes>
  <HiddenSlides>2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118</vt:i4>
      </vt:variant>
    </vt:vector>
  </HeadingPairs>
  <TitlesOfParts>
    <vt:vector size="137" baseType="lpstr">
      <vt:lpstr>Arial Unicode MS</vt:lpstr>
      <vt:lpstr>Batang</vt:lpstr>
      <vt:lpstr>굴림</vt:lpstr>
      <vt:lpstr>굴림</vt:lpstr>
      <vt:lpstr>Arial</vt:lpstr>
      <vt:lpstr>Century Gothic</vt:lpstr>
      <vt:lpstr>Consolas</vt:lpstr>
      <vt:lpstr>Courier New</vt:lpstr>
      <vt:lpstr>Courier;Times New Roman</vt:lpstr>
      <vt:lpstr>Open Sans</vt:lpstr>
      <vt:lpstr>Palatino Linotype</vt:lpstr>
      <vt:lpstr>Symbol</vt:lpstr>
      <vt:lpstr>Tahoma</vt:lpstr>
      <vt:lpstr>Times New Roman</vt:lpstr>
      <vt:lpstr>Times New Roman;Courier</vt:lpstr>
      <vt:lpstr>Times New Roman;Times New Roman</vt:lpstr>
      <vt:lpstr>Wingdings</vt:lpstr>
      <vt:lpstr>vees</vt:lpstr>
      <vt:lpstr>Document</vt:lpstr>
      <vt:lpstr>Java Programming</vt:lpstr>
      <vt:lpstr> K.Srivatsan  - vatsank@gmail.com </vt:lpstr>
      <vt:lpstr>History of Java</vt:lpstr>
      <vt:lpstr>Program structure</vt:lpstr>
      <vt:lpstr> Source File Layout </vt:lpstr>
      <vt:lpstr> Software Packages </vt:lpstr>
      <vt:lpstr> The import Statement </vt:lpstr>
      <vt:lpstr>Comments </vt:lpstr>
      <vt:lpstr>Example</vt:lpstr>
      <vt:lpstr>Example</vt:lpstr>
      <vt:lpstr>OOPS Concepts</vt:lpstr>
      <vt:lpstr>Encapsulation</vt:lpstr>
      <vt:lpstr> Information Hiding </vt:lpstr>
      <vt:lpstr>Encapsulation</vt:lpstr>
      <vt:lpstr>Declaring Java Technology Classes </vt:lpstr>
      <vt:lpstr>Classes</vt:lpstr>
      <vt:lpstr>The 4 Access Levels and 3 Modifiers </vt:lpstr>
      <vt:lpstr>Constructors</vt:lpstr>
      <vt:lpstr>Instantiation with new </vt:lpstr>
      <vt:lpstr>Variables and Methods </vt:lpstr>
      <vt:lpstr>Instance Variables and Methods </vt:lpstr>
      <vt:lpstr>PowerPoint Presentation</vt:lpstr>
      <vt:lpstr>Method  Overloading</vt:lpstr>
      <vt:lpstr>Overloading Methods</vt:lpstr>
      <vt:lpstr>Flow Control</vt:lpstr>
      <vt:lpstr>Control Structures </vt:lpstr>
      <vt:lpstr>Decision Control Structures</vt:lpstr>
      <vt:lpstr>if-else statement </vt:lpstr>
      <vt:lpstr>switch-statement </vt:lpstr>
      <vt:lpstr>Switch-Case Java 7.0</vt:lpstr>
      <vt:lpstr>INHERITANCE</vt:lpstr>
      <vt:lpstr>Overview</vt:lpstr>
      <vt:lpstr>What Does an Object Look Like?</vt:lpstr>
      <vt:lpstr>Default Initialization</vt:lpstr>
      <vt:lpstr>Nondefault Initialization</vt:lpstr>
      <vt:lpstr>Specifying Additional Methods</vt:lpstr>
      <vt:lpstr>Overriding Superclass Methods</vt:lpstr>
      <vt:lpstr>Overriding</vt:lpstr>
      <vt:lpstr> Overriding with Compatible Return type</vt:lpstr>
      <vt:lpstr>Invoking Superclass Methods</vt:lpstr>
      <vt:lpstr>super keyword</vt:lpstr>
      <vt:lpstr>Abstract Class</vt:lpstr>
      <vt:lpstr>Need for Abstract Class</vt:lpstr>
      <vt:lpstr>Defining Abstract Classes in Java</vt:lpstr>
      <vt:lpstr>Interfaces &amp; Polymorphism</vt:lpstr>
      <vt:lpstr>Interfaces</vt:lpstr>
      <vt:lpstr>PowerPoint Presentation</vt:lpstr>
      <vt:lpstr>Example of Interfaces</vt:lpstr>
      <vt:lpstr>Interface</vt:lpstr>
      <vt:lpstr>Implement the Interface</vt:lpstr>
      <vt:lpstr>Implementing an Interface</vt:lpstr>
      <vt:lpstr>Partial Implementation of an Interface </vt:lpstr>
      <vt:lpstr>Using instanceof with Interfaces</vt:lpstr>
      <vt:lpstr>Extending an Interface </vt:lpstr>
      <vt:lpstr>Polymorphism</vt:lpstr>
      <vt:lpstr>Polymorphism</vt:lpstr>
      <vt:lpstr>Polymorphism</vt:lpstr>
      <vt:lpstr>Implementation -One</vt:lpstr>
      <vt:lpstr>Implementation -Two</vt:lpstr>
      <vt:lpstr>Polymorphism</vt:lpstr>
      <vt:lpstr>Interface vs Abstract Class</vt:lpstr>
      <vt:lpstr>Interface, Abstract Class,Subclass,Class</vt:lpstr>
      <vt:lpstr>final keyword</vt:lpstr>
      <vt:lpstr>Math Class</vt:lpstr>
      <vt:lpstr> </vt:lpstr>
      <vt:lpstr>Exception Handling</vt:lpstr>
      <vt:lpstr>Exceptions</vt:lpstr>
      <vt:lpstr>Handle or Declare Rule</vt:lpstr>
      <vt:lpstr>How try catch Work</vt:lpstr>
      <vt:lpstr>Exception Handling</vt:lpstr>
      <vt:lpstr>Effective Exception Hierarchy </vt:lpstr>
      <vt:lpstr>Multiple Catch</vt:lpstr>
      <vt:lpstr>Finally  Block</vt:lpstr>
      <vt:lpstr>Throws Clause</vt:lpstr>
      <vt:lpstr> The try-with-resources Statement </vt:lpstr>
      <vt:lpstr>Exception Handling- Closing the Resource</vt:lpstr>
      <vt:lpstr>The try-with-resources Statement </vt:lpstr>
      <vt:lpstr>Throwing Exceptions</vt:lpstr>
      <vt:lpstr>Re-throw Exception</vt:lpstr>
      <vt:lpstr>Re-Throw Exception</vt:lpstr>
      <vt:lpstr>Re-throw Exceptions</vt:lpstr>
      <vt:lpstr>Method Overriding and Exceptions</vt:lpstr>
      <vt:lpstr>Overriding –When Method Has Exceptions</vt:lpstr>
      <vt:lpstr>User Defined Exception</vt:lpstr>
      <vt:lpstr> </vt:lpstr>
      <vt:lpstr> Functional Programming </vt:lpstr>
      <vt:lpstr>Functional interface</vt:lpstr>
      <vt:lpstr>Built-in Functional Interfaces</vt:lpstr>
      <vt:lpstr>lambdas</vt:lpstr>
      <vt:lpstr> Benefits of Lambda Expression </vt:lpstr>
      <vt:lpstr> Where to use Lambda expressions </vt:lpstr>
      <vt:lpstr>Lambda Expressions</vt:lpstr>
      <vt:lpstr>Lambda Expressions</vt:lpstr>
      <vt:lpstr>Lambda – Argument List</vt:lpstr>
      <vt:lpstr>Lambda Expression - Body</vt:lpstr>
      <vt:lpstr>Lambda with Built-in Functional Interface</vt:lpstr>
      <vt:lpstr>Custom Functional Interface</vt:lpstr>
      <vt:lpstr>Built-in Functional Interfaces</vt:lpstr>
      <vt:lpstr>Need for Built In Functional Interfaces</vt:lpstr>
      <vt:lpstr>Built-in Functional Interfaces</vt:lpstr>
      <vt:lpstr> Predicate&lt;T&gt; </vt:lpstr>
      <vt:lpstr> Predicate&lt;T&gt; </vt:lpstr>
      <vt:lpstr> Predicate&lt;T&gt; </vt:lpstr>
      <vt:lpstr>   Files &amp; IO</vt:lpstr>
      <vt:lpstr>Overview</vt:lpstr>
      <vt:lpstr>File Classes</vt:lpstr>
      <vt:lpstr>File Class</vt:lpstr>
      <vt:lpstr>File Class</vt:lpstr>
      <vt:lpstr>File Class</vt:lpstr>
      <vt:lpstr>File Input</vt:lpstr>
      <vt:lpstr>PowerPoint Presentation</vt:lpstr>
      <vt:lpstr>Classes in I/O Package </vt:lpstr>
      <vt:lpstr>FileWriter</vt:lpstr>
      <vt:lpstr>FileReader</vt:lpstr>
      <vt:lpstr>Classes in I/O Package</vt:lpstr>
      <vt:lpstr>Handling file input and output</vt:lpstr>
      <vt:lpstr>Write To File</vt:lpstr>
      <vt:lpstr>Read From 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Srivatsan</dc:creator>
  <cp:lastModifiedBy>Srivatsan Krishnamachari</cp:lastModifiedBy>
  <cp:revision>511</cp:revision>
  <dcterms:created xsi:type="dcterms:W3CDTF">1601-01-01T00:00:00Z</dcterms:created>
  <dcterms:modified xsi:type="dcterms:W3CDTF">2026-05-18T08:01:31Z</dcterms:modified>
</cp:coreProperties>
</file>